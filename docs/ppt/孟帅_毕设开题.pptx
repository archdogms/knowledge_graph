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3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4.xml" ContentType="application/vnd.openxmlformats-officedocument.presentationml.notesSlide+xml"/>
  <Override PartName="/ppt/theme/themeOverride3.xml" ContentType="application/vnd.openxmlformats-officedocument.themeOverride+xml"/>
  <Override PartName="/ppt/notesSlides/notesSlide5.xml" ContentType="application/vnd.openxmlformats-officedocument.presentationml.notesSlide+xml"/>
  <Override PartName="/ppt/theme/themeOverride4.xml" ContentType="application/vnd.openxmlformats-officedocument.themeOverr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media/image53.svg" ContentType="image/svg"/>
  <Override PartName="/ppt/media/image55.svg" ContentType="image/svg"/>
  <Override PartName="/ppt/media/image57.svg" ContentType="image/svg"/>
  <Override PartName="/ppt/media/image59.svg" ContentType="image/svg"/>
  <Override PartName="/ppt/media/image61.svg" ContentType="image/svg"/>
  <Override PartName="/ppt/media/image63.svg" ContentType="image/svg"/>
  <Override PartName="/ppt/media/image65.svg" ContentType="image/svg"/>
  <Override PartName="/ppt/media/image67.svg" ContentType="image/svg"/>
  <Override PartName="/ppt/media/image68.svg" ContentType="image/svg"/>
  <Override PartName="/ppt/media/image70.svg" ContentType="image/svg"/>
  <Override PartName="/ppt/media/image71.svg" ContentType="image/svg"/>
  <Override PartName="/ppt/media/image73.svg" ContentType="image/svg"/>
  <Override PartName="/ppt/media/image75.svg" ContentType="image/svg"/>
  <Override PartName="/ppt/media/image77.svg" ContentType="image/svg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9" r:id="rId2"/>
    <p:sldId id="262" r:id="rId3"/>
    <p:sldId id="268" r:id="rId4"/>
    <p:sldId id="308" r:id="rId5"/>
    <p:sldId id="274" r:id="rId6"/>
    <p:sldId id="280" r:id="rId7"/>
    <p:sldId id="283" r:id="rId8"/>
    <p:sldId id="312" r:id="rId9"/>
    <p:sldId id="292" r:id="rId10"/>
    <p:sldId id="298" r:id="rId11"/>
    <p:sldId id="301" r:id="rId12"/>
    <p:sldId id="307" r:id="rId13"/>
    <p:sldId id="309" r:id="rId14"/>
    <p:sldId id="270" r:id="rId1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D07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82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05C8FE-0176-40C5-9514-1F7F7A4E530E}" type="datetimeFigureOut">
              <a:rPr lang="zh-CN" altLang="en-US" smtClean="0"/>
              <a:t>2026/1/6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71F074-169E-48FA-9618-D02516D61B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199281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C6419-2D9B-C03B-D9AD-FA6D491EF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970BA1-D64A-FBA5-F91F-2EFA41977C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9EBF5D-CB34-2B09-CD2A-1EF08DF406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12762D-C243-5EE2-5535-7F8EAB6A67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1890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EA393E-FA8E-A2D4-617E-710BA29C2C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D85A1D9-CDC9-E834-4CA6-E6B9837D84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C1C34D-4CCB-CE36-A934-2C10D8540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EF85B-AD69-4594-A51C-3BA94401DC9B}" type="datetimeFigureOut">
              <a:rPr lang="zh-CN" altLang="en-US" smtClean="0"/>
              <a:t>2026/1/6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2AC5DD7-2A59-C0CF-E9AE-44952AB08C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A49C40A-95F3-63C2-C562-CE52F12FC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04F3F-B843-4DCB-9470-03B631421E7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108813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BA75D1-2246-AD7B-03CD-F52F086419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AA3541C-DE90-0333-9F73-AF78FDA448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D347A69-B25B-FF3E-51E9-E6320C23F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EF85B-AD69-4594-A51C-3BA94401DC9B}" type="datetimeFigureOut">
              <a:rPr lang="zh-CN" altLang="en-US" smtClean="0"/>
              <a:t>2026/1/6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1F8FC69-3888-E16B-BDB8-7C921791A4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BBF21FD-D394-2453-D401-81B90DAEB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04F3F-B843-4DCB-9470-03B631421E7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945176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CC1910-8882-3B03-28E3-09DD9FC6A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224A8F4-9B0D-CA87-ADB3-613CBD134A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D6F971E-BD60-69BB-7506-0AA0EC39B8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EF85B-AD69-4594-A51C-3BA94401DC9B}" type="datetimeFigureOut">
              <a:rPr lang="zh-CN" altLang="en-US" smtClean="0"/>
              <a:t>2026/1/6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7937564-AF16-2250-99E4-CD67416484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AD07163-B4EB-64C5-63B2-C8DA77192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04F3F-B843-4DCB-9470-03B631421E7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898694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58FDB55-B7CC-688F-5236-3D5EEBFF3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77F8266-1EEB-B706-D5F0-8A3ECE67DE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3E4F197-0CBF-B5FD-D980-849F05A4A8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F73C345-608C-32B3-7FF2-2CEED28473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EF85B-AD69-4594-A51C-3BA94401DC9B}" type="datetimeFigureOut">
              <a:rPr lang="zh-CN" altLang="en-US" smtClean="0"/>
              <a:t>2026/1/6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F5A6A96-076E-B129-3CE4-4C867FB8E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9C779F6-88A7-4BED-DE6C-94E52F8B4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04F3F-B843-4DCB-9470-03B631421E7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408307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981EA30-6A6D-E5F6-207E-BE7AF720C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BC7DD48-4D92-7525-7051-300508B58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E18FF08-8A3A-C635-9254-A1B39C9A07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81A13EB-1404-95AA-5180-DEF023C2A1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22FD481-4F52-5E97-1ACA-15C9BF2727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B23BF677-D36A-E51A-A501-7BEAB8E200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EF85B-AD69-4594-A51C-3BA94401DC9B}" type="datetimeFigureOut">
              <a:rPr lang="zh-CN" altLang="en-US" smtClean="0"/>
              <a:t>2026/1/6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E2B19544-02AE-3EAD-01D3-0012632F0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BAFB802-735D-4BE8-D6E1-4419B603E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04F3F-B843-4DCB-9470-03B631421E7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83063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407B02-E67A-25F5-1BD8-218F1BF7E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6BB0E0C-C024-65BF-8CE9-4B25F8095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EF85B-AD69-4594-A51C-3BA94401DC9B}" type="datetimeFigureOut">
              <a:rPr lang="zh-CN" altLang="en-US" smtClean="0"/>
              <a:t>2026/1/6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24238AE0-C8B9-72AF-595F-7298BACED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79EFFB0-29F4-F514-967A-8453FAE2D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04F3F-B843-4DCB-9470-03B631421E7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92985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D7199146-4038-E2E6-8F87-9B78A9E28B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EF85B-AD69-4594-A51C-3BA94401DC9B}" type="datetimeFigureOut">
              <a:rPr lang="zh-CN" altLang="en-US" smtClean="0"/>
              <a:t>2026/1/6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0CEE5B5-CEE0-AF73-949E-70CA2C8A9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8A11680-D1EF-A403-D6B5-529A487FC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04F3F-B843-4DCB-9470-03B631421E7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01016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C55722-BD85-3F3E-7A70-CD850CE1C4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A77C62A-0AA2-2030-8253-9DC662495C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EAA7419-D2A4-BF4E-6920-D5ECEE2D23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A1ECA5A-EA6E-09C3-0440-39776BF14B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EF85B-AD69-4594-A51C-3BA94401DC9B}" type="datetimeFigureOut">
              <a:rPr lang="zh-CN" altLang="en-US" smtClean="0"/>
              <a:t>2026/1/6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7CF2382-5E15-8C91-2E79-B5EB6E316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C6CC2E9-DD22-67D8-B0C3-0029E0E11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04F3F-B843-4DCB-9470-03B631421E7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12043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A849B1-565D-276E-2D16-CFB7F53BD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DCA590E-5D3B-C5DC-B2D8-7B81F86144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55FDAF2-4CBC-66C7-F426-31B19529F5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57D8AAC-720F-5813-B10D-604656A6F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EF85B-AD69-4594-A51C-3BA94401DC9B}" type="datetimeFigureOut">
              <a:rPr lang="zh-CN" altLang="en-US" smtClean="0"/>
              <a:t>2026/1/6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8BD0C88-05D8-87CF-5F69-39DBE1A88C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F899B09-9687-35FB-76B3-2DD8F7EEA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04F3F-B843-4DCB-9470-03B631421E7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51493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CF4BC18-78C1-B3DD-05EA-0C17D915ED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42EE63A-78CD-3320-3EEE-E493A9BD58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8B3BC63-E91A-CB31-755C-5E8809F35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EF85B-AD69-4594-A51C-3BA94401DC9B}" type="datetimeFigureOut">
              <a:rPr lang="zh-CN" altLang="en-US" smtClean="0"/>
              <a:t>2026/1/6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4695953-CA79-C55C-F111-60C6D8888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A5C3DB5-D000-2905-C254-E38E96B8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04F3F-B843-4DCB-9470-03B631421E7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78754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0338E742-09C5-C6BE-D89E-8A3D7DBA6B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DCCB6DD-C537-C0E3-57BE-3A06D3D021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C346643-4672-BF7B-3422-3997C2058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EF85B-AD69-4594-A51C-3BA94401DC9B}" type="datetimeFigureOut">
              <a:rPr lang="zh-CN" altLang="en-US" smtClean="0"/>
              <a:t>2026/1/6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053183A-FDC3-A89D-6C24-3BE2B6AFAD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B9408DB-979A-A0D7-7ED5-A00DCBFFE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04F3F-B843-4DCB-9470-03B631421E7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296098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54486983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DCC5945-31EB-0330-D3B3-4F7CE9029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3D92BB3-F308-E046-57E5-6105D48434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F1DCC63-E017-2793-5EDA-8128D55269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3EF85B-AD69-4594-A51C-3BA94401DC9B}" type="datetimeFigureOut">
              <a:rPr lang="zh-CN" altLang="en-US" smtClean="0"/>
              <a:t>2026/1/6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1011CB9-6611-7B22-B096-B9195215BC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0CC9046-2FB9-965C-77AB-A05A7E6289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904F3F-B843-4DCB-9470-03B631421E7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71925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9.png"/><Relationship Id="rId3" Type="http://schemas.openxmlformats.org/officeDocument/2006/relationships/notesSlide" Target="../notesSlides/notesSlide3.xml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17" Type="http://schemas.openxmlformats.org/officeDocument/2006/relationships/image" Target="../media/image4.png"/><Relationship Id="rId2" Type="http://schemas.openxmlformats.org/officeDocument/2006/relationships/slideLayout" Target="../slideLayouts/slideLayout12.xml"/><Relationship Id="rId16" Type="http://schemas.openxmlformats.org/officeDocument/2006/relationships/image" Target="../media/image22.png"/><Relationship Id="rId1" Type="http://schemas.openxmlformats.org/officeDocument/2006/relationships/themeOverride" Target="../theme/themeOverride1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5" Type="http://schemas.openxmlformats.org/officeDocument/2006/relationships/image" Target="../media/image2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Relationship Id="rId14" Type="http://schemas.openxmlformats.org/officeDocument/2006/relationships/image" Target="../media/image2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18" Type="http://schemas.openxmlformats.org/officeDocument/2006/relationships/image" Target="../media/image36.svg"/><Relationship Id="rId3" Type="http://schemas.openxmlformats.org/officeDocument/2006/relationships/notesSlide" Target="../notesSlides/notesSlide4.xml"/><Relationship Id="rId21" Type="http://schemas.openxmlformats.org/officeDocument/2006/relationships/image" Target="../media/image4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17" Type="http://schemas.openxmlformats.org/officeDocument/2006/relationships/image" Target="../media/image35.png"/><Relationship Id="rId2" Type="http://schemas.openxmlformats.org/officeDocument/2006/relationships/slideLayout" Target="../slideLayouts/slideLayout12.xml"/><Relationship Id="rId16" Type="http://schemas.openxmlformats.org/officeDocument/2006/relationships/image" Target="../media/image34.svg"/><Relationship Id="rId20" Type="http://schemas.openxmlformats.org/officeDocument/2006/relationships/image" Target="../media/image38.svg"/><Relationship Id="rId1" Type="http://schemas.openxmlformats.org/officeDocument/2006/relationships/themeOverride" Target="../theme/themeOverride2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19" Type="http://schemas.openxmlformats.org/officeDocument/2006/relationships/image" Target="../media/image37.png"/><Relationship Id="rId4" Type="http://schemas.openxmlformats.org/officeDocument/2006/relationships/image" Target="../media/image10.png"/><Relationship Id="rId9" Type="http://schemas.openxmlformats.org/officeDocument/2006/relationships/image" Target="../media/image27.png"/><Relationship Id="rId14" Type="http://schemas.openxmlformats.org/officeDocument/2006/relationships/image" Target="../media/image32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notesSlide" Target="../notesSlides/notesSlide5.xml"/><Relationship Id="rId7" Type="http://schemas.openxmlformats.org/officeDocument/2006/relationships/image" Target="../media/image41.png"/><Relationship Id="rId2" Type="http://schemas.openxmlformats.org/officeDocument/2006/relationships/slideLayout" Target="../slideLayouts/slideLayout12.xml"/><Relationship Id="rId1" Type="http://schemas.openxmlformats.org/officeDocument/2006/relationships/themeOverride" Target="../theme/themeOverride3.xml"/><Relationship Id="rId6" Type="http://schemas.openxmlformats.org/officeDocument/2006/relationships/image" Target="../media/image40.jpg"/><Relationship Id="rId5" Type="http://schemas.openxmlformats.org/officeDocument/2006/relationships/image" Target="../media/image10.png"/><Relationship Id="rId10" Type="http://schemas.openxmlformats.org/officeDocument/2006/relationships/image" Target="../media/image4.png"/><Relationship Id="rId4" Type="http://schemas.openxmlformats.org/officeDocument/2006/relationships/image" Target="../media/image39.png"/><Relationship Id="rId9" Type="http://schemas.openxmlformats.org/officeDocument/2006/relationships/image" Target="../media/image4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notesSlide" Target="../notesSlides/notesSlide6.xml"/><Relationship Id="rId7" Type="http://schemas.openxmlformats.org/officeDocument/2006/relationships/image" Target="../media/image46.png"/><Relationship Id="rId2" Type="http://schemas.openxmlformats.org/officeDocument/2006/relationships/slideLayout" Target="../slideLayouts/slideLayout12.xml"/><Relationship Id="rId1" Type="http://schemas.openxmlformats.org/officeDocument/2006/relationships/themeOverride" Target="../theme/themeOverride4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10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Relationship Id="rId9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13" Type="http://schemas.openxmlformats.org/officeDocument/2006/relationships/image" Target="../media/image61.svg"/><Relationship Id="rId18" Type="http://schemas.openxmlformats.org/officeDocument/2006/relationships/image" Target="../media/image66.png"/><Relationship Id="rId26" Type="http://schemas.openxmlformats.org/officeDocument/2006/relationships/image" Target="../media/image74.png"/><Relationship Id="rId3" Type="http://schemas.openxmlformats.org/officeDocument/2006/relationships/image" Target="../media/image10.png"/><Relationship Id="rId21" Type="http://schemas.openxmlformats.org/officeDocument/2006/relationships/image" Target="../media/image69.png"/><Relationship Id="rId7" Type="http://schemas.openxmlformats.org/officeDocument/2006/relationships/image" Target="../media/image55.svg"/><Relationship Id="rId12" Type="http://schemas.openxmlformats.org/officeDocument/2006/relationships/image" Target="../media/image60.png"/><Relationship Id="rId17" Type="http://schemas.openxmlformats.org/officeDocument/2006/relationships/image" Target="../media/image65.svg"/><Relationship Id="rId25" Type="http://schemas.openxmlformats.org/officeDocument/2006/relationships/image" Target="../media/image73.sv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64.png"/><Relationship Id="rId20" Type="http://schemas.openxmlformats.org/officeDocument/2006/relationships/image" Target="../media/image68.svg"/><Relationship Id="rId29" Type="http://schemas.openxmlformats.org/officeDocument/2006/relationships/image" Target="../media/image77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4.png"/><Relationship Id="rId11" Type="http://schemas.openxmlformats.org/officeDocument/2006/relationships/image" Target="../media/image59.svg"/><Relationship Id="rId24" Type="http://schemas.openxmlformats.org/officeDocument/2006/relationships/image" Target="../media/image72.png"/><Relationship Id="rId5" Type="http://schemas.openxmlformats.org/officeDocument/2006/relationships/image" Target="../media/image53.svg"/><Relationship Id="rId15" Type="http://schemas.openxmlformats.org/officeDocument/2006/relationships/image" Target="../media/image63.svg"/><Relationship Id="rId23" Type="http://schemas.openxmlformats.org/officeDocument/2006/relationships/image" Target="../media/image71.svg"/><Relationship Id="rId28" Type="http://schemas.openxmlformats.org/officeDocument/2006/relationships/image" Target="../media/image76.png"/><Relationship Id="rId10" Type="http://schemas.openxmlformats.org/officeDocument/2006/relationships/image" Target="../media/image58.png"/><Relationship Id="rId19" Type="http://schemas.openxmlformats.org/officeDocument/2006/relationships/image" Target="../media/image67.svg"/><Relationship Id="rId4" Type="http://schemas.openxmlformats.org/officeDocument/2006/relationships/image" Target="../media/image52.png"/><Relationship Id="rId9" Type="http://schemas.openxmlformats.org/officeDocument/2006/relationships/image" Target="../media/image57.svg"/><Relationship Id="rId14" Type="http://schemas.openxmlformats.org/officeDocument/2006/relationships/image" Target="../media/image62.png"/><Relationship Id="rId22" Type="http://schemas.openxmlformats.org/officeDocument/2006/relationships/image" Target="../media/image70.svg"/><Relationship Id="rId27" Type="http://schemas.openxmlformats.org/officeDocument/2006/relationships/image" Target="../media/image75.svg"/><Relationship Id="rId30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0.png"/><Relationship Id="rId7" Type="http://schemas.openxmlformats.org/officeDocument/2006/relationships/image" Target="../media/image8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6.png"/><Relationship Id="rId5" Type="http://schemas.openxmlformats.org/officeDocument/2006/relationships/image" Target="../media/image85.png"/><Relationship Id="rId4" Type="http://schemas.openxmlformats.org/officeDocument/2006/relationships/image" Target="../media/image8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png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.png"/><Relationship Id="rId3" Type="http://schemas.openxmlformats.org/officeDocument/2006/relationships/image" Target="../media/image91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3.png"/><Relationship Id="rId5" Type="http://schemas.openxmlformats.org/officeDocument/2006/relationships/image" Target="../media/image10.png"/><Relationship Id="rId4" Type="http://schemas.openxmlformats.org/officeDocument/2006/relationships/image" Target="../media/image92.png"/><Relationship Id="rId9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2_isShadow_0/68fe1269-8cc2-4116-97e6-2e27b97da75f_image_d4f14a91110eed80d95e9ee835151177_141235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226" y="1736370"/>
            <a:ext cx="10993549" cy="2276830"/>
          </a:xfrm>
          <a:prstGeom prst="rect">
            <a:avLst/>
          </a:prstGeom>
        </p:spPr>
      </p:pic>
      <p:pic>
        <p:nvPicPr>
          <p:cNvPr id="3" name="Image 1" descr="https://oss.jianzeppt.com/editablePptPic/isIllustration_1_isShadow_0/68fe1269-8cc2-4116-97e6-2e27b97da75f_image_a64c0d0e401139dc71eb9cf1168afb74_1412356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227" y="1736371"/>
            <a:ext cx="821803" cy="867934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68fe1269-8cc2-4116-97e6-2e27b97da75f_image_a378cef172703a1f795be372f0b9f638_1412356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61778" y="3429000"/>
            <a:ext cx="1430995" cy="210672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1038537" y="4526254"/>
            <a:ext cx="10114925" cy="244346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822"/>
              </a:lnSpc>
            </a:pPr>
            <a:r>
              <a:rPr lang="en-US" sz="1568" dirty="0" err="1">
                <a:solidFill>
                  <a:srgbClr val="66087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DejaVu Sans"/>
              </a:rPr>
              <a:t>姓名：孟帅</a:t>
            </a:r>
            <a:r>
              <a:rPr lang="en-US" sz="1568" dirty="0">
                <a:solidFill>
                  <a:srgbClr val="66087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DejaVu Sans"/>
              </a:rPr>
              <a:t>
学号：2021010910
</a:t>
            </a:r>
            <a:r>
              <a:rPr lang="en-US" sz="1568" dirty="0" err="1">
                <a:solidFill>
                  <a:srgbClr val="66087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DejaVu Sans"/>
              </a:rPr>
              <a:t>导师：邬东璠</a:t>
            </a:r>
            <a:r>
              <a:rPr lang="en-US" sz="1568" dirty="0">
                <a:solidFill>
                  <a:srgbClr val="66087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DejaVu Sans"/>
              </a:rPr>
              <a:t>
时间：2026.01.07</a:t>
            </a:r>
            <a:endParaRPr lang="en-US" sz="1568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Text 1"/>
          <p:cNvSpPr/>
          <p:nvPr/>
        </p:nvSpPr>
        <p:spPr>
          <a:xfrm>
            <a:off x="1053166" y="2070373"/>
            <a:ext cx="10114925" cy="175926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4680"/>
              </a:lnSpc>
            </a:pPr>
            <a:r>
              <a:rPr lang="en-US" sz="2400" dirty="0" err="1">
                <a:solidFill>
                  <a:srgbClr val="66087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DejaVu Sans"/>
              </a:rPr>
              <a:t>基于多元大数据</a:t>
            </a:r>
            <a:r>
              <a:rPr lang="en-US" sz="2400" dirty="0">
                <a:solidFill>
                  <a:srgbClr val="66087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DejaVu Sans"/>
              </a:rPr>
              <a:t> 
</a:t>
            </a:r>
            <a:r>
              <a:rPr lang="en-US" sz="3120" dirty="0" err="1">
                <a:solidFill>
                  <a:srgbClr val="66087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DejaVu Sans"/>
              </a:rPr>
              <a:t>佛山市南海区文旅融合调研</a:t>
            </a:r>
            <a:endParaRPr lang="en-US" sz="3120" dirty="0">
              <a:solidFill>
                <a:srgbClr val="66087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DejaVu Sans"/>
            </a:endParaRPr>
          </a:p>
          <a:p>
            <a:pPr>
              <a:lnSpc>
                <a:spcPts val="4680"/>
              </a:lnSpc>
            </a:pPr>
            <a:r>
              <a:rPr lang="en-US" sz="3120" dirty="0">
                <a:solidFill>
                  <a:srgbClr val="66087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                                  </a:t>
            </a:r>
            <a:r>
              <a:rPr lang="en-US" altLang="zh-CN" sz="2800" dirty="0">
                <a:solidFill>
                  <a:srgbClr val="66087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—— </a:t>
            </a:r>
            <a:r>
              <a:rPr lang="zh-CN" altLang="en-US" sz="2800" dirty="0">
                <a:solidFill>
                  <a:srgbClr val="66087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开题报告</a:t>
            </a:r>
            <a:endParaRPr lang="en-US" sz="2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8" name="Image 3" descr="https://oss.jianzeppt.com/editablePptPic/isIllustration_1_isShadow_0/18102cb5-5882-4151-ac19-4286f52a0323_image_90819cb7d4a6a1eecbd1ae23dec6207e_14123563.png">
            <a:extLst>
              <a:ext uri="{FF2B5EF4-FFF2-40B4-BE49-F238E27FC236}">
                <a16:creationId xmlns:a16="http://schemas.microsoft.com/office/drawing/2014/main" id="{DC0CF87B-110F-CA56-D8DD-317E3E92DF1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9785719" y="194778"/>
            <a:ext cx="2288952" cy="9012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9="http://schemas.microsoft.com/office/powerpoint/2015/09/main" xmlns:p15="http://schemas.microsoft.com/office/powerpoint/2012/main" xmlns:a14="http://schemas.microsoft.com/office/drawing/2010/main" xmlns:wp="http://schemas.openxmlformats.org/drawingml/2006/wordprocessingDrawing" xmlns:w="http://schemas.openxmlformats.org/wordprocessingml/2006/main" xmlns:m="http://schemas.openxmlformats.org/officeDocument/2006/math"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.web.static.jianzeppt.com/ppt-temp-img3/b0d84d28a4a112fb7b7c16311608c7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002" y="2114985"/>
            <a:ext cx="534653" cy="5760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335193" y="2203596"/>
            <a:ext cx="362279" cy="35920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880"/>
              </a:lnSpc>
            </a:pPr>
            <a:r>
              <a:rPr lang="en-US" sz="24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</a:t>
            </a:r>
            <a:endParaRPr lang="en-US" sz="2400"/>
          </a:p>
        </p:txBody>
      </p:sp>
      <p:pic>
        <p:nvPicPr>
          <p:cNvPr id="4" name="Image 1" descr="https://test.web.static.jianzeppt.com/ppt-temp-img3/1ed02f10db7c5635c754129181281a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9581" y="2114985"/>
            <a:ext cx="4483299" cy="576064"/>
          </a:xfrm>
          <a:prstGeom prst="rect">
            <a:avLst/>
          </a:prstGeom>
        </p:spPr>
      </p:pic>
      <p:pic>
        <p:nvPicPr>
          <p:cNvPr id="5" name="Image 2" descr="https://test.web.static.jianzeppt.com/ppt-temp-img3/7998ecc2377d4e3d854d57a76ae707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002" y="2955078"/>
            <a:ext cx="534653" cy="576064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5335193" y="3043688"/>
            <a:ext cx="362279" cy="35920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880"/>
              </a:lnSpc>
            </a:pPr>
            <a:r>
              <a:rPr lang="en-US" sz="24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02</a:t>
            </a:r>
            <a:endParaRPr lang="en-US" sz="2400"/>
          </a:p>
        </p:txBody>
      </p:sp>
      <p:pic>
        <p:nvPicPr>
          <p:cNvPr id="7" name="Image 3" descr="https://test.web.static.jianzeppt.com/ppt-temp-img3/c6d7efe6c1925dff1fa8f004888308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9581" y="2955078"/>
            <a:ext cx="4483299" cy="576064"/>
          </a:xfrm>
          <a:prstGeom prst="rect">
            <a:avLst/>
          </a:prstGeom>
        </p:spPr>
      </p:pic>
      <p:pic>
        <p:nvPicPr>
          <p:cNvPr id="8" name="Image 4" descr="https://test.web.static.jianzeppt.com/ppt-temp-img3/923d9c88c34eaa9820eb238fda5fcf5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002" y="3795171"/>
            <a:ext cx="534653" cy="576064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5335193" y="3883783"/>
            <a:ext cx="362279" cy="35920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880"/>
              </a:lnSpc>
            </a:pPr>
            <a:r>
              <a:rPr lang="en-US" sz="24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03</a:t>
            </a:r>
            <a:endParaRPr lang="en-US" sz="2400"/>
          </a:p>
        </p:txBody>
      </p:sp>
      <p:pic>
        <p:nvPicPr>
          <p:cNvPr id="10" name="Image 5" descr="https://test.web.static.jianzeppt.com/ppt-temp-img3/7081aec65b7f50102d1d3db6f7085b7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9581" y="3795171"/>
            <a:ext cx="4483299" cy="576064"/>
          </a:xfrm>
          <a:prstGeom prst="rect">
            <a:avLst/>
          </a:prstGeom>
        </p:spPr>
      </p:pic>
      <p:pic>
        <p:nvPicPr>
          <p:cNvPr id="11" name="Image 6" descr="https://test.web.static.jianzeppt.com/ppt-temp-img3/4356689923ec96610cc104135acfe0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002" y="4635264"/>
            <a:ext cx="534653" cy="576064"/>
          </a:xfrm>
          <a:prstGeom prst="rect">
            <a:avLst/>
          </a:prstGeom>
        </p:spPr>
      </p:pic>
      <p:sp>
        <p:nvSpPr>
          <p:cNvPr id="12" name="Text 3"/>
          <p:cNvSpPr/>
          <p:nvPr/>
        </p:nvSpPr>
        <p:spPr>
          <a:xfrm>
            <a:off x="5335193" y="4723876"/>
            <a:ext cx="362279" cy="35920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880"/>
              </a:lnSpc>
            </a:pPr>
            <a:r>
              <a:rPr lang="en-US" sz="24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04</a:t>
            </a:r>
            <a:endParaRPr lang="en-US" sz="2400"/>
          </a:p>
        </p:txBody>
      </p:sp>
      <p:pic>
        <p:nvPicPr>
          <p:cNvPr id="13" name="Image 7" descr="https://test.web.static.jianzeppt.com/ppt-temp-img3/ff02c804c53fd622aec5f74405d2679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39581" y="4635264"/>
            <a:ext cx="4483299" cy="576064"/>
          </a:xfrm>
          <a:prstGeom prst="rect">
            <a:avLst/>
          </a:prstGeom>
        </p:spPr>
      </p:pic>
      <p:pic>
        <p:nvPicPr>
          <p:cNvPr id="14" name="Image 8" descr="https://test.web.static.jianzeppt.com/ppt-temp-img3/edefb43071be60f0476eeabe42b3c28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" y="257605"/>
            <a:ext cx="498190" cy="576064"/>
          </a:xfrm>
          <a:prstGeom prst="rect">
            <a:avLst/>
          </a:prstGeom>
        </p:spPr>
      </p:pic>
      <p:sp>
        <p:nvSpPr>
          <p:cNvPr id="15" name="Text 4"/>
          <p:cNvSpPr/>
          <p:nvPr/>
        </p:nvSpPr>
        <p:spPr>
          <a:xfrm>
            <a:off x="741661" y="478098"/>
            <a:ext cx="1282402" cy="475002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3168"/>
              </a:lnSpc>
            </a:pPr>
            <a:r>
              <a:rPr lang="en-US" sz="5000" b="1" dirty="0" err="1">
                <a:solidFill>
                  <a:srgbClr val="483018"/>
                </a:solidFill>
                <a:latin typeface="微软雅黑"/>
                <a:ea typeface="微软雅黑"/>
                <a:cs typeface="微软雅黑"/>
              </a:rPr>
              <a:t>目录</a:t>
            </a:r>
            <a:endParaRPr lang="en-US" sz="5000" dirty="0"/>
          </a:p>
        </p:txBody>
      </p:sp>
      <p:sp>
        <p:nvSpPr>
          <p:cNvPr id="16" name="Text 5"/>
          <p:cNvSpPr/>
          <p:nvPr/>
        </p:nvSpPr>
        <p:spPr>
          <a:xfrm>
            <a:off x="5915657" y="3064209"/>
            <a:ext cx="4377413" cy="30777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19"/>
              </a:lnSpc>
            </a:pPr>
            <a:r>
              <a:rPr lang="en-US" sz="2016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第二部分：研究</a:t>
            </a:r>
            <a:r>
              <a:rPr lang="zh-CN" altLang="en-US" sz="2016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方案</a:t>
            </a:r>
            <a:r>
              <a:rPr lang="en-US" sz="2016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设计</a:t>
            </a:r>
            <a:endParaRPr lang="en-US" sz="2016" dirty="0"/>
          </a:p>
        </p:txBody>
      </p:sp>
      <p:sp>
        <p:nvSpPr>
          <p:cNvPr id="17" name="Text 6"/>
          <p:cNvSpPr/>
          <p:nvPr/>
        </p:nvSpPr>
        <p:spPr>
          <a:xfrm>
            <a:off x="5906459" y="2224114"/>
            <a:ext cx="4386613" cy="30777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19"/>
              </a:lnSpc>
            </a:pPr>
            <a:r>
              <a:rPr lang="en-US" sz="2016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第一部分</a:t>
            </a:r>
            <a:r>
              <a:rPr lang="en-US" sz="2016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：</a:t>
            </a:r>
            <a:r>
              <a:rPr lang="zh-CN" altLang="en-US" sz="2016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研究背景与意义</a:t>
            </a:r>
            <a:endParaRPr lang="en-US" sz="2016" dirty="0"/>
          </a:p>
        </p:txBody>
      </p:sp>
      <p:sp>
        <p:nvSpPr>
          <p:cNvPr id="18" name="Text 7"/>
          <p:cNvSpPr/>
          <p:nvPr/>
        </p:nvSpPr>
        <p:spPr>
          <a:xfrm>
            <a:off x="5906459" y="3904301"/>
            <a:ext cx="4414210" cy="30777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19"/>
              </a:lnSpc>
            </a:pPr>
            <a:r>
              <a:rPr lang="en-US" sz="2016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第三部分</a:t>
            </a:r>
            <a:r>
              <a:rPr lang="en-US" sz="2016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：</a:t>
            </a:r>
            <a:r>
              <a:rPr lang="zh-CN" altLang="en-US" sz="2016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研究方法技术路线</a:t>
            </a:r>
            <a:endParaRPr lang="en-US" sz="2016" dirty="0"/>
          </a:p>
        </p:txBody>
      </p:sp>
      <p:sp>
        <p:nvSpPr>
          <p:cNvPr id="19" name="Text 8"/>
          <p:cNvSpPr/>
          <p:nvPr/>
        </p:nvSpPr>
        <p:spPr>
          <a:xfrm>
            <a:off x="5906459" y="4744394"/>
            <a:ext cx="4386613" cy="30777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19"/>
              </a:lnSpc>
            </a:pPr>
            <a:r>
              <a:rPr lang="en-US" sz="2016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第四部分</a:t>
            </a:r>
            <a:r>
              <a:rPr lang="en-US" sz="2016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：</a:t>
            </a:r>
            <a:r>
              <a:rPr lang="zh-CN" altLang="en-US" sz="2016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研究可行性与</a:t>
            </a:r>
            <a:r>
              <a:rPr lang="en-US" sz="2016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计划</a:t>
            </a:r>
            <a:endParaRPr lang="en-US" sz="2016" dirty="0"/>
          </a:p>
        </p:txBody>
      </p:sp>
      <p:sp>
        <p:nvSpPr>
          <p:cNvPr id="20" name="Text 4">
            <a:extLst>
              <a:ext uri="{FF2B5EF4-FFF2-40B4-BE49-F238E27FC236}">
                <a16:creationId xmlns:a16="http://schemas.microsoft.com/office/drawing/2014/main" id="{FBD04B63-3983-D778-E336-DA2A6117A6C9}"/>
              </a:ext>
            </a:extLst>
          </p:cNvPr>
          <p:cNvSpPr/>
          <p:nvPr/>
        </p:nvSpPr>
        <p:spPr>
          <a:xfrm>
            <a:off x="1169862" y="3429299"/>
            <a:ext cx="3202352" cy="475002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3168"/>
              </a:lnSpc>
            </a:pPr>
            <a:r>
              <a:rPr lang="en-US" altLang="zh-CN" sz="5000" b="1" dirty="0">
                <a:solidFill>
                  <a:srgbClr val="483018"/>
                </a:solidFill>
                <a:latin typeface="微软雅黑"/>
                <a:ea typeface="微软雅黑"/>
              </a:rPr>
              <a:t>CONTENT</a:t>
            </a:r>
            <a:endParaRPr lang="en-US" sz="5000" dirty="0"/>
          </a:p>
        </p:txBody>
      </p:sp>
      <p:pic>
        <p:nvPicPr>
          <p:cNvPr id="22" name="Image 3" descr="https://oss.jianzeppt.com/editablePptPic/isIllustration_1_isShadow_0/18102cb5-5882-4151-ac19-4286f52a0323_image_90819cb7d4a6a1eecbd1ae23dec6207e_14123563.png">
            <a:extLst>
              <a:ext uri="{FF2B5EF4-FFF2-40B4-BE49-F238E27FC236}">
                <a16:creationId xmlns:a16="http://schemas.microsoft.com/office/drawing/2014/main" id="{59DDB04B-ED2B-7DF8-3217-14B4D99D06F1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9785719" y="194778"/>
            <a:ext cx="2288952" cy="9012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9="http://schemas.microsoft.com/office/powerpoint/2015/09/main" xmlns:p15="http://schemas.microsoft.com/office/powerpoint/2012/main" xmlns:a14="http://schemas.microsoft.com/office/drawing/2010/main" xmlns:wp="http://schemas.openxmlformats.org/drawingml/2006/wordprocessingDrawing" xmlns:w="http://schemas.openxmlformats.org/wordprocessingml/2006/main" xmlns:m="http://schemas.openxmlformats.org/officeDocument/2006/math"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2_isShadow_0/68fe1269-8cc2-4116-97e6-2e27b97da75f_image_024f533a16df894d6710d6aaad9f47c2_1412356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360" y="203042"/>
            <a:ext cx="82800" cy="896400"/>
          </a:xfrm>
          <a:prstGeom prst="rect">
            <a:avLst/>
          </a:prstGeom>
        </p:spPr>
      </p:pic>
      <p:pic>
        <p:nvPicPr>
          <p:cNvPr id="3" name="Image 1" descr="https://test.web.static.jianzeppt.com/ppt-temp-img3/4321d5a3e8a84806f897afd139112f8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3313" y="1709538"/>
            <a:ext cx="4524698" cy="2019267"/>
          </a:xfrm>
          <a:prstGeom prst="rect">
            <a:avLst/>
          </a:prstGeom>
        </p:spPr>
      </p:pic>
      <p:pic>
        <p:nvPicPr>
          <p:cNvPr id="4" name="Image 2" descr="https://test.web.static.jianzeppt.com/ppt-temp-img3/513cba68b37698d1d66d42926c382b6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4940" y="1709538"/>
            <a:ext cx="4524696" cy="2019267"/>
          </a:xfrm>
          <a:prstGeom prst="rect">
            <a:avLst/>
          </a:prstGeom>
        </p:spPr>
      </p:pic>
      <p:pic>
        <p:nvPicPr>
          <p:cNvPr id="5" name="Image 3" descr="https://test.web.static.jianzeppt.com/ppt-temp-img3/1343869ba28abf747dfa3b10c1ebd85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3313" y="4212895"/>
            <a:ext cx="4524698" cy="2019267"/>
          </a:xfrm>
          <a:prstGeom prst="rect">
            <a:avLst/>
          </a:prstGeom>
        </p:spPr>
      </p:pic>
      <p:pic>
        <p:nvPicPr>
          <p:cNvPr id="6" name="Image 4" descr="https://test.web.static.jianzeppt.com/ppt-temp-img3/1123a888d07919b413e7be8ee51040a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44940" y="4212895"/>
            <a:ext cx="4524696" cy="2019267"/>
          </a:xfrm>
          <a:prstGeom prst="rect">
            <a:avLst/>
          </a:prstGeom>
        </p:spPr>
      </p:pic>
      <p:pic>
        <p:nvPicPr>
          <p:cNvPr id="7" name="Image 5" descr="https://test.web.static.jianzeppt.com/ppt-temp-img3/85ebf1081f52aac87e59c810fd438382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08957" y="1390483"/>
            <a:ext cx="638106" cy="638106"/>
          </a:xfrm>
          <a:prstGeom prst="rect">
            <a:avLst/>
          </a:prstGeom>
        </p:spPr>
      </p:pic>
      <p:pic>
        <p:nvPicPr>
          <p:cNvPr id="8" name="Image 6" descr="https://test.web.static.jianzeppt.com/ppt-temp-img3/22ef9c736cdf66f5bac6016c3f630885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41463" y="1533245"/>
            <a:ext cx="353430" cy="353430"/>
          </a:xfrm>
          <a:prstGeom prst="rect">
            <a:avLst/>
          </a:prstGeom>
        </p:spPr>
      </p:pic>
      <p:pic>
        <p:nvPicPr>
          <p:cNvPr id="9" name="Image 7" descr="https://test.web.static.jianzeppt.com/ppt-temp-img3/ca92f2216cebdbed48f7d1611c72da95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08957" y="3891888"/>
            <a:ext cx="638106" cy="638106"/>
          </a:xfrm>
          <a:prstGeom prst="rect">
            <a:avLst/>
          </a:prstGeom>
        </p:spPr>
      </p:pic>
      <p:pic>
        <p:nvPicPr>
          <p:cNvPr id="10" name="Image 8" descr="https://test.web.static.jianzeppt.com/ppt-temp-img3/ad45051fc724f3096a868ead8847f438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41463" y="4034648"/>
            <a:ext cx="353430" cy="353430"/>
          </a:xfrm>
          <a:prstGeom prst="rect">
            <a:avLst/>
          </a:prstGeom>
        </p:spPr>
      </p:pic>
      <p:pic>
        <p:nvPicPr>
          <p:cNvPr id="11" name="Image 9" descr="https://test.web.static.jianzeppt.com/ppt-temp-img3/82a7b87e0ecc668c3bd47d5802c72a2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445747" y="3891888"/>
            <a:ext cx="638106" cy="638106"/>
          </a:xfrm>
          <a:prstGeom prst="rect">
            <a:avLst/>
          </a:prstGeom>
        </p:spPr>
      </p:pic>
      <p:pic>
        <p:nvPicPr>
          <p:cNvPr id="12" name="Image 10" descr="https://test.web.static.jianzeppt.com/ppt-temp-img3/f81d2d27e14d0dd60a2e9f074ad334fc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578231" y="4034648"/>
            <a:ext cx="353430" cy="353430"/>
          </a:xfrm>
          <a:prstGeom prst="rect">
            <a:avLst/>
          </a:prstGeom>
        </p:spPr>
      </p:pic>
      <p:pic>
        <p:nvPicPr>
          <p:cNvPr id="13" name="Image 11" descr="https://test.web.static.jianzeppt.com/ppt-temp-img3/1671603415db4b8d108769f6a60016fc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447334" y="1388529"/>
            <a:ext cx="638106" cy="638106"/>
          </a:xfrm>
          <a:prstGeom prst="rect">
            <a:avLst/>
          </a:prstGeom>
        </p:spPr>
      </p:pic>
      <p:pic>
        <p:nvPicPr>
          <p:cNvPr id="14" name="Image 12" descr="https://test.web.static.jianzeppt.com/ppt-temp-img3/debd7ed8f88c226e123047632f3b979c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579755" y="1531291"/>
            <a:ext cx="353430" cy="353430"/>
          </a:xfrm>
          <a:prstGeom prst="rect">
            <a:avLst/>
          </a:prstGeom>
        </p:spPr>
      </p:pic>
      <p:sp>
        <p:nvSpPr>
          <p:cNvPr id="15" name="Text 0"/>
          <p:cNvSpPr/>
          <p:nvPr/>
        </p:nvSpPr>
        <p:spPr>
          <a:xfrm>
            <a:off x="1356653" y="2275473"/>
            <a:ext cx="3896211" cy="54989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184"/>
              </a:lnSpc>
            </a:pPr>
            <a:r>
              <a:rPr lang="en-US" dirty="0" err="1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Normal"/>
              </a:rPr>
              <a:t>文旅融合已成为区域高质量发展的重要方向，国家及地方政策大力支持</a:t>
            </a:r>
            <a:r>
              <a:rPr lang="en-US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Normal"/>
              </a:rPr>
              <a:t>。</a:t>
            </a:r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Text 1"/>
          <p:cNvSpPr/>
          <p:nvPr/>
        </p:nvSpPr>
        <p:spPr>
          <a:xfrm>
            <a:off x="6498279" y="4778829"/>
            <a:ext cx="3896211" cy="83202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184"/>
              </a:lnSpc>
            </a:pPr>
            <a:r>
              <a:rPr lang="en-US" dirty="0" err="1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Normal"/>
              </a:rPr>
              <a:t>大数据</a:t>
            </a:r>
            <a:r>
              <a:rPr lang="en-US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Normal"/>
              </a:rPr>
              <a:t>、</a:t>
            </a:r>
            <a:r>
              <a:rPr lang="zh-CN" altLang="en-US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Normal"/>
              </a:rPr>
              <a:t>人工智能、</a:t>
            </a:r>
            <a:r>
              <a:rPr lang="en-US" dirty="0" err="1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Normal"/>
              </a:rPr>
              <a:t>知识图谱等技术方法日趋成熟，为文旅资源整合与空间分析提供了新手段</a:t>
            </a:r>
            <a:r>
              <a:rPr lang="en-US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Normal"/>
              </a:rPr>
              <a:t>。</a:t>
            </a:r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Text 2"/>
          <p:cNvSpPr/>
          <p:nvPr/>
        </p:nvSpPr>
        <p:spPr>
          <a:xfrm>
            <a:off x="1355212" y="1874287"/>
            <a:ext cx="3816072" cy="3046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96"/>
              </a:lnSpc>
            </a:pPr>
            <a:r>
              <a:rPr lang="en-US" sz="1920" b="1">
                <a:solidFill>
                  <a:srgbClr val="000000"/>
                </a:solidFill>
                <a:latin typeface="OPPOSans"/>
                <a:ea typeface="OPPOSans"/>
                <a:cs typeface="OPPOSans"/>
              </a:rPr>
              <a:t>政策导向</a:t>
            </a:r>
            <a:endParaRPr lang="en-US" sz="1920"/>
          </a:p>
        </p:txBody>
      </p:sp>
      <p:sp>
        <p:nvSpPr>
          <p:cNvPr id="18" name="Text 3"/>
          <p:cNvSpPr/>
          <p:nvPr/>
        </p:nvSpPr>
        <p:spPr>
          <a:xfrm>
            <a:off x="1355212" y="4377644"/>
            <a:ext cx="3816072" cy="3046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96"/>
              </a:lnSpc>
            </a:pPr>
            <a:r>
              <a:rPr lang="en-US" sz="1920" b="1">
                <a:solidFill>
                  <a:srgbClr val="000000"/>
                </a:solidFill>
                <a:latin typeface="OPPOSans"/>
                <a:ea typeface="OPPOSans"/>
                <a:cs typeface="OPPOSans"/>
              </a:rPr>
              <a:t>区域现状</a:t>
            </a:r>
            <a:endParaRPr lang="en-US" sz="1920"/>
          </a:p>
        </p:txBody>
      </p:sp>
      <p:sp>
        <p:nvSpPr>
          <p:cNvPr id="19" name="Text 4"/>
          <p:cNvSpPr/>
          <p:nvPr/>
        </p:nvSpPr>
        <p:spPr>
          <a:xfrm>
            <a:off x="6496838" y="4377644"/>
            <a:ext cx="3816072" cy="3046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96"/>
              </a:lnSpc>
            </a:pPr>
            <a:r>
              <a:rPr lang="en-US" sz="1920" b="1">
                <a:solidFill>
                  <a:srgbClr val="000000"/>
                </a:solidFill>
                <a:latin typeface="OPPOSans"/>
                <a:ea typeface="OPPOSans"/>
                <a:cs typeface="OPPOSans"/>
              </a:rPr>
              <a:t>技术驱动</a:t>
            </a:r>
            <a:endParaRPr lang="en-US" sz="1920"/>
          </a:p>
        </p:txBody>
      </p:sp>
      <p:sp>
        <p:nvSpPr>
          <p:cNvPr id="20" name="Text 5"/>
          <p:cNvSpPr/>
          <p:nvPr/>
        </p:nvSpPr>
        <p:spPr>
          <a:xfrm>
            <a:off x="487680" y="438107"/>
            <a:ext cx="11231270" cy="423193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3322"/>
              </a:lnSpc>
            </a:pPr>
            <a:r>
              <a:rPr lang="en-US" altLang="zh-CN" sz="2768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1.1 </a:t>
            </a:r>
            <a:r>
              <a:rPr lang="zh-CN" altLang="en-US" sz="2768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研究背景</a:t>
            </a:r>
            <a:endParaRPr lang="en-US" sz="2768" b="1" dirty="0">
              <a:solidFill>
                <a:srgbClr val="1E1E1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" name="Text 6"/>
          <p:cNvSpPr/>
          <p:nvPr/>
        </p:nvSpPr>
        <p:spPr>
          <a:xfrm>
            <a:off x="6496838" y="1874287"/>
            <a:ext cx="3816072" cy="3046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96"/>
              </a:lnSpc>
            </a:pPr>
            <a:r>
              <a:rPr lang="zh-CN" altLang="en-US" sz="1920" b="1" dirty="0">
                <a:solidFill>
                  <a:srgbClr val="000000"/>
                </a:solidFill>
                <a:latin typeface="OPPOSans"/>
                <a:ea typeface="OPPOSans"/>
                <a:cs typeface="OPPOSans"/>
              </a:rPr>
              <a:t>当前问题</a:t>
            </a:r>
            <a:endParaRPr lang="en-US" sz="1920" dirty="0"/>
          </a:p>
        </p:txBody>
      </p:sp>
      <p:sp>
        <p:nvSpPr>
          <p:cNvPr id="22" name="Text 7"/>
          <p:cNvSpPr/>
          <p:nvPr/>
        </p:nvSpPr>
        <p:spPr>
          <a:xfrm>
            <a:off x="1356653" y="4778829"/>
            <a:ext cx="3896211" cy="83202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184"/>
              </a:lnSpc>
            </a:pPr>
            <a:r>
              <a:rPr lang="en-US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Normal"/>
              </a:rPr>
              <a:t>佛山南海区文化资源丰富（如90项非遗项目），</a:t>
            </a:r>
            <a:r>
              <a:rPr lang="en-US" dirty="0" err="1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Normal"/>
              </a:rPr>
              <a:t>但文化资源与旅游体验的整合度与系统性有待提升</a:t>
            </a:r>
            <a:r>
              <a:rPr lang="en-US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Normal"/>
              </a:rPr>
              <a:t>。</a:t>
            </a:r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Text 8"/>
          <p:cNvSpPr/>
          <p:nvPr/>
        </p:nvSpPr>
        <p:spPr>
          <a:xfrm>
            <a:off x="6498279" y="2275473"/>
            <a:ext cx="3896211" cy="83753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184"/>
              </a:lnSpc>
            </a:pPr>
            <a:r>
              <a:rPr lang="zh-CN" altLang="en-US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Normal"/>
              </a:rPr>
              <a:t>文化资源“文本化沉淀”、景点开发“空间市场化”，两者衔接错位，导致重要文化缺乏有效载体与场景化表达。</a:t>
            </a:r>
            <a:endParaRPr lang="en-US" dirty="0">
              <a:solidFill>
                <a:srgbClr val="33333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Source Han Sans CN Normal"/>
            </a:endParaRPr>
          </a:p>
        </p:txBody>
      </p:sp>
      <p:pic>
        <p:nvPicPr>
          <p:cNvPr id="25" name="Image 3" descr="https://oss.jianzeppt.com/editablePptPic/isIllustration_1_isShadow_0/18102cb5-5882-4151-ac19-4286f52a0323_image_90819cb7d4a6a1eecbd1ae23dec6207e_14123563.png">
            <a:extLst>
              <a:ext uri="{FF2B5EF4-FFF2-40B4-BE49-F238E27FC236}">
                <a16:creationId xmlns:a16="http://schemas.microsoft.com/office/drawing/2014/main" id="{71D8F95E-AA25-6748-BB00-60D63313D908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/>
          <a:stretch>
            <a:fillRect/>
          </a:stretch>
        </p:blipFill>
        <p:spPr>
          <a:xfrm>
            <a:off x="9785719" y="194778"/>
            <a:ext cx="2288952" cy="901224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9="http://schemas.microsoft.com/office/powerpoint/2015/09/main" xmlns:p15="http://schemas.microsoft.com/office/powerpoint/2012/main" xmlns:a14="http://schemas.microsoft.com/office/drawing/2010/main" xmlns:wp="http://schemas.openxmlformats.org/drawingml/2006/wordprocessingDrawing" xmlns:w="http://schemas.openxmlformats.org/wordprocessingml/2006/main" xmlns:m="http://schemas.openxmlformats.org/officeDocument/2006/math"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2_isShadow_0/68fe1269-8cc2-4116-97e6-2e27b97da75f_image_024f533a16df894d6710d6aaad9f47c2_1412356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360" y="203042"/>
            <a:ext cx="82800" cy="896400"/>
          </a:xfrm>
          <a:prstGeom prst="rect">
            <a:avLst/>
          </a:prstGeom>
        </p:spPr>
      </p:pic>
      <p:pic>
        <p:nvPicPr>
          <p:cNvPr id="3" name="Image 1" descr="https://test.web.static.jianzeppt.com/ppt-temp-img3/8082212247695ff33319cef715f6393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1446" y="3429001"/>
            <a:ext cx="2788411" cy="2788411"/>
          </a:xfrm>
          <a:prstGeom prst="rect">
            <a:avLst/>
          </a:prstGeom>
        </p:spPr>
      </p:pic>
      <p:pic>
        <p:nvPicPr>
          <p:cNvPr id="4" name="Image 2" descr="https://test.web.static.jianzeppt.com/ppt-temp-img3/2e5b536bd9711e18a9a0100ef8b4f66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62483" y="1364978"/>
            <a:ext cx="2788411" cy="2788413"/>
          </a:xfrm>
          <a:prstGeom prst="rect">
            <a:avLst/>
          </a:prstGeom>
        </p:spPr>
      </p:pic>
      <p:pic>
        <p:nvPicPr>
          <p:cNvPr id="5" name="Image 3" descr="https://test.web.static.jianzeppt.com/ppt-temp-img3/b0b401b65cfb38cafbfbdb132c08157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93523" y="3429001"/>
            <a:ext cx="2788411" cy="2788411"/>
          </a:xfrm>
          <a:prstGeom prst="rect">
            <a:avLst/>
          </a:prstGeom>
        </p:spPr>
      </p:pic>
      <p:pic>
        <p:nvPicPr>
          <p:cNvPr id="6" name="Image 4" descr="https://test.web.static.jianzeppt.com/ppt-temp-img3/266f419fe1dc4d9cdb657b3b16aca90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55599" y="3429001"/>
            <a:ext cx="2788411" cy="2788411"/>
          </a:xfrm>
          <a:prstGeom prst="rect">
            <a:avLst/>
          </a:prstGeom>
        </p:spPr>
      </p:pic>
      <p:pic>
        <p:nvPicPr>
          <p:cNvPr id="7" name="Image 5" descr="https://test.web.static.jianzeppt.com/ppt-temp-img3/3dcb8e4d69d0cdfcd5637fb8b465644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24562" y="1364978"/>
            <a:ext cx="2788413" cy="2788413"/>
          </a:xfrm>
          <a:prstGeom prst="rect">
            <a:avLst/>
          </a:prstGeom>
        </p:spPr>
      </p:pic>
      <p:pic>
        <p:nvPicPr>
          <p:cNvPr id="8" name="Image 6" descr="https://test.web.static.jianzeppt.com/ppt-temp-img3/5923dd63ecc61dbeb57d9dc37ab3e657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86638" y="1364978"/>
            <a:ext cx="2788411" cy="2788413"/>
          </a:xfrm>
          <a:prstGeom prst="rect">
            <a:avLst/>
          </a:prstGeom>
        </p:spPr>
      </p:pic>
      <p:sp>
        <p:nvSpPr>
          <p:cNvPr id="9" name="Text 0"/>
          <p:cNvSpPr/>
          <p:nvPr/>
        </p:nvSpPr>
        <p:spPr>
          <a:xfrm>
            <a:off x="4310170" y="3904616"/>
            <a:ext cx="2008006" cy="3046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2496"/>
              </a:lnSpc>
            </a:pPr>
            <a:r>
              <a:rPr lang="en-US" sz="1920" b="1">
                <a:solidFill>
                  <a:srgbClr val="5D0769"/>
                </a:solidFill>
                <a:latin typeface="OPPOSans"/>
                <a:ea typeface="OPPOSans"/>
                <a:cs typeface="OPPOSans"/>
              </a:rPr>
              <a:t>数据转化</a:t>
            </a:r>
            <a:endParaRPr lang="en-US" sz="1920"/>
          </a:p>
        </p:txBody>
      </p:sp>
      <p:sp>
        <p:nvSpPr>
          <p:cNvPr id="10" name="Text 1"/>
          <p:cNvSpPr/>
          <p:nvPr/>
        </p:nvSpPr>
        <p:spPr>
          <a:xfrm>
            <a:off x="9183153" y="2115771"/>
            <a:ext cx="2005026" cy="111415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2184"/>
              </a:lnSpc>
            </a:pPr>
            <a:r>
              <a:rPr lang="en-US" sz="1600" dirty="0" err="1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Normal"/>
              </a:rPr>
              <a:t>为文化遗产的数字化整理与知识表达提供技术参考，响应国家文化数字化战略</a:t>
            </a:r>
            <a:r>
              <a:rPr lang="en-US" sz="1600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Normal"/>
              </a:rPr>
              <a:t>。</a:t>
            </a:r>
          </a:p>
        </p:txBody>
      </p:sp>
      <p:sp>
        <p:nvSpPr>
          <p:cNvPr id="11" name="Text 2"/>
          <p:cNvSpPr/>
          <p:nvPr/>
        </p:nvSpPr>
        <p:spPr>
          <a:xfrm>
            <a:off x="5927535" y="1765148"/>
            <a:ext cx="2007906" cy="3046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2496"/>
              </a:lnSpc>
            </a:pPr>
            <a:r>
              <a:rPr lang="en-US" sz="1920" b="1">
                <a:solidFill>
                  <a:srgbClr val="5D0769"/>
                </a:solidFill>
                <a:latin typeface="OPPOSans"/>
                <a:ea typeface="OPPOSans"/>
                <a:cs typeface="OPPOSans"/>
              </a:rPr>
              <a:t>认知深化</a:t>
            </a:r>
            <a:endParaRPr lang="en-US" sz="1920"/>
          </a:p>
        </p:txBody>
      </p:sp>
      <p:sp>
        <p:nvSpPr>
          <p:cNvPr id="12" name="Text 3"/>
          <p:cNvSpPr/>
          <p:nvPr/>
        </p:nvSpPr>
        <p:spPr>
          <a:xfrm>
            <a:off x="9181711" y="1765148"/>
            <a:ext cx="2007906" cy="3046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2496"/>
              </a:lnSpc>
            </a:pPr>
            <a:r>
              <a:rPr lang="en-US" sz="1920" b="1">
                <a:solidFill>
                  <a:srgbClr val="5D0769"/>
                </a:solidFill>
                <a:latin typeface="OPPOSans"/>
                <a:ea typeface="OPPOSans"/>
                <a:cs typeface="OPPOSans"/>
              </a:rPr>
              <a:t>数字遗产</a:t>
            </a:r>
            <a:endParaRPr lang="en-US" sz="1920"/>
          </a:p>
        </p:txBody>
      </p:sp>
      <p:sp>
        <p:nvSpPr>
          <p:cNvPr id="13" name="Text 4"/>
          <p:cNvSpPr/>
          <p:nvPr/>
        </p:nvSpPr>
        <p:spPr>
          <a:xfrm>
            <a:off x="1030348" y="4255239"/>
            <a:ext cx="2005026" cy="110684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2184"/>
              </a:lnSpc>
            </a:pPr>
            <a:r>
              <a:rPr lang="en-US" sz="1600" dirty="0" err="1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Normal"/>
              </a:rPr>
              <a:t>将自然语言处理与知识图谱方法引入文旅研究，探索文化文本结构化分析的新路径</a:t>
            </a:r>
            <a:endParaRPr 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Text 5"/>
          <p:cNvSpPr/>
          <p:nvPr/>
        </p:nvSpPr>
        <p:spPr>
          <a:xfrm>
            <a:off x="2661604" y="2115770"/>
            <a:ext cx="2005026" cy="111152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2184"/>
              </a:lnSpc>
            </a:pPr>
            <a:r>
              <a:rPr lang="en-US" sz="1600" dirty="0" err="1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Normal"/>
              </a:rPr>
              <a:t>构建一套面向文旅文本的实体与关系抽取流程，为同类研究提供可复用的方法框架</a:t>
            </a:r>
            <a:endParaRPr lang="en-US" sz="1680" dirty="0"/>
          </a:p>
        </p:txBody>
      </p:sp>
      <p:sp>
        <p:nvSpPr>
          <p:cNvPr id="15" name="Text 6"/>
          <p:cNvSpPr/>
          <p:nvPr/>
        </p:nvSpPr>
        <p:spPr>
          <a:xfrm>
            <a:off x="7579181" y="4255239"/>
            <a:ext cx="2005026" cy="111415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2184"/>
              </a:lnSpc>
            </a:pPr>
            <a:r>
              <a:rPr lang="en-US" sz="1600" dirty="0" err="1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Normal"/>
              </a:rPr>
              <a:t>为区域文旅资源梳理、文化展示及相关规划研究提供数据驱动的辅助决策参考</a:t>
            </a:r>
            <a:r>
              <a:rPr lang="en-US" sz="1680" dirty="0">
                <a:solidFill>
                  <a:srgbClr val="333333"/>
                </a:solidFill>
                <a:latin typeface="Source Han Sans CN Normal"/>
                <a:ea typeface="Source Han Sans CN Normal"/>
                <a:cs typeface="Source Han Sans CN Normal"/>
              </a:rPr>
              <a:t>。</a:t>
            </a:r>
            <a:endParaRPr lang="en-US" sz="1680" dirty="0"/>
          </a:p>
        </p:txBody>
      </p:sp>
      <p:sp>
        <p:nvSpPr>
          <p:cNvPr id="16" name="Text 7"/>
          <p:cNvSpPr/>
          <p:nvPr/>
        </p:nvSpPr>
        <p:spPr>
          <a:xfrm>
            <a:off x="487680" y="438107"/>
            <a:ext cx="11231270" cy="423193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3322"/>
              </a:lnSpc>
            </a:pPr>
            <a:r>
              <a:rPr lang="en-US" altLang="zh-CN" sz="2768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1.2 </a:t>
            </a:r>
            <a:r>
              <a:rPr lang="zh-CN" altLang="en-US" sz="2768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研究意义</a:t>
            </a:r>
            <a:endParaRPr lang="en-US" altLang="zh-CN" sz="2768" b="1" dirty="0">
              <a:solidFill>
                <a:srgbClr val="1E1E1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Text 8"/>
          <p:cNvSpPr/>
          <p:nvPr/>
        </p:nvSpPr>
        <p:spPr>
          <a:xfrm>
            <a:off x="4311610" y="4255239"/>
            <a:ext cx="2005126" cy="13962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2184"/>
              </a:lnSpc>
            </a:pPr>
            <a:r>
              <a:rPr lang="en-US" sz="1600" dirty="0" err="1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Normal"/>
              </a:rPr>
              <a:t>将分散于文献中的文化信息转化为可分析的结构化知识，提升信息的系统性与可用性</a:t>
            </a:r>
            <a:endParaRPr lang="en-US" sz="1600" dirty="0">
              <a:solidFill>
                <a:srgbClr val="33333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Source Han Sans CN Normal"/>
            </a:endParaRPr>
          </a:p>
        </p:txBody>
      </p:sp>
      <p:sp>
        <p:nvSpPr>
          <p:cNvPr id="18" name="Text 9"/>
          <p:cNvSpPr/>
          <p:nvPr/>
        </p:nvSpPr>
        <p:spPr>
          <a:xfrm>
            <a:off x="1028906" y="3904616"/>
            <a:ext cx="2007906" cy="3046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2496"/>
              </a:lnSpc>
            </a:pPr>
            <a:r>
              <a:rPr lang="en-US" sz="1920" b="1">
                <a:solidFill>
                  <a:srgbClr val="5D0769"/>
                </a:solidFill>
                <a:latin typeface="OPPOSans"/>
                <a:ea typeface="OPPOSans"/>
                <a:cs typeface="OPPOSans"/>
              </a:rPr>
              <a:t>方法层面</a:t>
            </a:r>
            <a:endParaRPr lang="en-US" sz="1920"/>
          </a:p>
        </p:txBody>
      </p:sp>
      <p:sp>
        <p:nvSpPr>
          <p:cNvPr id="19" name="Text 10"/>
          <p:cNvSpPr/>
          <p:nvPr/>
        </p:nvSpPr>
        <p:spPr>
          <a:xfrm>
            <a:off x="5928975" y="2115771"/>
            <a:ext cx="2005026" cy="111415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2184"/>
              </a:lnSpc>
            </a:pPr>
            <a:r>
              <a:rPr lang="en-US" sz="1600" dirty="0" err="1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Normal"/>
              </a:rPr>
              <a:t>通过知识图谱的关联表达，深化对区域文旅要素整体结构与内在联系的认知</a:t>
            </a:r>
            <a:r>
              <a:rPr lang="en-US" sz="1680" dirty="0">
                <a:solidFill>
                  <a:srgbClr val="333333"/>
                </a:solidFill>
                <a:latin typeface="Source Han Sans CN Normal"/>
                <a:ea typeface="Source Han Sans CN Normal"/>
                <a:cs typeface="Source Han Sans CN Normal"/>
              </a:rPr>
              <a:t>。</a:t>
            </a:r>
            <a:endParaRPr lang="en-US" sz="1680" dirty="0"/>
          </a:p>
        </p:txBody>
      </p:sp>
      <p:sp>
        <p:nvSpPr>
          <p:cNvPr id="20" name="Text 11"/>
          <p:cNvSpPr/>
          <p:nvPr/>
        </p:nvSpPr>
        <p:spPr>
          <a:xfrm>
            <a:off x="2660162" y="1765148"/>
            <a:ext cx="2007906" cy="3046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2496"/>
              </a:lnSpc>
            </a:pPr>
            <a:r>
              <a:rPr lang="en-US" sz="1920" b="1">
                <a:solidFill>
                  <a:srgbClr val="5D0769"/>
                </a:solidFill>
                <a:latin typeface="OPPOSans"/>
                <a:ea typeface="OPPOSans"/>
                <a:cs typeface="OPPOSans"/>
              </a:rPr>
              <a:t>框架构建</a:t>
            </a:r>
            <a:endParaRPr lang="en-US" sz="1920"/>
          </a:p>
        </p:txBody>
      </p:sp>
      <p:sp>
        <p:nvSpPr>
          <p:cNvPr id="21" name="Text 12"/>
          <p:cNvSpPr/>
          <p:nvPr/>
        </p:nvSpPr>
        <p:spPr>
          <a:xfrm>
            <a:off x="7577741" y="3904616"/>
            <a:ext cx="2007906" cy="3046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2496"/>
              </a:lnSpc>
            </a:pPr>
            <a:r>
              <a:rPr lang="en-US" sz="1920" b="1">
                <a:solidFill>
                  <a:srgbClr val="5D0769"/>
                </a:solidFill>
                <a:latin typeface="OPPOSans"/>
                <a:ea typeface="OPPOSans"/>
                <a:cs typeface="OPPOSans"/>
              </a:rPr>
              <a:t>实践应用</a:t>
            </a:r>
            <a:endParaRPr lang="en-US" sz="1920"/>
          </a:p>
        </p:txBody>
      </p:sp>
      <p:pic>
        <p:nvPicPr>
          <p:cNvPr id="22" name="Image 1" descr="https://test.web.static.jianzeppt.com/ppt-temp-img3/9d5d092227daf7e17b5dbbc99f4ce1a8.png">
            <a:extLst>
              <a:ext uri="{FF2B5EF4-FFF2-40B4-BE49-F238E27FC236}">
                <a16:creationId xmlns:a16="http://schemas.microsoft.com/office/drawing/2014/main" id="{A24129CA-D73A-8F6C-B7D5-571E704454C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98807" y="1402808"/>
            <a:ext cx="724680" cy="724680"/>
          </a:xfrm>
          <a:prstGeom prst="rect">
            <a:avLst/>
          </a:prstGeom>
        </p:spPr>
      </p:pic>
      <p:pic>
        <p:nvPicPr>
          <p:cNvPr id="23" name="Image 2" descr="https://test.web.static.jianzeppt.com/ppt-temp-img3/879729a3e40f6444c8259d8f7a10d1e3.png">
            <a:extLst>
              <a:ext uri="{FF2B5EF4-FFF2-40B4-BE49-F238E27FC236}">
                <a16:creationId xmlns:a16="http://schemas.microsoft.com/office/drawing/2014/main" id="{78EF8B00-65A1-54D8-027B-DE6053ADF32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872147" y="1448502"/>
            <a:ext cx="724680" cy="724680"/>
          </a:xfrm>
          <a:prstGeom prst="rect">
            <a:avLst/>
          </a:prstGeom>
        </p:spPr>
      </p:pic>
      <p:pic>
        <p:nvPicPr>
          <p:cNvPr id="25" name="图形 24" descr="箭头循环 纯色填充">
            <a:extLst>
              <a:ext uri="{FF2B5EF4-FFF2-40B4-BE49-F238E27FC236}">
                <a16:creationId xmlns:a16="http://schemas.microsoft.com/office/drawing/2014/main" id="{54B2A5F3-6A74-3803-4F6B-D999C8A53DF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61213" y="3142565"/>
            <a:ext cx="914400" cy="914400"/>
          </a:xfrm>
          <a:prstGeom prst="rect">
            <a:avLst/>
          </a:prstGeom>
        </p:spPr>
      </p:pic>
      <p:pic>
        <p:nvPicPr>
          <p:cNvPr id="27" name="图形 26" descr="条形图 纯色填充">
            <a:extLst>
              <a:ext uri="{FF2B5EF4-FFF2-40B4-BE49-F238E27FC236}">
                <a16:creationId xmlns:a16="http://schemas.microsoft.com/office/drawing/2014/main" id="{8280FC22-B20E-9939-2605-5A2383D04EC7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048402" y="3428999"/>
            <a:ext cx="852635" cy="852635"/>
          </a:xfrm>
          <a:prstGeom prst="rect">
            <a:avLst/>
          </a:prstGeom>
        </p:spPr>
      </p:pic>
      <p:pic>
        <p:nvPicPr>
          <p:cNvPr id="29" name="图形 28" descr="教室 纯色填充">
            <a:extLst>
              <a:ext uri="{FF2B5EF4-FFF2-40B4-BE49-F238E27FC236}">
                <a16:creationId xmlns:a16="http://schemas.microsoft.com/office/drawing/2014/main" id="{C51E152B-EF7B-AACB-24DE-ED82F7CB2389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7178206" y="3525839"/>
            <a:ext cx="755795" cy="755795"/>
          </a:xfrm>
          <a:prstGeom prst="rect">
            <a:avLst/>
          </a:prstGeom>
        </p:spPr>
      </p:pic>
      <p:pic>
        <p:nvPicPr>
          <p:cNvPr id="31" name="图形 30" descr="头上的大脑 纯色填充">
            <a:extLst>
              <a:ext uri="{FF2B5EF4-FFF2-40B4-BE49-F238E27FC236}">
                <a16:creationId xmlns:a16="http://schemas.microsoft.com/office/drawing/2014/main" id="{5BBB0C83-1BF7-AFE8-A199-3A03A7EADED2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609770" y="1428432"/>
            <a:ext cx="744749" cy="744749"/>
          </a:xfrm>
          <a:prstGeom prst="rect">
            <a:avLst/>
          </a:prstGeom>
        </p:spPr>
      </p:pic>
      <p:pic>
        <p:nvPicPr>
          <p:cNvPr id="26" name="Image 3" descr="https://oss.jianzeppt.com/editablePptPic/isIllustration_1_isShadow_0/18102cb5-5882-4151-ac19-4286f52a0323_image_90819cb7d4a6a1eecbd1ae23dec6207e_14123563.png">
            <a:extLst>
              <a:ext uri="{FF2B5EF4-FFF2-40B4-BE49-F238E27FC236}">
                <a16:creationId xmlns:a16="http://schemas.microsoft.com/office/drawing/2014/main" id="{5AB4C0B3-60D1-8572-72EE-59CC35675798}"/>
              </a:ext>
            </a:extLst>
          </p:cNvPr>
          <p:cNvPicPr>
            <a:picLocks noChangeAspect="1"/>
          </p:cNvPicPr>
          <p:nvPr/>
        </p:nvPicPr>
        <p:blipFill>
          <a:blip r:embed="rId21"/>
          <a:srcRect/>
          <a:stretch>
            <a:fillRect/>
          </a:stretch>
        </p:blipFill>
        <p:spPr>
          <a:xfrm>
            <a:off x="9785719" y="194778"/>
            <a:ext cx="2288952" cy="901224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p15="http://schemas.microsoft.com/office/powerpoint/2012/main" xmlns:p159="http://schemas.microsoft.com/office/powerpoint/2015/09/main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>
            <a:extLst>
              <a:ext uri="{FF2B5EF4-FFF2-40B4-BE49-F238E27FC236}">
                <a16:creationId xmlns:a16="http://schemas.microsoft.com/office/drawing/2014/main" id="{02BF9CC8-28C5-FAC7-B222-64403C123F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16" t="4762" r="1707" b="2539"/>
          <a:stretch>
            <a:fillRect/>
          </a:stretch>
        </p:blipFill>
        <p:spPr>
          <a:xfrm>
            <a:off x="7034817" y="1887470"/>
            <a:ext cx="4800139" cy="4065368"/>
          </a:xfrm>
          <a:prstGeom prst="rect">
            <a:avLst/>
          </a:prstGeom>
        </p:spPr>
      </p:pic>
      <p:pic>
        <p:nvPicPr>
          <p:cNvPr id="2" name="Image 0" descr="https://oss.jianzeppt.com/editablePptPic/isIllustration_2_isShadow_0/68fe1269-8cc2-4116-97e6-2e27b97da75f_image_024f533a16df894d6710d6aaad9f47c2_1412356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360" y="203042"/>
            <a:ext cx="82800" cy="8964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335360" y="2997790"/>
            <a:ext cx="1083274" cy="3046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ts val="2496"/>
              </a:lnSpc>
            </a:pPr>
            <a:r>
              <a:rPr lang="en-US" sz="1920" b="1" dirty="0" err="1">
                <a:solidFill>
                  <a:srgbClr val="000000"/>
                </a:solidFill>
                <a:latin typeface="OPPOSans"/>
                <a:ea typeface="OPPOSans"/>
                <a:cs typeface="OPPOSans"/>
              </a:rPr>
              <a:t>研究对象</a:t>
            </a:r>
            <a:endParaRPr lang="en-US" sz="1920" dirty="0"/>
          </a:p>
        </p:txBody>
      </p:sp>
      <p:sp>
        <p:nvSpPr>
          <p:cNvPr id="5" name="Text 1"/>
          <p:cNvSpPr/>
          <p:nvPr/>
        </p:nvSpPr>
        <p:spPr>
          <a:xfrm>
            <a:off x="487679" y="3429000"/>
            <a:ext cx="4885919" cy="83202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184"/>
              </a:lnSpc>
            </a:pPr>
            <a:r>
              <a:rPr lang="en-US" sz="1680" dirty="0" err="1">
                <a:solidFill>
                  <a:srgbClr val="7D7D7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Normal"/>
              </a:rPr>
              <a:t>研究区域为佛山市南海区。数据对象包括文化资源（典籍、非遗</a:t>
            </a:r>
            <a:r>
              <a:rPr lang="en-US" sz="1680" dirty="0">
                <a:solidFill>
                  <a:srgbClr val="7D7D7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Normal"/>
              </a:rPr>
              <a:t>）、</a:t>
            </a:r>
          </a:p>
          <a:p>
            <a:pPr>
              <a:lnSpc>
                <a:spcPts val="2184"/>
              </a:lnSpc>
            </a:pPr>
            <a:r>
              <a:rPr lang="en-US" sz="1680" dirty="0" err="1">
                <a:solidFill>
                  <a:srgbClr val="7D7D7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Normal"/>
              </a:rPr>
              <a:t>旅游资源（景点、评价）及相关空间信息</a:t>
            </a:r>
            <a:r>
              <a:rPr lang="en-US" sz="1680" dirty="0">
                <a:solidFill>
                  <a:srgbClr val="7D7D7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Normal"/>
              </a:rPr>
              <a:t>。</a:t>
            </a:r>
            <a:endParaRPr lang="en-US" sz="168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Text 2"/>
          <p:cNvSpPr/>
          <p:nvPr/>
        </p:nvSpPr>
        <p:spPr>
          <a:xfrm>
            <a:off x="487680" y="438107"/>
            <a:ext cx="11231270" cy="423193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3322"/>
              </a:lnSpc>
            </a:pPr>
            <a:r>
              <a:rPr lang="en-US" sz="2768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2.1 </a:t>
            </a:r>
            <a:r>
              <a:rPr lang="en-US" sz="2768" b="1" dirty="0" err="1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研究目标与研究对象</a:t>
            </a:r>
            <a:endParaRPr lang="en-US" sz="2768" b="1" dirty="0">
              <a:solidFill>
                <a:srgbClr val="1E1E1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Text 3"/>
          <p:cNvSpPr/>
          <p:nvPr/>
        </p:nvSpPr>
        <p:spPr>
          <a:xfrm>
            <a:off x="487679" y="1692103"/>
            <a:ext cx="4262477" cy="83202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184"/>
              </a:lnSpc>
            </a:pPr>
            <a:r>
              <a:rPr lang="en-US" sz="1680" dirty="0" err="1">
                <a:solidFill>
                  <a:srgbClr val="7D7D7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Normal"/>
              </a:rPr>
              <a:t>构建基于多元大数据的文旅融合分析框架，通过“文化谱系”与“景点谱系”的对比分析，识别南海区文旅融合的特征、问题与潜力点</a:t>
            </a:r>
            <a:r>
              <a:rPr lang="en-US" sz="1680" dirty="0">
                <a:solidFill>
                  <a:srgbClr val="7D7D7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Normal"/>
              </a:rPr>
              <a:t>。</a:t>
            </a:r>
            <a:endParaRPr lang="en-US" sz="168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Text 4"/>
          <p:cNvSpPr/>
          <p:nvPr/>
        </p:nvSpPr>
        <p:spPr>
          <a:xfrm>
            <a:off x="487680" y="1188724"/>
            <a:ext cx="2332149" cy="3046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96"/>
              </a:lnSpc>
            </a:pPr>
            <a:r>
              <a:rPr lang="en-US" sz="1920" b="1" dirty="0" err="1">
                <a:solidFill>
                  <a:srgbClr val="000000"/>
                </a:solidFill>
                <a:latin typeface="OPPOSans"/>
                <a:ea typeface="OPPOSans"/>
                <a:cs typeface="OPPOSans"/>
              </a:rPr>
              <a:t>研究目标</a:t>
            </a:r>
            <a:endParaRPr lang="en-US" sz="1920" dirty="0"/>
          </a:p>
        </p:txBody>
      </p: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5DDE4349-144B-B6B0-090D-3FCC4E5AB861}"/>
              </a:ext>
            </a:extLst>
          </p:cNvPr>
          <p:cNvGrpSpPr/>
          <p:nvPr/>
        </p:nvGrpSpPr>
        <p:grpSpPr>
          <a:xfrm>
            <a:off x="4972721" y="191752"/>
            <a:ext cx="3667561" cy="3693754"/>
            <a:chOff x="123088" y="3721540"/>
            <a:chExt cx="5280952" cy="5149105"/>
          </a:xfrm>
        </p:grpSpPr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C1B87AA5-2AC0-B128-0E27-6AC61DA8B53D}"/>
                </a:ext>
              </a:extLst>
            </p:cNvPr>
            <p:cNvGrpSpPr/>
            <p:nvPr/>
          </p:nvGrpSpPr>
          <p:grpSpPr>
            <a:xfrm>
              <a:off x="123088" y="3721540"/>
              <a:ext cx="4262477" cy="3129642"/>
              <a:chOff x="123088" y="3721540"/>
              <a:chExt cx="4262477" cy="3129642"/>
            </a:xfrm>
          </p:grpSpPr>
          <p:pic>
            <p:nvPicPr>
              <p:cNvPr id="10" name="图片 9">
                <a:extLst>
                  <a:ext uri="{FF2B5EF4-FFF2-40B4-BE49-F238E27FC236}">
                    <a16:creationId xmlns:a16="http://schemas.microsoft.com/office/drawing/2014/main" id="{1677D152-06D7-09B6-6FB8-9071E7FA0E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4007"/>
              <a:stretch>
                <a:fillRect/>
              </a:stretch>
            </p:blipFill>
            <p:spPr>
              <a:xfrm>
                <a:off x="123088" y="3721540"/>
                <a:ext cx="4262477" cy="3129642"/>
              </a:xfrm>
              <a:prstGeom prst="rect">
                <a:avLst/>
              </a:prstGeom>
            </p:spPr>
          </p:pic>
          <p:sp>
            <p:nvSpPr>
              <p:cNvPr id="16" name="椭圆 15">
                <a:extLst>
                  <a:ext uri="{FF2B5EF4-FFF2-40B4-BE49-F238E27FC236}">
                    <a16:creationId xmlns:a16="http://schemas.microsoft.com/office/drawing/2014/main" id="{EEE113FE-A368-E523-E5EB-0195B84365DA}"/>
                  </a:ext>
                </a:extLst>
              </p:cNvPr>
              <p:cNvSpPr/>
              <p:nvPr/>
            </p:nvSpPr>
            <p:spPr>
              <a:xfrm>
                <a:off x="2574472" y="6339632"/>
                <a:ext cx="180519" cy="160521"/>
              </a:xfrm>
              <a:prstGeom prst="ellipse">
                <a:avLst/>
              </a:prstGeom>
              <a:noFill/>
              <a:ln w="127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5" name="组合 14">
              <a:extLst>
                <a:ext uri="{FF2B5EF4-FFF2-40B4-BE49-F238E27FC236}">
                  <a16:creationId xmlns:a16="http://schemas.microsoft.com/office/drawing/2014/main" id="{88453367-E55A-F908-1960-1415A336A94A}"/>
                </a:ext>
              </a:extLst>
            </p:cNvPr>
            <p:cNvGrpSpPr/>
            <p:nvPr/>
          </p:nvGrpSpPr>
          <p:grpSpPr>
            <a:xfrm>
              <a:off x="2473078" y="5406747"/>
              <a:ext cx="2930962" cy="3463898"/>
              <a:chOff x="2473078" y="5406747"/>
              <a:chExt cx="2930962" cy="3463898"/>
            </a:xfrm>
          </p:grpSpPr>
          <p:sp>
            <p:nvSpPr>
              <p:cNvPr id="13" name="弧形 12">
                <a:extLst>
                  <a:ext uri="{FF2B5EF4-FFF2-40B4-BE49-F238E27FC236}">
                    <a16:creationId xmlns:a16="http://schemas.microsoft.com/office/drawing/2014/main" id="{9BF282D5-CCB4-9C91-7045-642A1802C03A}"/>
                  </a:ext>
                </a:extLst>
              </p:cNvPr>
              <p:cNvSpPr/>
              <p:nvPr/>
            </p:nvSpPr>
            <p:spPr>
              <a:xfrm rot="18104465">
                <a:off x="2206610" y="5673215"/>
                <a:ext cx="3463898" cy="2930962"/>
              </a:xfrm>
              <a:prstGeom prst="arc">
                <a:avLst/>
              </a:prstGeom>
              <a:ln w="127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" name="等腰三角形 13">
                <a:extLst>
                  <a:ext uri="{FF2B5EF4-FFF2-40B4-BE49-F238E27FC236}">
                    <a16:creationId xmlns:a16="http://schemas.microsoft.com/office/drawing/2014/main" id="{B90213A9-0068-88E3-066E-E9112A341984}"/>
                  </a:ext>
                </a:extLst>
              </p:cNvPr>
              <p:cNvSpPr/>
              <p:nvPr/>
            </p:nvSpPr>
            <p:spPr>
              <a:xfrm rot="7159736">
                <a:off x="4758460" y="5543577"/>
                <a:ext cx="115646" cy="204056"/>
              </a:xfrm>
              <a:prstGeom prst="triangl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sp>
        <p:nvSpPr>
          <p:cNvPr id="18" name="AutoShape 2" descr="佛山市西樵山景区 - 广东旅游景区 - LoongWander">
            <a:extLst>
              <a:ext uri="{FF2B5EF4-FFF2-40B4-BE49-F238E27FC236}">
                <a16:creationId xmlns:a16="http://schemas.microsoft.com/office/drawing/2014/main" id="{7B4A1A6A-3757-36CF-CF56-17725FD9814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3534229" cy="35342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510F6992-E2C6-6FD1-0C42-53E860D9169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542"/>
          <a:stretch>
            <a:fillRect/>
          </a:stretch>
        </p:blipFill>
        <p:spPr>
          <a:xfrm>
            <a:off x="257515" y="4672059"/>
            <a:ext cx="1533641" cy="2067259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B2D30A31-DE6F-45F9-EE8A-A364AA64584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7598" y="4600551"/>
            <a:ext cx="1533641" cy="2309320"/>
          </a:xfrm>
          <a:prstGeom prst="rect">
            <a:avLst/>
          </a:prstGeom>
        </p:spPr>
      </p:pic>
      <p:pic>
        <p:nvPicPr>
          <p:cNvPr id="24" name="图片 23">
            <a:extLst>
              <a:ext uri="{FF2B5EF4-FFF2-40B4-BE49-F238E27FC236}">
                <a16:creationId xmlns:a16="http://schemas.microsoft.com/office/drawing/2014/main" id="{508D66A2-31C0-C17B-D42B-F359A26C1B3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7803" y="4600551"/>
            <a:ext cx="1727276" cy="2210277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0E5D8D36-AD47-2B9B-D7C7-AD93B032BFB8}"/>
              </a:ext>
            </a:extLst>
          </p:cNvPr>
          <p:cNvSpPr txBox="1"/>
          <p:nvPr/>
        </p:nvSpPr>
        <p:spPr>
          <a:xfrm>
            <a:off x="7808686" y="6299200"/>
            <a:ext cx="24457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南海区当前文化景点</a:t>
            </a:r>
          </a:p>
        </p:txBody>
      </p:sp>
      <p:pic>
        <p:nvPicPr>
          <p:cNvPr id="12" name="Image 3" descr="https://oss.jianzeppt.com/editablePptPic/isIllustration_1_isShadow_0/18102cb5-5882-4151-ac19-4286f52a0323_image_90819cb7d4a6a1eecbd1ae23dec6207e_14123563.png">
            <a:extLst>
              <a:ext uri="{FF2B5EF4-FFF2-40B4-BE49-F238E27FC236}">
                <a16:creationId xmlns:a16="http://schemas.microsoft.com/office/drawing/2014/main" id="{3A1C8A9E-2594-536A-1E06-177FDF058DFB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>
          <a:xfrm>
            <a:off x="9785719" y="194778"/>
            <a:ext cx="2288952" cy="901224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9="http://schemas.microsoft.com/office/powerpoint/2015/09/main" xmlns:p15="http://schemas.microsoft.com/office/powerpoint/2012/main" xmlns:a14="http://schemas.microsoft.com/office/drawing/2010/main" xmlns:wp="http://schemas.openxmlformats.org/drawingml/2006/wordprocessingDrawing" xmlns:w="http://schemas.openxmlformats.org/wordprocessingml/2006/main" xmlns:m="http://schemas.openxmlformats.org/officeDocument/2006/math"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2_isShadow_0/68fe1269-8cc2-4116-97e6-2e27b97da75f_image_024f533a16df894d6710d6aaad9f47c2_1412356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360" y="203042"/>
            <a:ext cx="82800" cy="896400"/>
          </a:xfrm>
          <a:prstGeom prst="rect">
            <a:avLst/>
          </a:prstGeom>
        </p:spPr>
      </p:pic>
      <p:pic>
        <p:nvPicPr>
          <p:cNvPr id="3" name="Image 1" descr="https://test.web.static.jianzeppt.com/ppt-temp-img3/c9a883d3c2c842954a715b6bebca4be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852" y="1679841"/>
            <a:ext cx="466491" cy="466491"/>
          </a:xfrm>
          <a:prstGeom prst="rect">
            <a:avLst/>
          </a:prstGeom>
        </p:spPr>
      </p:pic>
      <p:pic>
        <p:nvPicPr>
          <p:cNvPr id="4" name="Image 2" descr="https://test.web.static.jianzeppt.com/ppt-temp-img3/d0bf3517ecc378ea9357c39c46ed991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1826" y="1679149"/>
            <a:ext cx="466491" cy="466491"/>
          </a:xfrm>
          <a:prstGeom prst="rect">
            <a:avLst/>
          </a:prstGeom>
        </p:spPr>
      </p:pic>
      <p:pic>
        <p:nvPicPr>
          <p:cNvPr id="5" name="Image 3" descr="https://test.web.static.jianzeppt.com/ppt-temp-img3/8f8dd65df2820c720d8f6818b3aa52e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4132" y="1686637"/>
            <a:ext cx="466491" cy="466491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8626101" y="2390242"/>
            <a:ext cx="2476315" cy="3046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96"/>
              </a:lnSpc>
            </a:pPr>
            <a:r>
              <a:rPr lang="en-US" sz="1920" b="1">
                <a:solidFill>
                  <a:srgbClr val="000000"/>
                </a:solidFill>
                <a:latin typeface="OPPOSans"/>
                <a:ea typeface="OPPOSans"/>
                <a:cs typeface="OPPOSans"/>
              </a:rPr>
              <a:t>景点谱系</a:t>
            </a:r>
            <a:endParaRPr lang="en-US" sz="1920"/>
          </a:p>
        </p:txBody>
      </p:sp>
      <p:sp>
        <p:nvSpPr>
          <p:cNvPr id="7" name="Text 1"/>
          <p:cNvSpPr/>
          <p:nvPr/>
        </p:nvSpPr>
        <p:spPr>
          <a:xfrm>
            <a:off x="570141" y="2878721"/>
            <a:ext cx="2795030" cy="13962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184"/>
              </a:lnSpc>
            </a:pPr>
            <a:r>
              <a:rPr lang="en-US" sz="16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Normal"/>
              </a:rPr>
              <a:t>基于文化典籍、地方志等文本，提取关键文化要素（人物、事件、场所等</a:t>
            </a:r>
            <a:r>
              <a:rPr 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Normal"/>
              </a:rPr>
              <a:t>），</a:t>
            </a:r>
            <a:r>
              <a:rPr lang="en-US" sz="16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Normal"/>
              </a:rPr>
              <a:t>按时间、门类等维度构建的层级关系网络，反映文化的传承脉络</a:t>
            </a:r>
            <a:r>
              <a:rPr 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Normal"/>
              </a:rPr>
              <a:t>。</a:t>
            </a:r>
            <a:endParaRPr 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Text 2"/>
          <p:cNvSpPr/>
          <p:nvPr/>
        </p:nvSpPr>
        <p:spPr>
          <a:xfrm>
            <a:off x="568700" y="2397038"/>
            <a:ext cx="2476315" cy="3046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96"/>
              </a:lnSpc>
            </a:pPr>
            <a:r>
              <a:rPr lang="en-US" sz="1920" b="1" dirty="0" err="1">
                <a:solidFill>
                  <a:srgbClr val="000000"/>
                </a:solidFill>
                <a:latin typeface="OPPOSans"/>
                <a:ea typeface="OPPOSans"/>
                <a:cs typeface="OPPOSans"/>
              </a:rPr>
              <a:t>文化谱系</a:t>
            </a:r>
            <a:endParaRPr lang="en-US" sz="1920" dirty="0"/>
          </a:p>
        </p:txBody>
      </p:sp>
      <p:sp>
        <p:nvSpPr>
          <p:cNvPr id="9" name="Text 3"/>
          <p:cNvSpPr/>
          <p:nvPr/>
        </p:nvSpPr>
        <p:spPr>
          <a:xfrm>
            <a:off x="8627542" y="2871924"/>
            <a:ext cx="2795030" cy="111415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184"/>
              </a:lnSpc>
            </a:pPr>
            <a:r>
              <a:rPr lang="en-US" sz="1680" dirty="0" err="1">
                <a:solidFill>
                  <a:srgbClr val="000000"/>
                </a:solidFill>
                <a:latin typeface="Source Han Sans CN Normal"/>
                <a:ea typeface="Source Han Sans CN Normal"/>
                <a:cs typeface="Source Han Sans CN Normal"/>
              </a:rPr>
              <a:t>基于平台数据，根据景点属性、体验度、活动类型等构建的现实文旅产品层级结构，反映市场的关注热点</a:t>
            </a:r>
            <a:r>
              <a:rPr lang="en-US" sz="1680" dirty="0">
                <a:solidFill>
                  <a:srgbClr val="000000"/>
                </a:solidFill>
                <a:latin typeface="Source Han Sans CN Normal"/>
                <a:ea typeface="Source Han Sans CN Normal"/>
                <a:cs typeface="Source Han Sans CN Normal"/>
              </a:rPr>
              <a:t>。</a:t>
            </a:r>
            <a:endParaRPr lang="en-US" sz="1680" dirty="0"/>
          </a:p>
        </p:txBody>
      </p:sp>
      <p:sp>
        <p:nvSpPr>
          <p:cNvPr id="10" name="Text 4"/>
          <p:cNvSpPr/>
          <p:nvPr/>
        </p:nvSpPr>
        <p:spPr>
          <a:xfrm>
            <a:off x="487680" y="438107"/>
            <a:ext cx="11231270" cy="423193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3322"/>
              </a:lnSpc>
            </a:pPr>
            <a:r>
              <a:rPr lang="en-US" sz="2768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2.2 </a:t>
            </a:r>
            <a:r>
              <a:rPr lang="en-US" sz="2768" b="1" dirty="0" err="1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研究框架与核心概念</a:t>
            </a:r>
            <a:endParaRPr lang="en-US" sz="2768" b="1" dirty="0">
              <a:solidFill>
                <a:srgbClr val="1E1E1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Text 5"/>
          <p:cNvSpPr/>
          <p:nvPr/>
        </p:nvSpPr>
        <p:spPr>
          <a:xfrm>
            <a:off x="4394734" y="2880196"/>
            <a:ext cx="3238215" cy="139480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184"/>
              </a:lnSpc>
            </a:pPr>
            <a:r>
              <a:rPr lang="zh-CN" alt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Normal"/>
              </a:rPr>
              <a:t>以文物古迹、历史建筑、非遗表演等实体为锚点，向上对应文化典籍中的历史记载，向下对应现实中的景点产品，是连接文化传承与旅游开发的实体中介层。</a:t>
            </a:r>
            <a:endParaRPr lang="en-US" sz="16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Source Han Sans CN Normal"/>
            </a:endParaRPr>
          </a:p>
        </p:txBody>
      </p:sp>
      <p:sp>
        <p:nvSpPr>
          <p:cNvPr id="12" name="Text 6"/>
          <p:cNvSpPr/>
          <p:nvPr/>
        </p:nvSpPr>
        <p:spPr>
          <a:xfrm>
            <a:off x="4394734" y="2372291"/>
            <a:ext cx="2476315" cy="62683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96"/>
              </a:lnSpc>
            </a:pPr>
            <a:r>
              <a:rPr lang="zh-CN" altLang="en-US" sz="1920" b="1" dirty="0">
                <a:solidFill>
                  <a:srgbClr val="000000"/>
                </a:solidFill>
                <a:latin typeface="OPPOSans"/>
                <a:ea typeface="OPPOSans"/>
                <a:cs typeface="OPPOSans"/>
              </a:rPr>
              <a:t>文化载体资源</a:t>
            </a:r>
          </a:p>
          <a:p>
            <a:pPr>
              <a:lnSpc>
                <a:spcPts val="2496"/>
              </a:lnSpc>
            </a:pPr>
            <a:endParaRPr lang="en-US" sz="1920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F078230-06E3-FAE4-829E-036A896C17FF}"/>
              </a:ext>
            </a:extLst>
          </p:cNvPr>
          <p:cNvSpPr txBox="1"/>
          <p:nvPr/>
        </p:nvSpPr>
        <p:spPr>
          <a:xfrm>
            <a:off x="533112" y="5265712"/>
            <a:ext cx="10889460" cy="9255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84"/>
              </a:lnSpc>
            </a:pPr>
            <a:r>
              <a:rPr lang="zh-CN" altLang="en-US" b="1" dirty="0">
                <a:solidFill>
                  <a:srgbClr val="000000"/>
                </a:solidFill>
                <a:latin typeface="OPPOSans"/>
                <a:ea typeface="OPPOSans"/>
                <a:cs typeface="OPPOSans"/>
              </a:rPr>
              <a:t>知识图谱</a:t>
            </a:r>
            <a:endParaRPr lang="en-US" altLang="zh-CN" sz="1680" b="1" dirty="0">
              <a:solidFill>
                <a:srgbClr val="7D7D7D"/>
              </a:solidFill>
              <a:latin typeface="Source Han Sans CN Normal"/>
            </a:endParaRPr>
          </a:p>
          <a:p>
            <a:pPr>
              <a:lnSpc>
                <a:spcPts val="2184"/>
              </a:lnSpc>
            </a:pPr>
            <a:r>
              <a:rPr lang="zh-CN" altLang="en-US" sz="1680" b="1" dirty="0">
                <a:solidFill>
                  <a:srgbClr val="7D7D7D"/>
                </a:solidFill>
                <a:latin typeface="Source Han Sans CN Normal"/>
              </a:rPr>
              <a:t>知识图谱</a:t>
            </a:r>
            <a:r>
              <a:rPr lang="zh-CN" altLang="en-US" sz="1680" dirty="0">
                <a:solidFill>
                  <a:srgbClr val="7D7D7D"/>
                </a:solidFill>
                <a:latin typeface="Source Han Sans CN Normal"/>
              </a:rPr>
              <a:t>是一种以</a:t>
            </a:r>
            <a:r>
              <a:rPr lang="zh-CN" altLang="en-US" sz="1680" b="1" dirty="0">
                <a:solidFill>
                  <a:srgbClr val="7D7D7D"/>
                </a:solidFill>
                <a:latin typeface="Source Han Sans CN Normal"/>
              </a:rPr>
              <a:t>图</a:t>
            </a:r>
            <a:r>
              <a:rPr lang="zh-CN" altLang="en-US" sz="1680" dirty="0">
                <a:solidFill>
                  <a:srgbClr val="7D7D7D"/>
                </a:solidFill>
                <a:latin typeface="Source Han Sans CN Normal"/>
              </a:rPr>
              <a:t>结构形式（</a:t>
            </a:r>
            <a:r>
              <a:rPr lang="en-US" altLang="zh-CN" sz="1680" dirty="0">
                <a:solidFill>
                  <a:srgbClr val="7D7D7D"/>
                </a:solidFill>
                <a:latin typeface="Source Han Sans CN Normal"/>
              </a:rPr>
              <a:t>graph</a:t>
            </a:r>
            <a:r>
              <a:rPr lang="zh-CN" altLang="en-US" sz="1680" dirty="0">
                <a:solidFill>
                  <a:srgbClr val="7D7D7D"/>
                </a:solidFill>
                <a:latin typeface="Source Han Sans CN Normal"/>
              </a:rPr>
              <a:t>）对领域知识进行组织与表达的方法，通过将文本中的</a:t>
            </a:r>
            <a:r>
              <a:rPr lang="zh-CN" altLang="en-US" sz="1680" b="1" dirty="0">
                <a:solidFill>
                  <a:srgbClr val="7D7D7D"/>
                </a:solidFill>
                <a:latin typeface="Source Han Sans CN Normal"/>
              </a:rPr>
              <a:t>实体</a:t>
            </a:r>
            <a:r>
              <a:rPr lang="zh-CN" altLang="en-US" sz="1680" dirty="0">
                <a:solidFill>
                  <a:srgbClr val="7D7D7D"/>
                </a:solidFill>
                <a:latin typeface="Source Han Sans CN Normal"/>
              </a:rPr>
              <a:t>（</a:t>
            </a:r>
            <a:r>
              <a:rPr lang="en-US" altLang="zh-CN" sz="1680" dirty="0">
                <a:solidFill>
                  <a:srgbClr val="7D7D7D"/>
                </a:solidFill>
                <a:latin typeface="Source Han Sans CN Normal"/>
              </a:rPr>
              <a:t>entity</a:t>
            </a:r>
            <a:r>
              <a:rPr lang="zh-CN" altLang="en-US" sz="1680" dirty="0">
                <a:solidFill>
                  <a:srgbClr val="7D7D7D"/>
                </a:solidFill>
                <a:latin typeface="Source Han Sans CN Normal"/>
              </a:rPr>
              <a:t>）进行抽象，并以</a:t>
            </a:r>
            <a:r>
              <a:rPr lang="zh-CN" altLang="en-US" sz="1680" b="1" dirty="0">
                <a:solidFill>
                  <a:srgbClr val="7D7D7D"/>
                </a:solidFill>
                <a:latin typeface="Source Han Sans CN Normal"/>
              </a:rPr>
              <a:t>节点</a:t>
            </a:r>
            <a:r>
              <a:rPr lang="zh-CN" altLang="en-US" sz="1680" dirty="0">
                <a:solidFill>
                  <a:srgbClr val="7D7D7D"/>
                </a:solidFill>
                <a:latin typeface="Source Han Sans CN Normal"/>
              </a:rPr>
              <a:t>（</a:t>
            </a:r>
            <a:r>
              <a:rPr lang="en-US" altLang="zh-CN" sz="1680" dirty="0">
                <a:solidFill>
                  <a:srgbClr val="7D7D7D"/>
                </a:solidFill>
                <a:latin typeface="Source Han Sans CN Normal"/>
              </a:rPr>
              <a:t>node</a:t>
            </a:r>
            <a:r>
              <a:rPr lang="zh-CN" altLang="en-US" sz="1680" dirty="0">
                <a:solidFill>
                  <a:srgbClr val="7D7D7D"/>
                </a:solidFill>
                <a:latin typeface="Source Han Sans CN Normal"/>
              </a:rPr>
              <a:t>）与</a:t>
            </a:r>
            <a:r>
              <a:rPr lang="zh-CN" altLang="en-US" sz="1680" b="1" dirty="0">
                <a:solidFill>
                  <a:srgbClr val="7D7D7D"/>
                </a:solidFill>
                <a:latin typeface="Source Han Sans CN Normal"/>
              </a:rPr>
              <a:t>边</a:t>
            </a:r>
            <a:r>
              <a:rPr lang="zh-CN" altLang="en-US" sz="1680" dirty="0">
                <a:solidFill>
                  <a:srgbClr val="7D7D7D"/>
                </a:solidFill>
                <a:latin typeface="Source Han Sans CN Normal"/>
              </a:rPr>
              <a:t>（</a:t>
            </a:r>
            <a:r>
              <a:rPr lang="en-US" altLang="zh-CN" sz="1680" dirty="0">
                <a:solidFill>
                  <a:srgbClr val="7D7D7D"/>
                </a:solidFill>
                <a:latin typeface="Source Han Sans CN Normal"/>
              </a:rPr>
              <a:t>edge</a:t>
            </a:r>
            <a:r>
              <a:rPr lang="zh-CN" altLang="en-US" sz="1680" dirty="0">
                <a:solidFill>
                  <a:srgbClr val="7D7D7D"/>
                </a:solidFill>
                <a:latin typeface="Source Han Sans CN Normal"/>
              </a:rPr>
              <a:t>）的方式描述实体及其相互关系，从而实现知识的系统表示与</a:t>
            </a:r>
            <a:r>
              <a:rPr lang="zh-CN" altLang="en-US" sz="1680" b="1" dirty="0">
                <a:solidFill>
                  <a:srgbClr val="7D7D7D"/>
                </a:solidFill>
                <a:latin typeface="Source Han Sans CN Normal"/>
              </a:rPr>
              <a:t>关联</a:t>
            </a:r>
            <a:r>
              <a:rPr lang="zh-CN" altLang="en-US" sz="1680" dirty="0">
                <a:solidFill>
                  <a:srgbClr val="7D7D7D"/>
                </a:solidFill>
                <a:latin typeface="Source Han Sans CN Normal"/>
              </a:rPr>
              <a:t>分析。</a:t>
            </a:r>
          </a:p>
        </p:txBody>
      </p:sp>
      <p:sp>
        <p:nvSpPr>
          <p:cNvPr id="13" name="箭头: 左右 12">
            <a:extLst>
              <a:ext uri="{FF2B5EF4-FFF2-40B4-BE49-F238E27FC236}">
                <a16:creationId xmlns:a16="http://schemas.microsoft.com/office/drawing/2014/main" id="{08D45A79-4F13-0F3C-1B94-9240D61470E9}"/>
              </a:ext>
            </a:extLst>
          </p:cNvPr>
          <p:cNvSpPr/>
          <p:nvPr/>
        </p:nvSpPr>
        <p:spPr>
          <a:xfrm>
            <a:off x="3642241" y="3322861"/>
            <a:ext cx="510394" cy="254000"/>
          </a:xfrm>
          <a:prstGeom prst="leftRightArrow">
            <a:avLst/>
          </a:prstGeom>
          <a:solidFill>
            <a:srgbClr val="5D07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箭头: 左右 13">
            <a:extLst>
              <a:ext uri="{FF2B5EF4-FFF2-40B4-BE49-F238E27FC236}">
                <a16:creationId xmlns:a16="http://schemas.microsoft.com/office/drawing/2014/main" id="{2DA7336A-8510-6B02-001C-00970BBC557A}"/>
              </a:ext>
            </a:extLst>
          </p:cNvPr>
          <p:cNvSpPr/>
          <p:nvPr/>
        </p:nvSpPr>
        <p:spPr>
          <a:xfrm>
            <a:off x="7817321" y="3322861"/>
            <a:ext cx="510394" cy="254000"/>
          </a:xfrm>
          <a:prstGeom prst="leftRightArrow">
            <a:avLst/>
          </a:prstGeom>
          <a:solidFill>
            <a:srgbClr val="5D07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6" name="Image 3" descr="https://oss.jianzeppt.com/editablePptPic/isIllustration_1_isShadow_0/18102cb5-5882-4151-ac19-4286f52a0323_image_90819cb7d4a6a1eecbd1ae23dec6207e_14123563.png">
            <a:extLst>
              <a:ext uri="{FF2B5EF4-FFF2-40B4-BE49-F238E27FC236}">
                <a16:creationId xmlns:a16="http://schemas.microsoft.com/office/drawing/2014/main" id="{531208D5-AB17-B476-D508-3078AE32F114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9785719" y="194778"/>
            <a:ext cx="2288952" cy="901224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9="http://schemas.microsoft.com/office/powerpoint/2015/09/main" xmlns:p15="http://schemas.microsoft.com/office/powerpoint/2012/main" xmlns:a14="http://schemas.microsoft.com/office/drawing/2010/main" xmlns:wp="http://schemas.openxmlformats.org/drawingml/2006/wordprocessingDrawing" xmlns:w="http://schemas.openxmlformats.org/wordprocessingml/2006/main" xmlns:m="http://schemas.openxmlformats.org/officeDocument/2006/math"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2_isShadow_0/68fe1269-8cc2-4116-97e6-2e27b97da75f_image_024f533a16df894d6710d6aaad9f47c2_141235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360" y="203042"/>
            <a:ext cx="82800" cy="896400"/>
          </a:xfrm>
          <a:prstGeom prst="rect">
            <a:avLst/>
          </a:prstGeom>
        </p:spPr>
      </p:pic>
      <p:pic>
        <p:nvPicPr>
          <p:cNvPr id="3" name="Image 1" descr="https://test.web.static.jianzeppt.com/ppt-temp-img3/e85269381ac5a07856f413e0cab0cf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5954" y="3970835"/>
            <a:ext cx="498960" cy="498960"/>
          </a:xfrm>
          <a:prstGeom prst="rect">
            <a:avLst/>
          </a:prstGeom>
        </p:spPr>
      </p:pic>
      <p:pic>
        <p:nvPicPr>
          <p:cNvPr id="4" name="Image 2" descr="https://test.web.static.jianzeppt.com/ppt-temp-img3/ec368f52d75145d565387057ddb587f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3862" y="3970835"/>
            <a:ext cx="498960" cy="498960"/>
          </a:xfrm>
          <a:prstGeom prst="rect">
            <a:avLst/>
          </a:prstGeom>
        </p:spPr>
      </p:pic>
      <p:pic>
        <p:nvPicPr>
          <p:cNvPr id="5" name="Image 3" descr="https://test.web.static.jianzeppt.com/ppt-temp-img3/260a7fad5795bbdddb6206aef89f922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9907" y="1537352"/>
            <a:ext cx="498960" cy="498960"/>
          </a:xfrm>
          <a:prstGeom prst="rect">
            <a:avLst/>
          </a:prstGeom>
        </p:spPr>
      </p:pic>
      <p:pic>
        <p:nvPicPr>
          <p:cNvPr id="6" name="Image 4" descr="https://test.web.static.jianzeppt.com/ppt-temp-img3/6032e9ebeebae4d8f59ca8267af6f35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72000" y="1537352"/>
            <a:ext cx="498960" cy="498960"/>
          </a:xfrm>
          <a:prstGeom prst="rect">
            <a:avLst/>
          </a:prstGeom>
        </p:spPr>
      </p:pic>
      <p:pic>
        <p:nvPicPr>
          <p:cNvPr id="7" name="Image 5" descr="https://test.web.static.jianzeppt.com/ppt-temp-img3/d10399beea9bc5ea74f19599c64f248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7816" y="1537352"/>
            <a:ext cx="498960" cy="498960"/>
          </a:xfrm>
          <a:prstGeom prst="rect">
            <a:avLst/>
          </a:prstGeom>
        </p:spPr>
      </p:pic>
      <p:sp>
        <p:nvSpPr>
          <p:cNvPr id="8" name="Text 0"/>
          <p:cNvSpPr/>
          <p:nvPr/>
        </p:nvSpPr>
        <p:spPr>
          <a:xfrm>
            <a:off x="2847466" y="4621712"/>
            <a:ext cx="2959603" cy="3046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96"/>
              </a:lnSpc>
            </a:pPr>
            <a:r>
              <a:rPr lang="en-US" sz="1920" b="1">
                <a:solidFill>
                  <a:srgbClr val="000000"/>
                </a:solidFill>
                <a:latin typeface="OPPOSans"/>
                <a:ea typeface="OPPOSans"/>
                <a:cs typeface="OPPOSans"/>
              </a:rPr>
              <a:t>双谱系构建</a:t>
            </a:r>
            <a:endParaRPr lang="en-US" sz="1920"/>
          </a:p>
        </p:txBody>
      </p:sp>
      <p:sp>
        <p:nvSpPr>
          <p:cNvPr id="9" name="Text 1"/>
          <p:cNvSpPr/>
          <p:nvPr/>
        </p:nvSpPr>
        <p:spPr>
          <a:xfrm>
            <a:off x="8175605" y="2188229"/>
            <a:ext cx="2959603" cy="3046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96"/>
              </a:lnSpc>
            </a:pPr>
            <a:r>
              <a:rPr lang="en-US" sz="1920" b="1">
                <a:solidFill>
                  <a:srgbClr val="000000"/>
                </a:solidFill>
                <a:latin typeface="OPPOSans"/>
                <a:ea typeface="OPPOSans"/>
                <a:cs typeface="OPPOSans"/>
              </a:rPr>
              <a:t>问题总结与方案设计</a:t>
            </a:r>
            <a:endParaRPr lang="en-US" sz="1920"/>
          </a:p>
        </p:txBody>
      </p:sp>
      <p:sp>
        <p:nvSpPr>
          <p:cNvPr id="10" name="Text 2"/>
          <p:cNvSpPr/>
          <p:nvPr/>
        </p:nvSpPr>
        <p:spPr>
          <a:xfrm>
            <a:off x="4623512" y="2188229"/>
            <a:ext cx="2959603" cy="3046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96"/>
              </a:lnSpc>
            </a:pPr>
            <a:r>
              <a:rPr lang="en-US" sz="1920" b="1">
                <a:solidFill>
                  <a:srgbClr val="000000"/>
                </a:solidFill>
                <a:latin typeface="OPPOSans"/>
                <a:ea typeface="OPPOSans"/>
                <a:cs typeface="OPPOSans"/>
              </a:rPr>
              <a:t>空间分布研究</a:t>
            </a:r>
            <a:endParaRPr lang="en-US" sz="1920"/>
          </a:p>
        </p:txBody>
      </p:sp>
      <p:sp>
        <p:nvSpPr>
          <p:cNvPr id="11" name="Text 3"/>
          <p:cNvSpPr/>
          <p:nvPr/>
        </p:nvSpPr>
        <p:spPr>
          <a:xfrm>
            <a:off x="1071421" y="2188229"/>
            <a:ext cx="2959603" cy="3046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96"/>
              </a:lnSpc>
            </a:pPr>
            <a:r>
              <a:rPr lang="en-US" sz="1920" b="1">
                <a:solidFill>
                  <a:srgbClr val="000000"/>
                </a:solidFill>
                <a:latin typeface="OPPOSans"/>
                <a:ea typeface="OPPOSans"/>
                <a:cs typeface="OPPOSans"/>
              </a:rPr>
              <a:t>多源数据整理</a:t>
            </a:r>
            <a:endParaRPr lang="en-US" sz="1920"/>
          </a:p>
        </p:txBody>
      </p:sp>
      <p:sp>
        <p:nvSpPr>
          <p:cNvPr id="12" name="Text 4"/>
          <p:cNvSpPr/>
          <p:nvPr/>
        </p:nvSpPr>
        <p:spPr>
          <a:xfrm>
            <a:off x="487680" y="438107"/>
            <a:ext cx="11231270" cy="423193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3322"/>
              </a:lnSpc>
            </a:pPr>
            <a:r>
              <a:rPr lang="en-US" sz="2768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2.3 </a:t>
            </a:r>
            <a:r>
              <a:rPr lang="en-US" sz="2768" b="1" dirty="0" err="1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研究内容</a:t>
            </a:r>
            <a:endParaRPr lang="en-US" sz="2768" b="1" dirty="0">
              <a:solidFill>
                <a:srgbClr val="1E1E1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Text 5"/>
          <p:cNvSpPr/>
          <p:nvPr/>
        </p:nvSpPr>
        <p:spPr>
          <a:xfrm>
            <a:off x="8177047" y="2641748"/>
            <a:ext cx="2956725" cy="54989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184"/>
              </a:lnSpc>
            </a:pPr>
            <a:r>
              <a:rPr lang="en-US" sz="16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Normal"/>
              </a:rPr>
              <a:t>识别文化挖掘潜力点，提出空间优化建议</a:t>
            </a:r>
            <a:r>
              <a:rPr 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Normal"/>
              </a:rPr>
              <a:t>。</a:t>
            </a:r>
          </a:p>
        </p:txBody>
      </p:sp>
      <p:sp>
        <p:nvSpPr>
          <p:cNvPr id="14" name="Text 6"/>
          <p:cNvSpPr/>
          <p:nvPr/>
        </p:nvSpPr>
        <p:spPr>
          <a:xfrm>
            <a:off x="2848908" y="5075233"/>
            <a:ext cx="2956725" cy="54989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184"/>
              </a:lnSpc>
            </a:pPr>
            <a:r>
              <a:rPr lang="en-US" sz="16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Normal"/>
              </a:rPr>
              <a:t>构建基于典籍的“文化谱系”与基于体验的“景点谱系</a:t>
            </a:r>
            <a:r>
              <a:rPr 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Normal"/>
              </a:rPr>
              <a:t>”。</a:t>
            </a:r>
          </a:p>
        </p:txBody>
      </p:sp>
      <p:sp>
        <p:nvSpPr>
          <p:cNvPr id="15" name="Text 7"/>
          <p:cNvSpPr/>
          <p:nvPr/>
        </p:nvSpPr>
        <p:spPr>
          <a:xfrm>
            <a:off x="6400999" y="5075233"/>
            <a:ext cx="2956725" cy="54989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184"/>
              </a:lnSpc>
            </a:pPr>
            <a:r>
              <a:rPr lang="en-US" sz="16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Normal"/>
              </a:rPr>
              <a:t>对比双谱系，利用知识图谱识别其关联、错位与缺失</a:t>
            </a:r>
            <a:r>
              <a:rPr 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Normal"/>
              </a:rPr>
              <a:t>。</a:t>
            </a:r>
          </a:p>
        </p:txBody>
      </p:sp>
      <p:sp>
        <p:nvSpPr>
          <p:cNvPr id="16" name="Text 8"/>
          <p:cNvSpPr/>
          <p:nvPr/>
        </p:nvSpPr>
        <p:spPr>
          <a:xfrm>
            <a:off x="1072862" y="2641748"/>
            <a:ext cx="2956725" cy="54989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184"/>
              </a:lnSpc>
            </a:pPr>
            <a:r>
              <a:rPr lang="en-US" sz="16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Normal"/>
              </a:rPr>
              <a:t>系统整理文化典籍、平台数据与空间数据</a:t>
            </a:r>
            <a:r>
              <a:rPr 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Normal"/>
              </a:rPr>
              <a:t>。</a:t>
            </a:r>
          </a:p>
        </p:txBody>
      </p:sp>
      <p:sp>
        <p:nvSpPr>
          <p:cNvPr id="17" name="Text 9"/>
          <p:cNvSpPr/>
          <p:nvPr/>
        </p:nvSpPr>
        <p:spPr>
          <a:xfrm>
            <a:off x="6399559" y="4621712"/>
            <a:ext cx="2959603" cy="3046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96"/>
              </a:lnSpc>
            </a:pPr>
            <a:r>
              <a:rPr lang="en-US" sz="1920" b="1">
                <a:solidFill>
                  <a:srgbClr val="000000"/>
                </a:solidFill>
                <a:latin typeface="OPPOSans"/>
                <a:ea typeface="OPPOSans"/>
                <a:cs typeface="OPPOSans"/>
              </a:rPr>
              <a:t>融合关系分析</a:t>
            </a:r>
            <a:endParaRPr lang="en-US" sz="1920"/>
          </a:p>
        </p:txBody>
      </p:sp>
      <p:sp>
        <p:nvSpPr>
          <p:cNvPr id="18" name="Text 10"/>
          <p:cNvSpPr/>
          <p:nvPr/>
        </p:nvSpPr>
        <p:spPr>
          <a:xfrm>
            <a:off x="4624954" y="2641748"/>
            <a:ext cx="2956725" cy="54989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184"/>
              </a:lnSpc>
            </a:pPr>
            <a:r>
              <a:rPr lang="en-US" sz="16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Normal"/>
              </a:rPr>
              <a:t>分析文旅要素的热点、可达性与空间聚类特征</a:t>
            </a:r>
            <a:r>
              <a:rPr 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Normal"/>
              </a:rPr>
              <a:t>。</a:t>
            </a:r>
          </a:p>
        </p:txBody>
      </p:sp>
      <p:pic>
        <p:nvPicPr>
          <p:cNvPr id="20" name="Image 3" descr="https://oss.jianzeppt.com/editablePptPic/isIllustration_1_isShadow_0/18102cb5-5882-4151-ac19-4286f52a0323_image_90819cb7d4a6a1eecbd1ae23dec6207e_14123563.png">
            <a:extLst>
              <a:ext uri="{FF2B5EF4-FFF2-40B4-BE49-F238E27FC236}">
                <a16:creationId xmlns:a16="http://schemas.microsoft.com/office/drawing/2014/main" id="{1A604CD3-F33C-6C03-8605-AAB3D93F06FD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9785719" y="194778"/>
            <a:ext cx="2288952" cy="9012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9="http://schemas.microsoft.com/office/powerpoint/2015/09/main" xmlns:p15="http://schemas.microsoft.com/office/powerpoint/2012/main" xmlns:a14="http://schemas.microsoft.com/office/drawing/2010/main" xmlns:wp="http://schemas.openxmlformats.org/drawingml/2006/wordprocessingDrawing" xmlns:w="http://schemas.openxmlformats.org/wordprocessingml/2006/main" xmlns:m="http://schemas.openxmlformats.org/officeDocument/2006/math"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2_isShadow_0/3a45a124-c3cc-4c4f-b57e-10662729c491_image_024f533a16df894d6710d6aaad9f47c2_141235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360" y="203042"/>
            <a:ext cx="82800" cy="8964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1" y="1371600"/>
            <a:ext cx="4434840" cy="5181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853441" y="1661160"/>
            <a:ext cx="1857881" cy="34471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880"/>
              </a:lnSpc>
            </a:pPr>
            <a:r>
              <a:rPr lang="en-US" sz="1920">
                <a:solidFill>
                  <a:srgbClr val="1E293B"/>
                </a:solidFill>
              </a:rPr>
              <a:t>步骤1：实体对齐</a:t>
            </a:r>
            <a:endParaRPr lang="en-US" sz="1920"/>
          </a:p>
        </p:txBody>
      </p:sp>
      <p:sp>
        <p:nvSpPr>
          <p:cNvPr id="5" name="Text 1"/>
          <p:cNvSpPr/>
          <p:nvPr/>
        </p:nvSpPr>
        <p:spPr>
          <a:xfrm>
            <a:off x="853441" y="2087880"/>
            <a:ext cx="2696251" cy="28681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02"/>
              </a:lnSpc>
            </a:pPr>
            <a:r>
              <a:rPr lang="en-US" sz="1680">
                <a:solidFill>
                  <a:srgbClr val="475569"/>
                </a:solidFill>
              </a:rPr>
              <a:t>空间：文化场所 ↔ 景点位置</a:t>
            </a:r>
            <a:endParaRPr lang="en-US" sz="1680"/>
          </a:p>
        </p:txBody>
      </p:sp>
      <p:sp>
        <p:nvSpPr>
          <p:cNvPr id="6" name="Text 2"/>
          <p:cNvSpPr/>
          <p:nvPr/>
        </p:nvSpPr>
        <p:spPr>
          <a:xfrm>
            <a:off x="853441" y="2453640"/>
            <a:ext cx="2696251" cy="28681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02"/>
              </a:lnSpc>
            </a:pPr>
            <a:r>
              <a:rPr lang="en-US" sz="1680">
                <a:solidFill>
                  <a:srgbClr val="475569"/>
                </a:solidFill>
              </a:rPr>
              <a:t>名称：文化要素 ↔ 景点名称</a:t>
            </a:r>
            <a:endParaRPr lang="en-US" sz="1680"/>
          </a:p>
        </p:txBody>
      </p:sp>
      <p:sp>
        <p:nvSpPr>
          <p:cNvPr id="7" name="Text 3"/>
          <p:cNvSpPr/>
          <p:nvPr/>
        </p:nvSpPr>
        <p:spPr>
          <a:xfrm>
            <a:off x="853441" y="2819400"/>
            <a:ext cx="2696251" cy="28681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02"/>
              </a:lnSpc>
            </a:pPr>
            <a:r>
              <a:rPr lang="en-US" sz="1680">
                <a:solidFill>
                  <a:srgbClr val="475569"/>
                </a:solidFill>
              </a:rPr>
              <a:t>类型：文化门类 ↔ 景点类型</a:t>
            </a:r>
            <a:endParaRPr lang="en-US" sz="1680"/>
          </a:p>
        </p:txBody>
      </p:sp>
      <p:sp>
        <p:nvSpPr>
          <p:cNvPr id="8" name="Text 4"/>
          <p:cNvSpPr/>
          <p:nvPr/>
        </p:nvSpPr>
        <p:spPr>
          <a:xfrm>
            <a:off x="853441" y="3215640"/>
            <a:ext cx="1857881" cy="34471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880"/>
              </a:lnSpc>
            </a:pPr>
            <a:r>
              <a:rPr lang="en-US" sz="1920">
                <a:solidFill>
                  <a:srgbClr val="1E293B"/>
                </a:solidFill>
              </a:rPr>
              <a:t>步骤2：关系映射</a:t>
            </a:r>
            <a:endParaRPr lang="en-US" sz="1920"/>
          </a:p>
        </p:txBody>
      </p:sp>
      <p:sp>
        <p:nvSpPr>
          <p:cNvPr id="9" name="Text 5"/>
          <p:cNvSpPr/>
          <p:nvPr/>
        </p:nvSpPr>
        <p:spPr>
          <a:xfrm>
            <a:off x="853441" y="3642360"/>
            <a:ext cx="2696251" cy="28681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02"/>
              </a:lnSpc>
            </a:pPr>
            <a:r>
              <a:rPr lang="en-US" sz="1680">
                <a:solidFill>
                  <a:srgbClr val="475569"/>
                </a:solidFill>
              </a:rPr>
              <a:t>双层图谱：文化层 ↔ 景点层</a:t>
            </a:r>
            <a:endParaRPr lang="en-US" sz="1680"/>
          </a:p>
        </p:txBody>
      </p:sp>
      <p:sp>
        <p:nvSpPr>
          <p:cNvPr id="10" name="Text 6"/>
          <p:cNvSpPr/>
          <p:nvPr/>
        </p:nvSpPr>
        <p:spPr>
          <a:xfrm>
            <a:off x="853441" y="4008120"/>
            <a:ext cx="3961790" cy="520592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059"/>
              </a:lnSpc>
            </a:pPr>
            <a:r>
              <a:rPr lang="en-US" sz="1680">
                <a:solidFill>
                  <a:srgbClr val="475569"/>
                </a:solidFill>
              </a:rPr>
              <a:t>耦合关系：</a:t>
            </a:r>
            <a:r>
              <a:rPr lang="en-US" sz="1440">
                <a:solidFill>
                  <a:srgbClr val="334155"/>
                </a:solidFill>
              </a:rPr>
              <a:t>实体对应文化承载空间共存主题关联</a:t>
            </a:r>
            <a:endParaRPr lang="en-US" sz="1680"/>
          </a:p>
        </p:txBody>
      </p:sp>
      <p:sp>
        <p:nvSpPr>
          <p:cNvPr id="11" name="Text 7"/>
          <p:cNvSpPr/>
          <p:nvPr/>
        </p:nvSpPr>
        <p:spPr>
          <a:xfrm>
            <a:off x="853441" y="4709160"/>
            <a:ext cx="1857881" cy="34471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880"/>
              </a:lnSpc>
            </a:pPr>
            <a:r>
              <a:rPr lang="en-US" sz="1920">
                <a:solidFill>
                  <a:srgbClr val="1E293B"/>
                </a:solidFill>
              </a:rPr>
              <a:t>步骤3：差异识别</a:t>
            </a:r>
            <a:endParaRPr lang="en-US" sz="1920"/>
          </a:p>
        </p:txBody>
      </p:sp>
      <p:sp>
        <p:nvSpPr>
          <p:cNvPr id="12" name="Text 8"/>
          <p:cNvSpPr/>
          <p:nvPr/>
        </p:nvSpPr>
        <p:spPr>
          <a:xfrm>
            <a:off x="853441" y="5166361"/>
            <a:ext cx="3961790" cy="28648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02"/>
              </a:lnSpc>
            </a:pPr>
            <a:r>
              <a:rPr lang="en-US" sz="1680">
                <a:solidFill>
                  <a:srgbClr val="16A34A"/>
                </a:solidFill>
              </a:rPr>
              <a:t>✓</a:t>
            </a:r>
            <a:r>
              <a:rPr lang="en-US" sz="1680">
                <a:solidFill>
                  <a:srgbClr val="475569"/>
                </a:solidFill>
              </a:rPr>
              <a:t>强耦合：双全</a:t>
            </a:r>
            <a:endParaRPr lang="en-US" sz="1680"/>
          </a:p>
        </p:txBody>
      </p:sp>
      <p:sp>
        <p:nvSpPr>
          <p:cNvPr id="13" name="Text 9"/>
          <p:cNvSpPr/>
          <p:nvPr/>
        </p:nvSpPr>
        <p:spPr>
          <a:xfrm>
            <a:off x="853441" y="5562601"/>
            <a:ext cx="3961790" cy="28648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02"/>
              </a:lnSpc>
            </a:pPr>
            <a:r>
              <a:rPr lang="en-US" sz="1680">
                <a:solidFill>
                  <a:srgbClr val="F97316"/>
                </a:solidFill>
              </a:rPr>
              <a:t>⚠</a:t>
            </a:r>
            <a:r>
              <a:rPr lang="en-US" sz="1680">
                <a:solidFill>
                  <a:srgbClr val="475569"/>
                </a:solidFill>
              </a:rPr>
              <a:t>错位：关系弱</a:t>
            </a:r>
            <a:endParaRPr lang="en-US" sz="1680"/>
          </a:p>
        </p:txBody>
      </p:sp>
      <p:sp>
        <p:nvSpPr>
          <p:cNvPr id="14" name="Text 10"/>
          <p:cNvSpPr/>
          <p:nvPr/>
        </p:nvSpPr>
        <p:spPr>
          <a:xfrm>
            <a:off x="853441" y="5958841"/>
            <a:ext cx="3961790" cy="28648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02"/>
              </a:lnSpc>
            </a:pPr>
            <a:r>
              <a:rPr lang="en-US" sz="1680">
                <a:solidFill>
                  <a:srgbClr val="DC2626"/>
                </a:solidFill>
              </a:rPr>
              <a:t>✗</a:t>
            </a:r>
            <a:r>
              <a:rPr lang="en-US" sz="1680">
                <a:solidFill>
                  <a:srgbClr val="475569"/>
                </a:solidFill>
              </a:rPr>
              <a:t>缺失：单缺</a:t>
            </a:r>
            <a:endParaRPr lang="en-US" sz="168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288280" y="1341742"/>
            <a:ext cx="6309360" cy="24993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964546" y="1838595"/>
            <a:ext cx="662040" cy="23205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1915"/>
              </a:lnSpc>
            </a:pPr>
            <a:r>
              <a:rPr lang="en-US" sz="1440" dirty="0">
                <a:solidFill>
                  <a:srgbClr val="9CA3AF"/>
                </a:solidFill>
              </a:rPr>
              <a:t>[</a:t>
            </a:r>
            <a:r>
              <a:rPr lang="en-US" sz="1440" dirty="0" err="1">
                <a:solidFill>
                  <a:srgbClr val="9CA3AF"/>
                </a:solidFill>
              </a:rPr>
              <a:t>文化层</a:t>
            </a:r>
            <a:r>
              <a:rPr lang="en-US" sz="1440" dirty="0">
                <a:solidFill>
                  <a:srgbClr val="9CA3AF"/>
                </a:solidFill>
              </a:rPr>
              <a:t>]</a:t>
            </a:r>
            <a:endParaRPr lang="en-US" sz="144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42761" y="1752600"/>
            <a:ext cx="1295400" cy="4572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7042326" y="1859281"/>
            <a:ext cx="918521" cy="28834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2402"/>
              </a:lnSpc>
            </a:pPr>
            <a:r>
              <a:rPr lang="en-US" sz="1680">
                <a:solidFill>
                  <a:srgbClr val="5B21B6"/>
                </a:solidFill>
              </a:rPr>
              <a:t>● 黄飞鸿</a:t>
            </a:r>
            <a:endParaRPr lang="en-US" sz="1680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138161" y="1752600"/>
            <a:ext cx="1508760" cy="45720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337004" y="1859281"/>
            <a:ext cx="1133323" cy="28834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2402"/>
              </a:lnSpc>
            </a:pPr>
            <a:r>
              <a:rPr lang="en-US" sz="1680">
                <a:solidFill>
                  <a:srgbClr val="5B21B6"/>
                </a:solidFill>
              </a:rPr>
              <a:t>● 武术文化</a:t>
            </a:r>
            <a:endParaRPr lang="en-US" sz="1680"/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646921" y="1752600"/>
            <a:ext cx="1082040" cy="457200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9847208" y="1859281"/>
            <a:ext cx="703718" cy="28834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2402"/>
              </a:lnSpc>
            </a:pPr>
            <a:r>
              <a:rPr lang="en-US" sz="1680">
                <a:solidFill>
                  <a:srgbClr val="5B21B6"/>
                </a:solidFill>
              </a:rPr>
              <a:t>● 佛山</a:t>
            </a:r>
            <a:endParaRPr lang="en-US" sz="1680"/>
          </a:p>
        </p:txBody>
      </p:sp>
      <p:sp>
        <p:nvSpPr>
          <p:cNvPr id="23" name="Text 15"/>
          <p:cNvSpPr/>
          <p:nvPr/>
        </p:nvSpPr>
        <p:spPr>
          <a:xfrm>
            <a:off x="6141721" y="2392680"/>
            <a:ext cx="4601870" cy="4641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3830"/>
              </a:lnSpc>
            </a:pPr>
            <a:r>
              <a:rPr lang="en-US" sz="2880">
                <a:solidFill>
                  <a:srgbClr val="A78BFA"/>
                </a:solidFill>
              </a:rPr>
              <a:t>↓↙↓↓</a:t>
            </a:r>
            <a:endParaRPr lang="en-US" sz="2880"/>
          </a:p>
        </p:txBody>
      </p:sp>
      <p:sp>
        <p:nvSpPr>
          <p:cNvPr id="24" name="Text 16"/>
          <p:cNvSpPr/>
          <p:nvPr/>
        </p:nvSpPr>
        <p:spPr>
          <a:xfrm>
            <a:off x="5964546" y="3146407"/>
            <a:ext cx="662040" cy="23205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1915"/>
              </a:lnSpc>
            </a:pPr>
            <a:r>
              <a:rPr lang="en-US" sz="1440" dirty="0">
                <a:solidFill>
                  <a:srgbClr val="9CA3AF"/>
                </a:solidFill>
              </a:rPr>
              <a:t>[</a:t>
            </a:r>
            <a:r>
              <a:rPr lang="en-US" sz="1440" dirty="0" err="1">
                <a:solidFill>
                  <a:srgbClr val="9CA3AF"/>
                </a:solidFill>
              </a:rPr>
              <a:t>景点层</a:t>
            </a:r>
            <a:r>
              <a:rPr lang="en-US" sz="1440" dirty="0">
                <a:solidFill>
                  <a:srgbClr val="9CA3AF"/>
                </a:solidFill>
              </a:rPr>
              <a:t>]</a:t>
            </a:r>
            <a:endParaRPr lang="en-US" sz="1440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056120" y="3063240"/>
            <a:ext cx="1249680" cy="426720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7240446" y="3154681"/>
            <a:ext cx="918521" cy="28834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2402"/>
              </a:lnSpc>
            </a:pPr>
            <a:r>
              <a:rPr lang="en-US" sz="1680">
                <a:solidFill>
                  <a:srgbClr val="1F2937"/>
                </a:solidFill>
              </a:rPr>
              <a:t>● 纪念馆</a:t>
            </a:r>
            <a:endParaRPr lang="en-US" sz="1680"/>
          </a:p>
        </p:txBody>
      </p:sp>
      <p:pic>
        <p:nvPicPr>
          <p:cNvPr id="27" name="Image 7" descr="preencoded.pn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442960" y="3063240"/>
            <a:ext cx="1036320" cy="426720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8628008" y="3154681"/>
            <a:ext cx="703718" cy="28834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2402"/>
              </a:lnSpc>
            </a:pPr>
            <a:r>
              <a:rPr lang="en-US" sz="1680">
                <a:solidFill>
                  <a:srgbClr val="1F2937"/>
                </a:solidFill>
              </a:rPr>
              <a:t>● 武馆</a:t>
            </a:r>
            <a:endParaRPr lang="en-US" sz="1680"/>
          </a:p>
        </p:txBody>
      </p:sp>
      <p:pic>
        <p:nvPicPr>
          <p:cNvPr id="29" name="Image 8" descr="preencoded.pn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616440" y="3063240"/>
            <a:ext cx="1036320" cy="426720"/>
          </a:xfrm>
          <a:prstGeom prst="rect">
            <a:avLst/>
          </a:prstGeom>
        </p:spPr>
      </p:pic>
      <p:sp>
        <p:nvSpPr>
          <p:cNvPr id="30" name="Text 19"/>
          <p:cNvSpPr/>
          <p:nvPr/>
        </p:nvSpPr>
        <p:spPr>
          <a:xfrm>
            <a:off x="9801488" y="3154681"/>
            <a:ext cx="703718" cy="28834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2402"/>
              </a:lnSpc>
            </a:pPr>
            <a:r>
              <a:rPr lang="en-US" sz="1680">
                <a:solidFill>
                  <a:srgbClr val="1F2937"/>
                </a:solidFill>
              </a:rPr>
              <a:t>● 景区</a:t>
            </a:r>
            <a:endParaRPr lang="en-US" sz="1680"/>
          </a:p>
        </p:txBody>
      </p:sp>
      <p:pic>
        <p:nvPicPr>
          <p:cNvPr id="31" name="Image 9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288280" y="4053840"/>
            <a:ext cx="6309360" cy="2499360"/>
          </a:xfrm>
          <a:prstGeom prst="rect">
            <a:avLst/>
          </a:prstGeom>
        </p:spPr>
      </p:pic>
      <p:sp>
        <p:nvSpPr>
          <p:cNvPr id="32" name="Text 20"/>
          <p:cNvSpPr/>
          <p:nvPr/>
        </p:nvSpPr>
        <p:spPr>
          <a:xfrm>
            <a:off x="5856545" y="4343401"/>
            <a:ext cx="737381" cy="23205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1915"/>
              </a:lnSpc>
            </a:pPr>
            <a:r>
              <a:rPr lang="en-US" sz="1440">
                <a:solidFill>
                  <a:srgbClr val="374151"/>
                </a:solidFill>
              </a:rPr>
              <a:t>耦合状态</a:t>
            </a:r>
            <a:endParaRPr lang="en-US" sz="1440"/>
          </a:p>
        </p:txBody>
      </p:sp>
      <p:pic>
        <p:nvPicPr>
          <p:cNvPr id="33" name="Image 10" descr="preencoded.png"/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481219" y="4666336"/>
            <a:ext cx="1475690" cy="30480"/>
          </a:xfrm>
          <a:prstGeom prst="rect">
            <a:avLst/>
          </a:prstGeom>
        </p:spPr>
      </p:pic>
      <p:sp>
        <p:nvSpPr>
          <p:cNvPr id="34" name="Text 21"/>
          <p:cNvSpPr/>
          <p:nvPr/>
        </p:nvSpPr>
        <p:spPr>
          <a:xfrm>
            <a:off x="7519171" y="4343401"/>
            <a:ext cx="368691" cy="23205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1915"/>
              </a:lnSpc>
            </a:pPr>
            <a:r>
              <a:rPr lang="en-US" sz="1440">
                <a:solidFill>
                  <a:srgbClr val="374151"/>
                </a:solidFill>
              </a:rPr>
              <a:t>文化</a:t>
            </a:r>
            <a:endParaRPr lang="en-US" sz="1440"/>
          </a:p>
        </p:txBody>
      </p:sp>
      <p:pic>
        <p:nvPicPr>
          <p:cNvPr id="35" name="Image 11" descr="preencoded.png"/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6956756" y="4666336"/>
            <a:ext cx="1475842" cy="30480"/>
          </a:xfrm>
          <a:prstGeom prst="rect">
            <a:avLst/>
          </a:prstGeom>
        </p:spPr>
      </p:pic>
      <p:sp>
        <p:nvSpPr>
          <p:cNvPr id="36" name="Text 22"/>
          <p:cNvSpPr/>
          <p:nvPr/>
        </p:nvSpPr>
        <p:spPr>
          <a:xfrm>
            <a:off x="8997451" y="4343401"/>
            <a:ext cx="368691" cy="23205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1915"/>
              </a:lnSpc>
            </a:pPr>
            <a:r>
              <a:rPr lang="en-US" sz="1440">
                <a:solidFill>
                  <a:srgbClr val="374151"/>
                </a:solidFill>
              </a:rPr>
              <a:t>景点</a:t>
            </a:r>
            <a:endParaRPr lang="en-US" sz="1440"/>
          </a:p>
        </p:txBody>
      </p:sp>
      <p:pic>
        <p:nvPicPr>
          <p:cNvPr id="37" name="Image 12" descr="preencoded.png"/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8432749" y="4666336"/>
            <a:ext cx="1475690" cy="30480"/>
          </a:xfrm>
          <a:prstGeom prst="rect">
            <a:avLst/>
          </a:prstGeom>
        </p:spPr>
      </p:pic>
      <p:sp>
        <p:nvSpPr>
          <p:cNvPr id="38" name="Text 23"/>
          <p:cNvSpPr/>
          <p:nvPr/>
        </p:nvSpPr>
        <p:spPr>
          <a:xfrm>
            <a:off x="10475731" y="4343401"/>
            <a:ext cx="368691" cy="23205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1915"/>
              </a:lnSpc>
            </a:pPr>
            <a:r>
              <a:rPr lang="en-US" sz="1440">
                <a:solidFill>
                  <a:srgbClr val="374151"/>
                </a:solidFill>
              </a:rPr>
              <a:t>判定</a:t>
            </a:r>
            <a:endParaRPr lang="en-US" sz="1440"/>
          </a:p>
        </p:txBody>
      </p:sp>
      <p:pic>
        <p:nvPicPr>
          <p:cNvPr id="39" name="Image 13" descr="preencoded.png"/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9908439" y="4666336"/>
            <a:ext cx="1475842" cy="30480"/>
          </a:xfrm>
          <a:prstGeom prst="rect">
            <a:avLst/>
          </a:prstGeom>
        </p:spPr>
      </p:pic>
      <p:sp>
        <p:nvSpPr>
          <p:cNvPr id="40" name="Text 24"/>
          <p:cNvSpPr/>
          <p:nvPr/>
        </p:nvSpPr>
        <p:spPr>
          <a:xfrm>
            <a:off x="5486401" y="4709160"/>
            <a:ext cx="1492910" cy="230448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1915"/>
              </a:lnSpc>
            </a:pPr>
            <a:r>
              <a:rPr lang="en-US" sz="1440">
                <a:solidFill>
                  <a:srgbClr val="16A34A"/>
                </a:solidFill>
              </a:rPr>
              <a:t>✓</a:t>
            </a:r>
            <a:r>
              <a:rPr lang="en-US" sz="1440">
                <a:solidFill>
                  <a:srgbClr val="4B5563"/>
                </a:solidFill>
              </a:rPr>
              <a:t>强耦合</a:t>
            </a:r>
            <a:endParaRPr lang="en-US" sz="1440"/>
          </a:p>
        </p:txBody>
      </p:sp>
      <p:sp>
        <p:nvSpPr>
          <p:cNvPr id="41" name="Text 25"/>
          <p:cNvSpPr/>
          <p:nvPr/>
        </p:nvSpPr>
        <p:spPr>
          <a:xfrm>
            <a:off x="7611342" y="4800601"/>
            <a:ext cx="184345" cy="23205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1915"/>
              </a:lnSpc>
            </a:pPr>
            <a:r>
              <a:rPr lang="en-US" sz="1440">
                <a:solidFill>
                  <a:srgbClr val="4B5563"/>
                </a:solidFill>
              </a:rPr>
              <a:t>有</a:t>
            </a:r>
            <a:endParaRPr lang="en-US" sz="1440"/>
          </a:p>
        </p:txBody>
      </p:sp>
      <p:pic>
        <p:nvPicPr>
          <p:cNvPr id="42" name="Image 14" descr="preencoded.png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6956756" y="4687519"/>
            <a:ext cx="1475842" cy="15240"/>
          </a:xfrm>
          <a:prstGeom prst="rect">
            <a:avLst/>
          </a:prstGeom>
        </p:spPr>
      </p:pic>
      <p:sp>
        <p:nvSpPr>
          <p:cNvPr id="43" name="Text 26"/>
          <p:cNvSpPr/>
          <p:nvPr/>
        </p:nvSpPr>
        <p:spPr>
          <a:xfrm>
            <a:off x="9089622" y="4800601"/>
            <a:ext cx="184345" cy="23205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1915"/>
              </a:lnSpc>
            </a:pPr>
            <a:r>
              <a:rPr lang="en-US" sz="1440">
                <a:solidFill>
                  <a:srgbClr val="4B5563"/>
                </a:solidFill>
              </a:rPr>
              <a:t>有</a:t>
            </a:r>
            <a:endParaRPr lang="en-US" sz="1440"/>
          </a:p>
        </p:txBody>
      </p:sp>
      <p:pic>
        <p:nvPicPr>
          <p:cNvPr id="44" name="Image 15" descr="preencoded.png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8432749" y="4687519"/>
            <a:ext cx="1475690" cy="15240"/>
          </a:xfrm>
          <a:prstGeom prst="rect">
            <a:avLst/>
          </a:prstGeom>
        </p:spPr>
      </p:pic>
      <p:pic>
        <p:nvPicPr>
          <p:cNvPr id="45" name="Image 16" descr="preencoded.png"/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9906001" y="4709161"/>
            <a:ext cx="1478280" cy="381000"/>
          </a:xfrm>
          <a:prstGeom prst="rect">
            <a:avLst/>
          </a:prstGeom>
        </p:spPr>
      </p:pic>
      <p:sp>
        <p:nvSpPr>
          <p:cNvPr id="46" name="Text 27"/>
          <p:cNvSpPr/>
          <p:nvPr/>
        </p:nvSpPr>
        <p:spPr>
          <a:xfrm>
            <a:off x="10291385" y="4800601"/>
            <a:ext cx="737381" cy="23205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1915"/>
              </a:lnSpc>
            </a:pPr>
            <a:r>
              <a:rPr lang="en-US" sz="1440">
                <a:solidFill>
                  <a:srgbClr val="15803D"/>
                </a:solidFill>
              </a:rPr>
              <a:t>融合成功</a:t>
            </a:r>
            <a:endParaRPr lang="en-US" sz="1440"/>
          </a:p>
        </p:txBody>
      </p:sp>
      <p:pic>
        <p:nvPicPr>
          <p:cNvPr id="47" name="Image 17" descr="preencoded.png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9908439" y="4687519"/>
            <a:ext cx="1475842" cy="15240"/>
          </a:xfrm>
          <a:prstGeom prst="rect">
            <a:avLst/>
          </a:prstGeom>
        </p:spPr>
      </p:pic>
      <p:sp>
        <p:nvSpPr>
          <p:cNvPr id="48" name="Text 28"/>
          <p:cNvSpPr/>
          <p:nvPr/>
        </p:nvSpPr>
        <p:spPr>
          <a:xfrm>
            <a:off x="5486401" y="5120640"/>
            <a:ext cx="1492910" cy="230448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1915"/>
              </a:lnSpc>
            </a:pPr>
            <a:r>
              <a:rPr lang="en-US" sz="1440">
                <a:solidFill>
                  <a:srgbClr val="F97316"/>
                </a:solidFill>
              </a:rPr>
              <a:t>⚠</a:t>
            </a:r>
            <a:r>
              <a:rPr lang="en-US" sz="1440">
                <a:solidFill>
                  <a:srgbClr val="4B5563"/>
                </a:solidFill>
              </a:rPr>
              <a:t>错位</a:t>
            </a:r>
            <a:endParaRPr lang="en-US" sz="1440"/>
          </a:p>
        </p:txBody>
      </p:sp>
      <p:sp>
        <p:nvSpPr>
          <p:cNvPr id="49" name="Text 29"/>
          <p:cNvSpPr/>
          <p:nvPr/>
        </p:nvSpPr>
        <p:spPr>
          <a:xfrm>
            <a:off x="7519171" y="5212081"/>
            <a:ext cx="368691" cy="23205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1915"/>
              </a:lnSpc>
            </a:pPr>
            <a:r>
              <a:rPr lang="en-US" sz="1440">
                <a:solidFill>
                  <a:srgbClr val="4B5563"/>
                </a:solidFill>
              </a:rPr>
              <a:t>有弱</a:t>
            </a:r>
            <a:endParaRPr lang="en-US" sz="1440"/>
          </a:p>
        </p:txBody>
      </p:sp>
      <p:pic>
        <p:nvPicPr>
          <p:cNvPr id="50" name="Image 18" descr="preencoded.png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6956756" y="5105097"/>
            <a:ext cx="1475842" cy="15240"/>
          </a:xfrm>
          <a:prstGeom prst="rect">
            <a:avLst/>
          </a:prstGeom>
        </p:spPr>
      </p:pic>
      <p:sp>
        <p:nvSpPr>
          <p:cNvPr id="51" name="Text 30"/>
          <p:cNvSpPr/>
          <p:nvPr/>
        </p:nvSpPr>
        <p:spPr>
          <a:xfrm>
            <a:off x="8997451" y="5212081"/>
            <a:ext cx="368691" cy="23205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1915"/>
              </a:lnSpc>
            </a:pPr>
            <a:r>
              <a:rPr lang="en-US" sz="1440">
                <a:solidFill>
                  <a:srgbClr val="4B5563"/>
                </a:solidFill>
              </a:rPr>
              <a:t>有浅</a:t>
            </a:r>
            <a:endParaRPr lang="en-US" sz="1440"/>
          </a:p>
        </p:txBody>
      </p:sp>
      <p:pic>
        <p:nvPicPr>
          <p:cNvPr id="52" name="Image 19" descr="preencoded.png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8432749" y="5105097"/>
            <a:ext cx="1475690" cy="15240"/>
          </a:xfrm>
          <a:prstGeom prst="rect">
            <a:avLst/>
          </a:prstGeom>
        </p:spPr>
      </p:pic>
      <p:pic>
        <p:nvPicPr>
          <p:cNvPr id="53" name="Image 20" descr="preencoded.png"/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9906001" y="5120641"/>
            <a:ext cx="1478280" cy="381000"/>
          </a:xfrm>
          <a:prstGeom prst="rect">
            <a:avLst/>
          </a:prstGeom>
        </p:spPr>
      </p:pic>
      <p:sp>
        <p:nvSpPr>
          <p:cNvPr id="54" name="Text 31"/>
          <p:cNvSpPr/>
          <p:nvPr/>
        </p:nvSpPr>
        <p:spPr>
          <a:xfrm>
            <a:off x="10291385" y="5212081"/>
            <a:ext cx="737381" cy="23205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1915"/>
              </a:lnSpc>
            </a:pPr>
            <a:r>
              <a:rPr lang="en-US" sz="1440">
                <a:solidFill>
                  <a:srgbClr val="C2410C"/>
                </a:solidFill>
              </a:rPr>
              <a:t>挖掘不足</a:t>
            </a:r>
            <a:endParaRPr lang="en-US" sz="1440"/>
          </a:p>
        </p:txBody>
      </p:sp>
      <p:pic>
        <p:nvPicPr>
          <p:cNvPr id="55" name="Image 21" descr="preencoded.png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9908439" y="5105097"/>
            <a:ext cx="1475842" cy="15240"/>
          </a:xfrm>
          <a:prstGeom prst="rect">
            <a:avLst/>
          </a:prstGeom>
        </p:spPr>
      </p:pic>
      <p:sp>
        <p:nvSpPr>
          <p:cNvPr id="56" name="Text 32"/>
          <p:cNvSpPr/>
          <p:nvPr/>
        </p:nvSpPr>
        <p:spPr>
          <a:xfrm>
            <a:off x="5486401" y="5532120"/>
            <a:ext cx="1492910" cy="230448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1915"/>
              </a:lnSpc>
            </a:pPr>
            <a:r>
              <a:rPr lang="en-US" sz="1440">
                <a:solidFill>
                  <a:srgbClr val="DC2626"/>
                </a:solidFill>
              </a:rPr>
              <a:t>✗</a:t>
            </a:r>
            <a:r>
              <a:rPr lang="en-US" sz="1440">
                <a:solidFill>
                  <a:srgbClr val="4B5563"/>
                </a:solidFill>
              </a:rPr>
              <a:t>缺失A</a:t>
            </a:r>
            <a:endParaRPr lang="en-US" sz="1440"/>
          </a:p>
        </p:txBody>
      </p:sp>
      <p:sp>
        <p:nvSpPr>
          <p:cNvPr id="57" name="Text 33"/>
          <p:cNvSpPr/>
          <p:nvPr/>
        </p:nvSpPr>
        <p:spPr>
          <a:xfrm>
            <a:off x="7611342" y="5623561"/>
            <a:ext cx="184345" cy="23205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1915"/>
              </a:lnSpc>
            </a:pPr>
            <a:r>
              <a:rPr lang="en-US" sz="1440">
                <a:solidFill>
                  <a:srgbClr val="4B5563"/>
                </a:solidFill>
              </a:rPr>
              <a:t>有</a:t>
            </a:r>
            <a:endParaRPr lang="en-US" sz="1440"/>
          </a:p>
        </p:txBody>
      </p:sp>
      <p:pic>
        <p:nvPicPr>
          <p:cNvPr id="58" name="Image 22" descr="preencoded.png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6956756" y="5522825"/>
            <a:ext cx="1475842" cy="15240"/>
          </a:xfrm>
          <a:prstGeom prst="rect">
            <a:avLst/>
          </a:prstGeom>
        </p:spPr>
      </p:pic>
      <p:sp>
        <p:nvSpPr>
          <p:cNvPr id="59" name="Text 34"/>
          <p:cNvSpPr/>
          <p:nvPr/>
        </p:nvSpPr>
        <p:spPr>
          <a:xfrm>
            <a:off x="9089622" y="5623561"/>
            <a:ext cx="184345" cy="23205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1915"/>
              </a:lnSpc>
            </a:pPr>
            <a:r>
              <a:rPr lang="en-US" sz="1440">
                <a:solidFill>
                  <a:srgbClr val="4B5563"/>
                </a:solidFill>
              </a:rPr>
              <a:t>无</a:t>
            </a:r>
            <a:endParaRPr lang="en-US" sz="1440"/>
          </a:p>
        </p:txBody>
      </p:sp>
      <p:pic>
        <p:nvPicPr>
          <p:cNvPr id="60" name="Image 23" descr="preencoded.png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8432749" y="5522825"/>
            <a:ext cx="1475690" cy="15240"/>
          </a:xfrm>
          <a:prstGeom prst="rect">
            <a:avLst/>
          </a:prstGeom>
        </p:spPr>
      </p:pic>
      <p:pic>
        <p:nvPicPr>
          <p:cNvPr id="61" name="Image 24" descr="preencoded.png"/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9906001" y="5532121"/>
            <a:ext cx="1478280" cy="381000"/>
          </a:xfrm>
          <a:prstGeom prst="rect">
            <a:avLst/>
          </a:prstGeom>
        </p:spPr>
      </p:pic>
      <p:sp>
        <p:nvSpPr>
          <p:cNvPr id="62" name="Text 35"/>
          <p:cNvSpPr/>
          <p:nvPr/>
        </p:nvSpPr>
        <p:spPr>
          <a:xfrm>
            <a:off x="10383558" y="5623561"/>
            <a:ext cx="553037" cy="23205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1915"/>
              </a:lnSpc>
            </a:pPr>
            <a:r>
              <a:rPr lang="en-US" sz="1440">
                <a:solidFill>
                  <a:srgbClr val="B91C1C"/>
                </a:solidFill>
              </a:rPr>
              <a:t>未转化</a:t>
            </a:r>
            <a:endParaRPr lang="en-US" sz="1440"/>
          </a:p>
        </p:txBody>
      </p:sp>
      <p:pic>
        <p:nvPicPr>
          <p:cNvPr id="63" name="Image 25" descr="preencoded.png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9908439" y="5522825"/>
            <a:ext cx="1475842" cy="15240"/>
          </a:xfrm>
          <a:prstGeom prst="rect">
            <a:avLst/>
          </a:prstGeom>
        </p:spPr>
      </p:pic>
      <p:sp>
        <p:nvSpPr>
          <p:cNvPr id="64" name="Text 36"/>
          <p:cNvSpPr/>
          <p:nvPr/>
        </p:nvSpPr>
        <p:spPr>
          <a:xfrm>
            <a:off x="5486401" y="5958840"/>
            <a:ext cx="1492910" cy="230448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1915"/>
              </a:lnSpc>
            </a:pPr>
            <a:r>
              <a:rPr lang="en-US" sz="1440">
                <a:solidFill>
                  <a:srgbClr val="DC2626"/>
                </a:solidFill>
              </a:rPr>
              <a:t>✗</a:t>
            </a:r>
            <a:r>
              <a:rPr lang="en-US" sz="1440">
                <a:solidFill>
                  <a:srgbClr val="4B5563"/>
                </a:solidFill>
              </a:rPr>
              <a:t>缺失B</a:t>
            </a:r>
            <a:endParaRPr lang="en-US" sz="1440"/>
          </a:p>
        </p:txBody>
      </p:sp>
      <p:sp>
        <p:nvSpPr>
          <p:cNvPr id="65" name="Text 37"/>
          <p:cNvSpPr/>
          <p:nvPr/>
        </p:nvSpPr>
        <p:spPr>
          <a:xfrm>
            <a:off x="7611342" y="6050281"/>
            <a:ext cx="184345" cy="23205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1915"/>
              </a:lnSpc>
            </a:pPr>
            <a:r>
              <a:rPr lang="en-US" sz="1440">
                <a:solidFill>
                  <a:srgbClr val="4B5563"/>
                </a:solidFill>
              </a:rPr>
              <a:t>无</a:t>
            </a:r>
            <a:endParaRPr lang="en-US" sz="1440"/>
          </a:p>
        </p:txBody>
      </p:sp>
      <p:pic>
        <p:nvPicPr>
          <p:cNvPr id="66" name="Image 26" descr="preencoded.png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6956756" y="5940553"/>
            <a:ext cx="1475842" cy="15240"/>
          </a:xfrm>
          <a:prstGeom prst="rect">
            <a:avLst/>
          </a:prstGeom>
        </p:spPr>
      </p:pic>
      <p:sp>
        <p:nvSpPr>
          <p:cNvPr id="67" name="Text 38"/>
          <p:cNvSpPr/>
          <p:nvPr/>
        </p:nvSpPr>
        <p:spPr>
          <a:xfrm>
            <a:off x="9089622" y="6050281"/>
            <a:ext cx="184345" cy="23205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1915"/>
              </a:lnSpc>
            </a:pPr>
            <a:r>
              <a:rPr lang="en-US" sz="1440">
                <a:solidFill>
                  <a:srgbClr val="4B5563"/>
                </a:solidFill>
              </a:rPr>
              <a:t>有</a:t>
            </a:r>
            <a:endParaRPr lang="en-US" sz="1440"/>
          </a:p>
        </p:txBody>
      </p:sp>
      <p:pic>
        <p:nvPicPr>
          <p:cNvPr id="68" name="Image 27" descr="preencoded.png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8432749" y="5940553"/>
            <a:ext cx="1475690" cy="15240"/>
          </a:xfrm>
          <a:prstGeom prst="rect">
            <a:avLst/>
          </a:prstGeom>
        </p:spPr>
      </p:pic>
      <p:pic>
        <p:nvPicPr>
          <p:cNvPr id="69" name="Image 28" descr="preencoded.png"/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9906001" y="5958841"/>
            <a:ext cx="1478280" cy="381000"/>
          </a:xfrm>
          <a:prstGeom prst="rect">
            <a:avLst/>
          </a:prstGeom>
        </p:spPr>
      </p:pic>
      <p:sp>
        <p:nvSpPr>
          <p:cNvPr id="70" name="Text 39"/>
          <p:cNvSpPr/>
          <p:nvPr/>
        </p:nvSpPr>
        <p:spPr>
          <a:xfrm>
            <a:off x="10291385" y="6050281"/>
            <a:ext cx="737381" cy="23205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1915"/>
              </a:lnSpc>
            </a:pPr>
            <a:r>
              <a:rPr lang="en-US" sz="1440">
                <a:solidFill>
                  <a:srgbClr val="B91C1C"/>
                </a:solidFill>
              </a:rPr>
              <a:t>有形无魂</a:t>
            </a:r>
            <a:endParaRPr lang="en-US" sz="1440"/>
          </a:p>
        </p:txBody>
      </p:sp>
      <p:pic>
        <p:nvPicPr>
          <p:cNvPr id="71" name="Image 29" descr="preencoded.png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9908439" y="5940553"/>
            <a:ext cx="1475842" cy="15240"/>
          </a:xfrm>
          <a:prstGeom prst="rect">
            <a:avLst/>
          </a:prstGeom>
        </p:spPr>
      </p:pic>
      <p:sp>
        <p:nvSpPr>
          <p:cNvPr id="73" name="Text 7">
            <a:extLst>
              <a:ext uri="{FF2B5EF4-FFF2-40B4-BE49-F238E27FC236}">
                <a16:creationId xmlns:a16="http://schemas.microsoft.com/office/drawing/2014/main" id="{3B120617-C188-9EF9-48D0-A2FAD21D78B2}"/>
              </a:ext>
            </a:extLst>
          </p:cNvPr>
          <p:cNvSpPr/>
          <p:nvPr/>
        </p:nvSpPr>
        <p:spPr>
          <a:xfrm>
            <a:off x="473049" y="455737"/>
            <a:ext cx="11245901" cy="42595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3322"/>
              </a:lnSpc>
            </a:pPr>
            <a:r>
              <a:rPr lang="en-US" sz="2768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3.1 </a:t>
            </a:r>
            <a:r>
              <a:rPr lang="en-US" sz="2768" b="1" dirty="0" err="1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双谱系耦合</a:t>
            </a:r>
            <a:endParaRPr lang="en-US" sz="2768" b="1" dirty="0">
              <a:solidFill>
                <a:srgbClr val="1E1E1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4" name="Image 3" descr="https://oss.jianzeppt.com/editablePptPic/isIllustration_1_isShadow_0/18102cb5-5882-4151-ac19-4286f52a0323_image_90819cb7d4a6a1eecbd1ae23dec6207e_14123563.png">
            <a:extLst>
              <a:ext uri="{FF2B5EF4-FFF2-40B4-BE49-F238E27FC236}">
                <a16:creationId xmlns:a16="http://schemas.microsoft.com/office/drawing/2014/main" id="{8C42BA92-100C-BBAA-0DF5-9FC47137E34B}"/>
              </a:ext>
            </a:extLst>
          </p:cNvPr>
          <p:cNvPicPr>
            <a:picLocks noChangeAspect="1"/>
          </p:cNvPicPr>
          <p:nvPr/>
        </p:nvPicPr>
        <p:blipFill>
          <a:blip r:embed="rId30"/>
          <a:srcRect/>
          <a:stretch>
            <a:fillRect/>
          </a:stretch>
        </p:blipFill>
        <p:spPr>
          <a:xfrm>
            <a:off x="9785719" y="194778"/>
            <a:ext cx="2288952" cy="901224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2_isShadow_0/68fe1269-8cc2-4116-97e6-2e27b97da75f_image_024f533a16df894d6710d6aaad9f47c2_141235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360" y="203042"/>
            <a:ext cx="82800" cy="896400"/>
          </a:xfrm>
          <a:prstGeom prst="rect">
            <a:avLst/>
          </a:prstGeom>
        </p:spPr>
      </p:pic>
      <p:grpSp>
        <p:nvGrpSpPr>
          <p:cNvPr id="41" name="组合 40">
            <a:extLst>
              <a:ext uri="{FF2B5EF4-FFF2-40B4-BE49-F238E27FC236}">
                <a16:creationId xmlns:a16="http://schemas.microsoft.com/office/drawing/2014/main" id="{A1AE74E0-A51A-F6B3-BA37-3C6948C72F6F}"/>
              </a:ext>
            </a:extLst>
          </p:cNvPr>
          <p:cNvGrpSpPr/>
          <p:nvPr/>
        </p:nvGrpSpPr>
        <p:grpSpPr>
          <a:xfrm>
            <a:off x="361815" y="1986643"/>
            <a:ext cx="2331720" cy="762000"/>
            <a:chOff x="524993" y="2617754"/>
            <a:chExt cx="2331720" cy="762000"/>
          </a:xfrm>
        </p:grpSpPr>
        <p:pic>
          <p:nvPicPr>
            <p:cNvPr id="39" name="Image 8" descr="https://test.web.static.jianzeppt.com/ppt-temp-img3/a7e01bfa645bb34c7368e883c4e093de.png">
              <a:extLst>
                <a:ext uri="{FF2B5EF4-FFF2-40B4-BE49-F238E27FC236}">
                  <a16:creationId xmlns:a16="http://schemas.microsoft.com/office/drawing/2014/main" id="{C1996A57-594C-C9AC-6C0D-D93BBA41BCD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4993" y="2617754"/>
              <a:ext cx="2331720" cy="762000"/>
            </a:xfrm>
            <a:prstGeom prst="rect">
              <a:avLst/>
            </a:prstGeom>
          </p:spPr>
        </p:pic>
        <p:sp>
          <p:nvSpPr>
            <p:cNvPr id="4" name="Text 0"/>
            <p:cNvSpPr/>
            <p:nvPr/>
          </p:nvSpPr>
          <p:spPr>
            <a:xfrm>
              <a:off x="930251" y="2791168"/>
              <a:ext cx="1508150" cy="47570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ts val="1915"/>
                </a:lnSpc>
              </a:pPr>
              <a:r>
                <a:rPr lang="en-US" sz="1440" dirty="0" err="1">
                  <a:solidFill>
                    <a:srgbClr val="000000"/>
                  </a:solidFill>
                </a:rPr>
                <a:t>数据采集</a:t>
              </a:r>
              <a:r>
                <a:rPr lang="en-US" sz="1440" dirty="0">
                  <a:solidFill>
                    <a:srgbClr val="000000"/>
                  </a:solidFill>
                </a:rPr>
                <a:t> (OCR/</a:t>
              </a:r>
              <a:r>
                <a:rPr lang="en-US" sz="1440" dirty="0" err="1">
                  <a:solidFill>
                    <a:srgbClr val="000000"/>
                  </a:solidFill>
                </a:rPr>
                <a:t>爬虫</a:t>
              </a:r>
              <a:r>
                <a:rPr lang="en-US" sz="1440" dirty="0">
                  <a:solidFill>
                    <a:srgbClr val="000000"/>
                  </a:solidFill>
                </a:rPr>
                <a:t>/API)</a:t>
              </a:r>
              <a:endParaRPr lang="en-US" sz="1440" dirty="0"/>
            </a:p>
          </p:txBody>
        </p:sp>
      </p:grpSp>
      <p:sp>
        <p:nvSpPr>
          <p:cNvPr id="5" name="Text 1"/>
          <p:cNvSpPr/>
          <p:nvPr/>
        </p:nvSpPr>
        <p:spPr>
          <a:xfrm>
            <a:off x="2853957" y="2165828"/>
            <a:ext cx="489672" cy="4641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3830"/>
              </a:lnSpc>
            </a:pPr>
            <a:r>
              <a:rPr lang="en-US" sz="2880" dirty="0">
                <a:solidFill>
                  <a:srgbClr val="C084FC"/>
                </a:solidFill>
              </a:rPr>
              <a:t>→</a:t>
            </a:r>
            <a:endParaRPr lang="en-US" sz="2880" dirty="0"/>
          </a:p>
        </p:txBody>
      </p:sp>
      <p:pic>
        <p:nvPicPr>
          <p:cNvPr id="6" name="Image 2" descr="https://test.web.static.jianzeppt.com/ppt-temp-img3/af3e34d07c1100c7734ac5a514c3e5b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9961" y="1981200"/>
            <a:ext cx="2331720" cy="76200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672841" y="2133600"/>
            <a:ext cx="1980590" cy="475708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1915"/>
              </a:lnSpc>
            </a:pPr>
            <a:r>
              <a:rPr lang="en-US" sz="1440" dirty="0" err="1">
                <a:solidFill>
                  <a:srgbClr val="000000"/>
                </a:solidFill>
              </a:rPr>
              <a:t>数据清洗与结构化</a:t>
            </a:r>
            <a:r>
              <a:rPr lang="en-US" sz="1440" dirty="0">
                <a:solidFill>
                  <a:srgbClr val="000000"/>
                </a:solidFill>
              </a:rPr>
              <a:t> (</a:t>
            </a:r>
            <a:r>
              <a:rPr lang="en-US" sz="1440" dirty="0" err="1">
                <a:solidFill>
                  <a:srgbClr val="000000"/>
                </a:solidFill>
              </a:rPr>
              <a:t>地理编码</a:t>
            </a:r>
            <a:r>
              <a:rPr lang="en-US" sz="1440" dirty="0">
                <a:solidFill>
                  <a:srgbClr val="000000"/>
                </a:solidFill>
              </a:rPr>
              <a:t>/</a:t>
            </a:r>
            <a:r>
              <a:rPr lang="en-US" sz="1440" dirty="0" err="1">
                <a:solidFill>
                  <a:srgbClr val="000000"/>
                </a:solidFill>
              </a:rPr>
              <a:t>文本标准化</a:t>
            </a:r>
            <a:r>
              <a:rPr lang="en-US" sz="1440" dirty="0">
                <a:solidFill>
                  <a:srgbClr val="000000"/>
                </a:solidFill>
              </a:rPr>
              <a:t>)</a:t>
            </a:r>
            <a:endParaRPr lang="en-US" sz="1440" dirty="0"/>
          </a:p>
        </p:txBody>
      </p:sp>
      <p:sp>
        <p:nvSpPr>
          <p:cNvPr id="8" name="Text 3"/>
          <p:cNvSpPr/>
          <p:nvPr/>
        </p:nvSpPr>
        <p:spPr>
          <a:xfrm>
            <a:off x="5836311" y="1981200"/>
            <a:ext cx="368691" cy="4641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3830"/>
              </a:lnSpc>
            </a:pPr>
            <a:r>
              <a:rPr lang="en-US" sz="2880" dirty="0">
                <a:solidFill>
                  <a:srgbClr val="C084FC"/>
                </a:solidFill>
              </a:rPr>
              <a:t>→</a:t>
            </a:r>
            <a:endParaRPr lang="en-US" sz="2880" dirty="0"/>
          </a:p>
        </p:txBody>
      </p:sp>
      <p:pic>
        <p:nvPicPr>
          <p:cNvPr id="9" name="Image 3" descr="https://test.web.static.jianzeppt.com/ppt-temp-img3/af3e34d07c1100c7734ac5a514c3e5b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0321" y="1981200"/>
            <a:ext cx="2331720" cy="76200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6469075" y="3579694"/>
            <a:ext cx="2041550" cy="475708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1915"/>
              </a:lnSpc>
            </a:pPr>
            <a:r>
              <a:rPr lang="en-US" sz="1440" dirty="0" err="1">
                <a:solidFill>
                  <a:srgbClr val="000000"/>
                </a:solidFill>
              </a:rPr>
              <a:t>文化谱系构建</a:t>
            </a:r>
            <a:r>
              <a:rPr lang="en-US" sz="1440" dirty="0">
                <a:solidFill>
                  <a:srgbClr val="000000"/>
                </a:solidFill>
              </a:rPr>
              <a:t> (</a:t>
            </a:r>
            <a:r>
              <a:rPr lang="en-US" sz="1440" dirty="0" err="1">
                <a:solidFill>
                  <a:srgbClr val="000000"/>
                </a:solidFill>
              </a:rPr>
              <a:t>词频</a:t>
            </a:r>
            <a:r>
              <a:rPr lang="en-US" sz="1440" dirty="0">
                <a:solidFill>
                  <a:srgbClr val="000000"/>
                </a:solidFill>
              </a:rPr>
              <a:t>/</a:t>
            </a:r>
            <a:r>
              <a:rPr lang="en-US" sz="1440" dirty="0" err="1">
                <a:solidFill>
                  <a:srgbClr val="000000"/>
                </a:solidFill>
              </a:rPr>
              <a:t>主题分析</a:t>
            </a:r>
            <a:r>
              <a:rPr lang="en-US" sz="1440" dirty="0">
                <a:solidFill>
                  <a:srgbClr val="000000"/>
                </a:solidFill>
              </a:rPr>
              <a:t>)</a:t>
            </a:r>
            <a:endParaRPr lang="en-US" sz="1440" dirty="0"/>
          </a:p>
        </p:txBody>
      </p:sp>
      <p:sp>
        <p:nvSpPr>
          <p:cNvPr id="11" name="Text 5"/>
          <p:cNvSpPr/>
          <p:nvPr/>
        </p:nvSpPr>
        <p:spPr>
          <a:xfrm>
            <a:off x="8823961" y="1981200"/>
            <a:ext cx="368691" cy="4641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3830"/>
              </a:lnSpc>
            </a:pPr>
            <a:r>
              <a:rPr lang="en-US" sz="2880" dirty="0">
                <a:solidFill>
                  <a:srgbClr val="C084FC"/>
                </a:solidFill>
              </a:rPr>
              <a:t>→</a:t>
            </a:r>
            <a:endParaRPr lang="en-US" sz="2880" dirty="0"/>
          </a:p>
        </p:txBody>
      </p:sp>
      <p:pic>
        <p:nvPicPr>
          <p:cNvPr id="12" name="Image 4" descr="https://test.web.static.jianzeppt.com/ppt-temp-img3/af3e34d07c1100c7734ac5a514c3e5b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50681" y="1981200"/>
            <a:ext cx="2331720" cy="76200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9433561" y="2133600"/>
            <a:ext cx="2148838" cy="23205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1915"/>
              </a:lnSpc>
            </a:pPr>
            <a:r>
              <a:rPr lang="en-US" sz="1440" dirty="0" err="1">
                <a:solidFill>
                  <a:srgbClr val="000000"/>
                </a:solidFill>
              </a:rPr>
              <a:t>景点谱系构建</a:t>
            </a:r>
            <a:r>
              <a:rPr lang="en-US" sz="1440" dirty="0">
                <a:solidFill>
                  <a:srgbClr val="000000"/>
                </a:solidFill>
              </a:rPr>
              <a:t> (</a:t>
            </a:r>
            <a:r>
              <a:rPr lang="zh-CN" altLang="en-US" sz="1440" dirty="0">
                <a:solidFill>
                  <a:srgbClr val="000000"/>
                </a:solidFill>
              </a:rPr>
              <a:t>网络数据</a:t>
            </a:r>
            <a:r>
              <a:rPr lang="en-US" sz="1440" dirty="0">
                <a:solidFill>
                  <a:srgbClr val="000000"/>
                </a:solidFill>
              </a:rPr>
              <a:t>)</a:t>
            </a:r>
            <a:endParaRPr lang="en-US" sz="1440" dirty="0"/>
          </a:p>
        </p:txBody>
      </p: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405627FD-0223-61E7-4B86-0EF998BC937F}"/>
              </a:ext>
            </a:extLst>
          </p:cNvPr>
          <p:cNvGrpSpPr/>
          <p:nvPr/>
        </p:nvGrpSpPr>
        <p:grpSpPr>
          <a:xfrm>
            <a:off x="9592665" y="3478203"/>
            <a:ext cx="2331720" cy="762000"/>
            <a:chOff x="609601" y="3657600"/>
            <a:chExt cx="2331720" cy="762000"/>
          </a:xfrm>
        </p:grpSpPr>
        <p:pic>
          <p:nvPicPr>
            <p:cNvPr id="15" name="Image 5" descr="https://test.web.static.jianzeppt.com/ppt-temp-img3/a7e01bfa645bb34c7368e883c4e093de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9601" y="3657600"/>
              <a:ext cx="2331720" cy="762000"/>
            </a:xfrm>
            <a:prstGeom prst="rect">
              <a:avLst/>
            </a:prstGeom>
          </p:spPr>
        </p:pic>
        <p:sp>
          <p:nvSpPr>
            <p:cNvPr id="16" name="Text 8"/>
            <p:cNvSpPr/>
            <p:nvPr/>
          </p:nvSpPr>
          <p:spPr>
            <a:xfrm>
              <a:off x="792481" y="3810000"/>
              <a:ext cx="1980590" cy="47570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ts val="1915"/>
                </a:lnSpc>
              </a:pPr>
              <a:r>
                <a:rPr lang="zh-CN" altLang="en-US" sz="1440" dirty="0">
                  <a:solidFill>
                    <a:srgbClr val="581C87"/>
                  </a:solidFill>
                </a:rPr>
                <a:t>谱系</a:t>
              </a:r>
              <a:r>
                <a:rPr lang="en-US" sz="1440" dirty="0" err="1">
                  <a:solidFill>
                    <a:srgbClr val="581C87"/>
                  </a:solidFill>
                </a:rPr>
                <a:t>对比</a:t>
              </a:r>
              <a:r>
                <a:rPr lang="en-US" sz="1440" dirty="0">
                  <a:solidFill>
                    <a:srgbClr val="581C87"/>
                  </a:solidFill>
                </a:rPr>
                <a:t> (</a:t>
              </a:r>
              <a:r>
                <a:rPr lang="en-US" sz="1440" dirty="0" err="1">
                  <a:solidFill>
                    <a:srgbClr val="581C87"/>
                  </a:solidFill>
                </a:rPr>
                <a:t>谱系对比</a:t>
              </a:r>
              <a:r>
                <a:rPr lang="en-US" sz="1440" dirty="0">
                  <a:solidFill>
                    <a:srgbClr val="581C87"/>
                  </a:solidFill>
                </a:rPr>
                <a:t>/</a:t>
              </a:r>
              <a:r>
                <a:rPr lang="en-US" sz="1440" dirty="0" err="1">
                  <a:solidFill>
                    <a:srgbClr val="581C87"/>
                  </a:solidFill>
                </a:rPr>
                <a:t>关联分析</a:t>
              </a:r>
              <a:r>
                <a:rPr lang="en-US" sz="1440" dirty="0">
                  <a:solidFill>
                    <a:srgbClr val="581C87"/>
                  </a:solidFill>
                </a:rPr>
                <a:t>/</a:t>
              </a:r>
              <a:r>
                <a:rPr lang="zh-CN" altLang="en-US" sz="1440" dirty="0">
                  <a:solidFill>
                    <a:srgbClr val="581C87"/>
                  </a:solidFill>
                </a:rPr>
                <a:t>错位分析</a:t>
              </a:r>
              <a:r>
                <a:rPr lang="en-US" sz="1440" dirty="0">
                  <a:solidFill>
                    <a:srgbClr val="581C87"/>
                  </a:solidFill>
                </a:rPr>
                <a:t>)</a:t>
              </a:r>
              <a:endParaRPr lang="en-US" sz="1440" dirty="0"/>
            </a:p>
          </p:txBody>
        </p:sp>
      </p:grp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EE92A31E-C9EA-D8CF-D6BA-F4874CABAA59}"/>
              </a:ext>
            </a:extLst>
          </p:cNvPr>
          <p:cNvGrpSpPr/>
          <p:nvPr/>
        </p:nvGrpSpPr>
        <p:grpSpPr>
          <a:xfrm>
            <a:off x="6323991" y="1981200"/>
            <a:ext cx="2331720" cy="762000"/>
            <a:chOff x="3489961" y="3657600"/>
            <a:chExt cx="2331720" cy="762000"/>
          </a:xfrm>
        </p:grpSpPr>
        <p:pic>
          <p:nvPicPr>
            <p:cNvPr id="18" name="Image 6" descr="https://test.web.static.jianzeppt.com/ppt-temp-img3/a7e01bfa645bb34c7368e883c4e093de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489961" y="3657600"/>
              <a:ext cx="2331720" cy="762000"/>
            </a:xfrm>
            <a:prstGeom prst="rect">
              <a:avLst/>
            </a:prstGeom>
          </p:spPr>
        </p:pic>
        <p:sp>
          <p:nvSpPr>
            <p:cNvPr id="19" name="Text 10"/>
            <p:cNvSpPr/>
            <p:nvPr/>
          </p:nvSpPr>
          <p:spPr>
            <a:xfrm>
              <a:off x="3642361" y="3810000"/>
              <a:ext cx="2041550" cy="47570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ts val="1915"/>
                </a:lnSpc>
              </a:pPr>
              <a:r>
                <a:rPr lang="en-US" sz="1440" dirty="0" err="1">
                  <a:solidFill>
                    <a:srgbClr val="581C87"/>
                  </a:solidFill>
                </a:rPr>
                <a:t>知识图谱构建</a:t>
              </a:r>
              <a:r>
                <a:rPr lang="en-US" sz="1440" dirty="0">
                  <a:solidFill>
                    <a:srgbClr val="581C87"/>
                  </a:solidFill>
                </a:rPr>
                <a:t> (</a:t>
              </a:r>
              <a:r>
                <a:rPr lang="en-US" sz="1440" dirty="0" err="1">
                  <a:solidFill>
                    <a:srgbClr val="581C87"/>
                  </a:solidFill>
                </a:rPr>
                <a:t>实体</a:t>
              </a:r>
              <a:r>
                <a:rPr lang="en-US" sz="1440" dirty="0">
                  <a:solidFill>
                    <a:srgbClr val="581C87"/>
                  </a:solidFill>
                </a:rPr>
                <a:t>/</a:t>
              </a:r>
              <a:r>
                <a:rPr lang="en-US" sz="1440" dirty="0" err="1">
                  <a:solidFill>
                    <a:srgbClr val="581C87"/>
                  </a:solidFill>
                </a:rPr>
                <a:t>关系抽取</a:t>
              </a:r>
              <a:r>
                <a:rPr lang="en-US" sz="1440" dirty="0">
                  <a:solidFill>
                    <a:srgbClr val="581C87"/>
                  </a:solidFill>
                </a:rPr>
                <a:t>)</a:t>
              </a:r>
              <a:endParaRPr lang="en-US" sz="1440" dirty="0"/>
            </a:p>
          </p:txBody>
        </p:sp>
      </p:grpSp>
      <p:sp>
        <p:nvSpPr>
          <p:cNvPr id="20" name="Text 11"/>
          <p:cNvSpPr/>
          <p:nvPr/>
        </p:nvSpPr>
        <p:spPr>
          <a:xfrm rot="10800000">
            <a:off x="9008306" y="5738640"/>
            <a:ext cx="368691" cy="4641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3830"/>
              </a:lnSpc>
            </a:pPr>
            <a:r>
              <a:rPr lang="en-US" sz="2880" dirty="0">
                <a:solidFill>
                  <a:srgbClr val="C084FC"/>
                </a:solidFill>
              </a:rPr>
              <a:t>→</a:t>
            </a:r>
            <a:endParaRPr lang="en-US" sz="2880" dirty="0"/>
          </a:p>
        </p:txBody>
      </p:sp>
      <p:sp>
        <p:nvSpPr>
          <p:cNvPr id="23" name="Text 13"/>
          <p:cNvSpPr/>
          <p:nvPr/>
        </p:nvSpPr>
        <p:spPr>
          <a:xfrm>
            <a:off x="8823961" y="3657600"/>
            <a:ext cx="368691" cy="4641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3830"/>
              </a:lnSpc>
            </a:pPr>
            <a:r>
              <a:rPr lang="en-US" sz="2880">
                <a:solidFill>
                  <a:srgbClr val="C084FC"/>
                </a:solidFill>
              </a:rPr>
              <a:t>→</a:t>
            </a:r>
            <a:endParaRPr lang="en-US" sz="2880"/>
          </a:p>
        </p:txBody>
      </p: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DB97EF21-814C-4016-8E66-9F4B5AA66037}"/>
              </a:ext>
            </a:extLst>
          </p:cNvPr>
          <p:cNvGrpSpPr/>
          <p:nvPr/>
        </p:nvGrpSpPr>
        <p:grpSpPr>
          <a:xfrm>
            <a:off x="6370321" y="5622615"/>
            <a:ext cx="2331720" cy="762000"/>
            <a:chOff x="9250681" y="3657600"/>
            <a:chExt cx="2331720" cy="762000"/>
          </a:xfrm>
        </p:grpSpPr>
        <p:pic>
          <p:nvPicPr>
            <p:cNvPr id="24" name="Image 8" descr="https://test.web.static.jianzeppt.com/ppt-temp-img3/a7e01bfa645bb34c7368e883c4e093de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250681" y="3657600"/>
              <a:ext cx="2331720" cy="762000"/>
            </a:xfrm>
            <a:prstGeom prst="rect">
              <a:avLst/>
            </a:prstGeom>
          </p:spPr>
        </p:pic>
        <p:sp>
          <p:nvSpPr>
            <p:cNvPr id="25" name="Text 14"/>
            <p:cNvSpPr/>
            <p:nvPr/>
          </p:nvSpPr>
          <p:spPr>
            <a:xfrm>
              <a:off x="9403081" y="3810000"/>
              <a:ext cx="2041550" cy="23205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ts val="1915"/>
                </a:lnSpc>
              </a:pPr>
              <a:r>
                <a:rPr lang="en-US" sz="1440" dirty="0" err="1">
                  <a:solidFill>
                    <a:srgbClr val="581C87"/>
                  </a:solidFill>
                </a:rPr>
                <a:t>方案输出</a:t>
              </a:r>
              <a:r>
                <a:rPr lang="en-US" sz="1440" dirty="0">
                  <a:solidFill>
                    <a:srgbClr val="581C87"/>
                  </a:solidFill>
                </a:rPr>
                <a:t> (</a:t>
              </a:r>
              <a:r>
                <a:rPr lang="en-US" sz="1440" dirty="0" err="1">
                  <a:solidFill>
                    <a:srgbClr val="581C87"/>
                  </a:solidFill>
                </a:rPr>
                <a:t>潜力点识别</a:t>
              </a:r>
              <a:r>
                <a:rPr lang="en-US" sz="1440" dirty="0">
                  <a:solidFill>
                    <a:srgbClr val="581C87"/>
                  </a:solidFill>
                </a:rPr>
                <a:t>)</a:t>
              </a:r>
              <a:endParaRPr lang="en-US" sz="1440" dirty="0"/>
            </a:p>
          </p:txBody>
        </p:sp>
      </p:grpSp>
      <p:pic>
        <p:nvPicPr>
          <p:cNvPr id="26" name="Image 9" descr="https://test.web.static.jianzeppt.com/ppt-temp-img3/e26b50fee6fccb8e1616fc8965a907d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2679" y="3778249"/>
            <a:ext cx="4630057" cy="2653030"/>
          </a:xfrm>
          <a:prstGeom prst="rect">
            <a:avLst/>
          </a:prstGeom>
        </p:spPr>
      </p:pic>
      <p:sp>
        <p:nvSpPr>
          <p:cNvPr id="27" name="Text 15"/>
          <p:cNvSpPr/>
          <p:nvPr/>
        </p:nvSpPr>
        <p:spPr>
          <a:xfrm>
            <a:off x="495918" y="4131475"/>
            <a:ext cx="1074012" cy="28834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02"/>
              </a:lnSpc>
            </a:pPr>
            <a:r>
              <a:rPr lang="en-US" sz="1680" dirty="0" err="1">
                <a:solidFill>
                  <a:srgbClr val="581C87"/>
                </a:solidFill>
              </a:rPr>
              <a:t>技术工具</a:t>
            </a:r>
            <a:r>
              <a:rPr lang="en-US" sz="1680" dirty="0">
                <a:solidFill>
                  <a:srgbClr val="581C87"/>
                </a:solidFill>
              </a:rPr>
              <a:t>：</a:t>
            </a:r>
            <a:endParaRPr lang="en-US" sz="1680" dirty="0"/>
          </a:p>
        </p:txBody>
      </p:sp>
      <p:sp>
        <p:nvSpPr>
          <p:cNvPr id="28" name="Text 16"/>
          <p:cNvSpPr/>
          <p:nvPr/>
        </p:nvSpPr>
        <p:spPr>
          <a:xfrm>
            <a:off x="515375" y="4713996"/>
            <a:ext cx="3397910" cy="475708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915"/>
              </a:lnSpc>
            </a:pPr>
            <a:r>
              <a:rPr lang="en-US" sz="1440" dirty="0" err="1">
                <a:solidFill>
                  <a:srgbClr val="4B5563"/>
                </a:solidFill>
              </a:rPr>
              <a:t>数据处理与分析:</a:t>
            </a:r>
            <a:r>
              <a:rPr lang="en-US" sz="1440" dirty="0" err="1">
                <a:solidFill>
                  <a:srgbClr val="1F2937"/>
                </a:solidFill>
              </a:rPr>
              <a:t>Python</a:t>
            </a:r>
            <a:r>
              <a:rPr lang="en-US" sz="1440" dirty="0">
                <a:solidFill>
                  <a:srgbClr val="1F2937"/>
                </a:solidFill>
              </a:rPr>
              <a:t> (Pandas, </a:t>
            </a:r>
            <a:r>
              <a:rPr lang="en-US" sz="1440" dirty="0" err="1">
                <a:solidFill>
                  <a:srgbClr val="1F2937"/>
                </a:solidFill>
              </a:rPr>
              <a:t>Jieba</a:t>
            </a:r>
            <a:r>
              <a:rPr lang="en-US" sz="1440" dirty="0">
                <a:solidFill>
                  <a:srgbClr val="1F2937"/>
                </a:solidFill>
              </a:rPr>
              <a:t>, </a:t>
            </a:r>
            <a:r>
              <a:rPr lang="en-US" sz="1440" dirty="0" err="1">
                <a:solidFill>
                  <a:srgbClr val="1F2937"/>
                </a:solidFill>
              </a:rPr>
              <a:t>Numpy</a:t>
            </a:r>
            <a:r>
              <a:rPr lang="en-US" sz="1440" dirty="0">
                <a:solidFill>
                  <a:srgbClr val="1F2937"/>
                </a:solidFill>
              </a:rPr>
              <a:t>)</a:t>
            </a:r>
            <a:endParaRPr lang="en-US" sz="1440" dirty="0"/>
          </a:p>
        </p:txBody>
      </p:sp>
      <p:sp>
        <p:nvSpPr>
          <p:cNvPr id="29" name="Text 17"/>
          <p:cNvSpPr/>
          <p:nvPr/>
        </p:nvSpPr>
        <p:spPr>
          <a:xfrm>
            <a:off x="495918" y="5483876"/>
            <a:ext cx="3397910" cy="23205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915"/>
              </a:lnSpc>
            </a:pPr>
            <a:r>
              <a:rPr lang="en-US" sz="1440" dirty="0" err="1">
                <a:solidFill>
                  <a:srgbClr val="4B5563"/>
                </a:solidFill>
              </a:rPr>
              <a:t>空间分析:</a:t>
            </a:r>
            <a:r>
              <a:rPr lang="en-US" altLang="zh-CN" sz="1440" dirty="0" err="1">
                <a:solidFill>
                  <a:srgbClr val="1F2937"/>
                </a:solidFill>
              </a:rPr>
              <a:t>ArcGis</a:t>
            </a:r>
            <a:r>
              <a:rPr lang="zh-CN" altLang="en-US" sz="1440" dirty="0">
                <a:solidFill>
                  <a:srgbClr val="1F2937"/>
                </a:solidFill>
              </a:rPr>
              <a:t>，高德</a:t>
            </a:r>
            <a:endParaRPr lang="en-US" sz="1440" dirty="0"/>
          </a:p>
        </p:txBody>
      </p:sp>
      <p:sp>
        <p:nvSpPr>
          <p:cNvPr id="30" name="Text 18"/>
          <p:cNvSpPr/>
          <p:nvPr/>
        </p:nvSpPr>
        <p:spPr>
          <a:xfrm>
            <a:off x="495918" y="6036619"/>
            <a:ext cx="3397910" cy="23205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915"/>
              </a:lnSpc>
            </a:pPr>
            <a:r>
              <a:rPr lang="en-US" sz="1440" dirty="0">
                <a:solidFill>
                  <a:srgbClr val="4B5563"/>
                </a:solidFill>
              </a:rPr>
              <a:t>知识图谱与可视化:</a:t>
            </a:r>
            <a:r>
              <a:rPr lang="en-US" sz="1440" dirty="0">
                <a:solidFill>
                  <a:srgbClr val="1F2937"/>
                </a:solidFill>
              </a:rPr>
              <a:t>Neo4j, Gephi, </a:t>
            </a:r>
            <a:r>
              <a:rPr lang="en-US" sz="1440" dirty="0" err="1">
                <a:solidFill>
                  <a:srgbClr val="1F2937"/>
                </a:solidFill>
              </a:rPr>
              <a:t>ECharts</a:t>
            </a:r>
            <a:endParaRPr lang="en-US" sz="1440" dirty="0"/>
          </a:p>
        </p:txBody>
      </p:sp>
      <p:sp>
        <p:nvSpPr>
          <p:cNvPr id="31" name="Text 19"/>
          <p:cNvSpPr/>
          <p:nvPr/>
        </p:nvSpPr>
        <p:spPr>
          <a:xfrm>
            <a:off x="489615" y="468074"/>
            <a:ext cx="2063065" cy="423193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3322"/>
              </a:lnSpc>
            </a:pPr>
            <a:r>
              <a:rPr lang="en-US" sz="2768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3.2 </a:t>
            </a:r>
            <a:r>
              <a:rPr lang="en-US" sz="2768" b="1" dirty="0" err="1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技术路线</a:t>
            </a:r>
            <a:endParaRPr lang="en-US" sz="2768" b="1" dirty="0">
              <a:solidFill>
                <a:srgbClr val="1E1E1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" name="Text 11">
            <a:extLst>
              <a:ext uri="{FF2B5EF4-FFF2-40B4-BE49-F238E27FC236}">
                <a16:creationId xmlns:a16="http://schemas.microsoft.com/office/drawing/2014/main" id="{753DE125-25BC-A65E-3B31-42D7BC14E78F}"/>
              </a:ext>
            </a:extLst>
          </p:cNvPr>
          <p:cNvSpPr/>
          <p:nvPr/>
        </p:nvSpPr>
        <p:spPr>
          <a:xfrm rot="5400000">
            <a:off x="7305505" y="2893555"/>
            <a:ext cx="368691" cy="4641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3830"/>
              </a:lnSpc>
            </a:pPr>
            <a:r>
              <a:rPr lang="en-US" sz="2880" dirty="0">
                <a:solidFill>
                  <a:srgbClr val="C084FC"/>
                </a:solidFill>
              </a:rPr>
              <a:t>→</a:t>
            </a:r>
            <a:endParaRPr lang="en-US" sz="2880" dirty="0"/>
          </a:p>
        </p:txBody>
      </p:sp>
      <p:sp>
        <p:nvSpPr>
          <p:cNvPr id="37" name="Text 11">
            <a:extLst>
              <a:ext uri="{FF2B5EF4-FFF2-40B4-BE49-F238E27FC236}">
                <a16:creationId xmlns:a16="http://schemas.microsoft.com/office/drawing/2014/main" id="{81DEDA01-78DC-310D-3F78-F39971899002}"/>
              </a:ext>
            </a:extLst>
          </p:cNvPr>
          <p:cNvSpPr/>
          <p:nvPr/>
        </p:nvSpPr>
        <p:spPr>
          <a:xfrm rot="5400000">
            <a:off x="10471595" y="2843190"/>
            <a:ext cx="368691" cy="4641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3830"/>
              </a:lnSpc>
            </a:pPr>
            <a:r>
              <a:rPr lang="en-US" sz="2880" dirty="0">
                <a:solidFill>
                  <a:srgbClr val="C084FC"/>
                </a:solidFill>
              </a:rPr>
              <a:t>→</a:t>
            </a:r>
            <a:endParaRPr lang="en-US" sz="2880" dirty="0"/>
          </a:p>
        </p:txBody>
      </p: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232F5910-D3D0-8E63-69C5-3A4020E82BB3}"/>
              </a:ext>
            </a:extLst>
          </p:cNvPr>
          <p:cNvGrpSpPr/>
          <p:nvPr/>
        </p:nvGrpSpPr>
        <p:grpSpPr>
          <a:xfrm>
            <a:off x="9592601" y="5622615"/>
            <a:ext cx="2331720" cy="762000"/>
            <a:chOff x="9250681" y="3657600"/>
            <a:chExt cx="2331720" cy="762000"/>
          </a:xfrm>
        </p:grpSpPr>
        <p:pic>
          <p:nvPicPr>
            <p:cNvPr id="43" name="Image 8" descr="https://test.web.static.jianzeppt.com/ppt-temp-img3/a7e01bfa645bb34c7368e883c4e093de.png">
              <a:extLst>
                <a:ext uri="{FF2B5EF4-FFF2-40B4-BE49-F238E27FC236}">
                  <a16:creationId xmlns:a16="http://schemas.microsoft.com/office/drawing/2014/main" id="{FD72DA4F-6149-FAA0-33AC-E073C01EDE4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250681" y="3657600"/>
              <a:ext cx="2331720" cy="762000"/>
            </a:xfrm>
            <a:prstGeom prst="rect">
              <a:avLst/>
            </a:prstGeom>
          </p:spPr>
        </p:pic>
        <p:sp>
          <p:nvSpPr>
            <p:cNvPr id="44" name="Text 14">
              <a:extLst>
                <a:ext uri="{FF2B5EF4-FFF2-40B4-BE49-F238E27FC236}">
                  <a16:creationId xmlns:a16="http://schemas.microsoft.com/office/drawing/2014/main" id="{E2D30785-ADD0-1199-312E-A4ACD88AEF73}"/>
                </a:ext>
              </a:extLst>
            </p:cNvPr>
            <p:cNvSpPr/>
            <p:nvPr/>
          </p:nvSpPr>
          <p:spPr>
            <a:xfrm>
              <a:off x="9403081" y="3810000"/>
              <a:ext cx="2041550" cy="23205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ts val="1915"/>
                </a:lnSpc>
              </a:pPr>
              <a:r>
                <a:rPr lang="zh-CN" altLang="en-US" sz="1440" dirty="0">
                  <a:solidFill>
                    <a:srgbClr val="581C87"/>
                  </a:solidFill>
                </a:rPr>
                <a:t>原因分析</a:t>
              </a:r>
              <a:r>
                <a:rPr lang="en-US" sz="1440" dirty="0">
                  <a:solidFill>
                    <a:srgbClr val="581C87"/>
                  </a:solidFill>
                </a:rPr>
                <a:t> (</a:t>
              </a:r>
              <a:r>
                <a:rPr lang="zh-CN" altLang="en-US" sz="1440" dirty="0">
                  <a:solidFill>
                    <a:srgbClr val="581C87"/>
                  </a:solidFill>
                </a:rPr>
                <a:t>结合现实情况</a:t>
              </a:r>
              <a:r>
                <a:rPr lang="en-US" sz="1440" dirty="0">
                  <a:solidFill>
                    <a:srgbClr val="581C87"/>
                  </a:solidFill>
                </a:rPr>
                <a:t>)</a:t>
              </a:r>
              <a:endParaRPr lang="en-US" sz="1440" dirty="0"/>
            </a:p>
          </p:txBody>
        </p:sp>
      </p:grpSp>
      <p:sp>
        <p:nvSpPr>
          <p:cNvPr id="48" name="Text 11">
            <a:extLst>
              <a:ext uri="{FF2B5EF4-FFF2-40B4-BE49-F238E27FC236}">
                <a16:creationId xmlns:a16="http://schemas.microsoft.com/office/drawing/2014/main" id="{F1765CF1-60F6-FBBC-E4C6-478126937493}"/>
              </a:ext>
            </a:extLst>
          </p:cNvPr>
          <p:cNvSpPr/>
          <p:nvPr/>
        </p:nvSpPr>
        <p:spPr>
          <a:xfrm rot="5400000">
            <a:off x="10476849" y="4743123"/>
            <a:ext cx="368691" cy="4641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3830"/>
              </a:lnSpc>
            </a:pPr>
            <a:r>
              <a:rPr lang="en-US" sz="2880" dirty="0">
                <a:solidFill>
                  <a:srgbClr val="C084FC"/>
                </a:solidFill>
              </a:rPr>
              <a:t>→</a:t>
            </a:r>
            <a:endParaRPr lang="en-US" sz="2880" dirty="0"/>
          </a:p>
        </p:txBody>
      </p:sp>
      <p:pic>
        <p:nvPicPr>
          <p:cNvPr id="14" name="Image 3" descr="https://oss.jianzeppt.com/editablePptPic/isIllustration_1_isShadow_0/18102cb5-5882-4151-ac19-4286f52a0323_image_90819cb7d4a6a1eecbd1ae23dec6207e_14123563.png">
            <a:extLst>
              <a:ext uri="{FF2B5EF4-FFF2-40B4-BE49-F238E27FC236}">
                <a16:creationId xmlns:a16="http://schemas.microsoft.com/office/drawing/2014/main" id="{E3D829D3-4D67-BC7D-FA6E-83BB8ED9A2E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9785719" y="194778"/>
            <a:ext cx="2288952" cy="901224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2_isShadow_0/68fe1269-8cc2-4116-97e6-2e27b97da75f_image_024f533a16df894d6710d6aaad9f47c2_141235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360" y="203042"/>
            <a:ext cx="82800" cy="896400"/>
          </a:xfrm>
          <a:prstGeom prst="rect">
            <a:avLst/>
          </a:prstGeom>
        </p:spPr>
      </p:pic>
      <p:pic>
        <p:nvPicPr>
          <p:cNvPr id="3" name="Image 1" descr="https://test.web.static.jianzeppt.com/ppt-temp-img3/dc14a6cd57f07efe0ce27a9f07a649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03271" y="3209684"/>
            <a:ext cx="579150" cy="579150"/>
          </a:xfrm>
          <a:prstGeom prst="rect">
            <a:avLst/>
          </a:prstGeom>
        </p:spPr>
      </p:pic>
      <p:pic>
        <p:nvPicPr>
          <p:cNvPr id="4" name="Image 2" descr="https://test.web.static.jianzeppt.com/ppt-temp-img3/b673e1698256611c4283e0bc2c2cf8a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5841" y="4713364"/>
            <a:ext cx="579150" cy="579150"/>
          </a:xfrm>
          <a:prstGeom prst="rect">
            <a:avLst/>
          </a:prstGeom>
        </p:spPr>
      </p:pic>
      <p:pic>
        <p:nvPicPr>
          <p:cNvPr id="5" name="Image 3" descr="https://test.web.static.jianzeppt.com/ppt-temp-img3/9dad981d45fe39183494eef3f52fd54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35841" y="1704947"/>
            <a:ext cx="579150" cy="579150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487680" y="438107"/>
            <a:ext cx="11231270" cy="423193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3322"/>
              </a:lnSpc>
            </a:pPr>
            <a:r>
              <a:rPr lang="en-US" sz="2768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OPPOSans"/>
              </a:rPr>
              <a:t>3.3 </a:t>
            </a:r>
            <a:r>
              <a:rPr lang="en-US" sz="2768" b="1" dirty="0" err="1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创新之处</a:t>
            </a:r>
            <a:endParaRPr lang="en-US" sz="2768" b="1" dirty="0">
              <a:solidFill>
                <a:srgbClr val="1E1E1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Text 1"/>
          <p:cNvSpPr/>
          <p:nvPr/>
        </p:nvSpPr>
        <p:spPr>
          <a:xfrm>
            <a:off x="3121317" y="3676751"/>
            <a:ext cx="7461187" cy="54989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184"/>
              </a:lnSpc>
            </a:pPr>
            <a:r>
              <a:rPr lang="en-US" sz="1680">
                <a:solidFill>
                  <a:srgbClr val="000000"/>
                </a:solidFill>
                <a:latin typeface="Source Han Sans CN Normal"/>
                <a:ea typeface="Source Han Sans CN Normal"/>
                <a:cs typeface="Source Han Sans CN Normal"/>
              </a:rPr>
              <a:t>结合风景园林专业视角，从空间体验、景观营造、活动策划等层面提出具体、可落地的优化方案。</a:t>
            </a:r>
            <a:endParaRPr lang="en-US" sz="1680"/>
          </a:p>
        </p:txBody>
      </p:sp>
      <p:sp>
        <p:nvSpPr>
          <p:cNvPr id="8" name="Text 2"/>
          <p:cNvSpPr/>
          <p:nvPr/>
        </p:nvSpPr>
        <p:spPr>
          <a:xfrm>
            <a:off x="2153130" y="2172015"/>
            <a:ext cx="7461187" cy="54989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184"/>
              </a:lnSpc>
            </a:pPr>
            <a:r>
              <a:rPr lang="en-US" sz="1680">
                <a:solidFill>
                  <a:srgbClr val="000000"/>
                </a:solidFill>
                <a:latin typeface="Source Han Sans CN Normal"/>
                <a:ea typeface="Source Han Sans CN Normal"/>
                <a:cs typeface="Source Han Sans CN Normal"/>
              </a:rPr>
              <a:t>引入“文化谱系”与“景点谱系”的对比分析框架，从“文化基因”与“市场表现”双重视角量化评估文旅融合度。</a:t>
            </a:r>
            <a:endParaRPr lang="en-US" sz="1680"/>
          </a:p>
        </p:txBody>
      </p:sp>
      <p:sp>
        <p:nvSpPr>
          <p:cNvPr id="9" name="Text 3"/>
          <p:cNvSpPr/>
          <p:nvPr/>
        </p:nvSpPr>
        <p:spPr>
          <a:xfrm>
            <a:off x="2151690" y="4727970"/>
            <a:ext cx="7464066" cy="3046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96"/>
              </a:lnSpc>
            </a:pPr>
            <a:r>
              <a:rPr lang="en-US" sz="1920" b="1">
                <a:solidFill>
                  <a:srgbClr val="000000"/>
                </a:solidFill>
                <a:latin typeface="OPPOSans"/>
                <a:ea typeface="OPPOSans"/>
                <a:cs typeface="OPPOSans"/>
              </a:rPr>
              <a:t>技术创新</a:t>
            </a:r>
            <a:endParaRPr lang="en-US" sz="1920"/>
          </a:p>
        </p:txBody>
      </p:sp>
      <p:sp>
        <p:nvSpPr>
          <p:cNvPr id="10" name="Text 4"/>
          <p:cNvSpPr/>
          <p:nvPr/>
        </p:nvSpPr>
        <p:spPr>
          <a:xfrm>
            <a:off x="2151690" y="1718495"/>
            <a:ext cx="7464066" cy="3046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96"/>
              </a:lnSpc>
            </a:pPr>
            <a:r>
              <a:rPr lang="en-US" sz="1920" b="1">
                <a:solidFill>
                  <a:srgbClr val="000000"/>
                </a:solidFill>
                <a:latin typeface="OPPOSans"/>
                <a:ea typeface="OPPOSans"/>
                <a:cs typeface="OPPOSans"/>
              </a:rPr>
              <a:t>方法创新</a:t>
            </a:r>
            <a:endParaRPr lang="en-US" sz="1920"/>
          </a:p>
        </p:txBody>
      </p:sp>
      <p:sp>
        <p:nvSpPr>
          <p:cNvPr id="11" name="Text 5"/>
          <p:cNvSpPr/>
          <p:nvPr/>
        </p:nvSpPr>
        <p:spPr>
          <a:xfrm>
            <a:off x="2153130" y="5181490"/>
            <a:ext cx="7461187" cy="54989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184"/>
              </a:lnSpc>
            </a:pPr>
            <a:r>
              <a:rPr lang="en-US" sz="1680" dirty="0" err="1">
                <a:solidFill>
                  <a:srgbClr val="000000"/>
                </a:solidFill>
                <a:latin typeface="Source Han Sans CN Normal"/>
                <a:ea typeface="Source Han Sans CN Normal"/>
                <a:cs typeface="Source Han Sans CN Normal"/>
              </a:rPr>
              <a:t>融合多元大数据与知识图谱技术，实现文化、空间、体验等多维度关联分析，揭示隐藏的融合模式</a:t>
            </a:r>
            <a:r>
              <a:rPr lang="en-US" sz="1680" dirty="0">
                <a:solidFill>
                  <a:srgbClr val="000000"/>
                </a:solidFill>
                <a:latin typeface="Source Han Sans CN Normal"/>
                <a:ea typeface="Source Han Sans CN Normal"/>
                <a:cs typeface="Source Han Sans CN Normal"/>
              </a:rPr>
              <a:t>。</a:t>
            </a:r>
            <a:endParaRPr lang="en-US" sz="1680" dirty="0"/>
          </a:p>
        </p:txBody>
      </p:sp>
      <p:sp>
        <p:nvSpPr>
          <p:cNvPr id="12" name="Text 6"/>
          <p:cNvSpPr/>
          <p:nvPr/>
        </p:nvSpPr>
        <p:spPr>
          <a:xfrm>
            <a:off x="3119879" y="3223232"/>
            <a:ext cx="7464066" cy="3046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96"/>
              </a:lnSpc>
            </a:pPr>
            <a:r>
              <a:rPr lang="en-US" sz="1920" b="1">
                <a:solidFill>
                  <a:srgbClr val="000000"/>
                </a:solidFill>
                <a:latin typeface="OPPOSans"/>
                <a:ea typeface="OPPOSans"/>
                <a:cs typeface="OPPOSans"/>
              </a:rPr>
              <a:t>视角创新</a:t>
            </a:r>
            <a:endParaRPr lang="en-US" sz="1920"/>
          </a:p>
        </p:txBody>
      </p:sp>
      <p:pic>
        <p:nvPicPr>
          <p:cNvPr id="14" name="Image 3" descr="https://oss.jianzeppt.com/editablePptPic/isIllustration_1_isShadow_0/18102cb5-5882-4151-ac19-4286f52a0323_image_90819cb7d4a6a1eecbd1ae23dec6207e_14123563.png">
            <a:extLst>
              <a:ext uri="{FF2B5EF4-FFF2-40B4-BE49-F238E27FC236}">
                <a16:creationId xmlns:a16="http://schemas.microsoft.com/office/drawing/2014/main" id="{95ADADB4-78EC-B67F-1C79-3E056DD3C6B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9785719" y="194778"/>
            <a:ext cx="2288952" cy="9012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9="http://schemas.microsoft.com/office/powerpoint/2015/09/main" xmlns:p15="http://schemas.microsoft.com/office/powerpoint/2012/main" xmlns:a14="http://schemas.microsoft.com/office/drawing/2010/main" xmlns:wp="http://schemas.openxmlformats.org/drawingml/2006/wordprocessingDrawing" xmlns:w="http://schemas.openxmlformats.org/wordprocessingml/2006/main" xmlns:m="http://schemas.openxmlformats.org/officeDocument/2006/math"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2_isShadow_0/68fe1269-8cc2-4116-97e6-2e27b97da75f_image_024f533a16df894d6710d6aaad9f47c2_141235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360" y="203042"/>
            <a:ext cx="82800" cy="896400"/>
          </a:xfrm>
          <a:prstGeom prst="rect">
            <a:avLst/>
          </a:prstGeom>
        </p:spPr>
      </p:pic>
      <p:pic>
        <p:nvPicPr>
          <p:cNvPr id="3" name="Image 1" descr="https://test.web.static.jianzeppt.com/ppt-temp-img3/70da9e0f22b9eba07f032322da50f42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2490" y="2074603"/>
            <a:ext cx="2767330" cy="3115194"/>
          </a:xfrm>
          <a:prstGeom prst="rect">
            <a:avLst/>
          </a:prstGeom>
        </p:spPr>
      </p:pic>
      <p:pic>
        <p:nvPicPr>
          <p:cNvPr id="4" name="Image 2" descr="https://test.web.static.jianzeppt.com/ppt-temp-img3/782bc462aca213f3e307162adf37edf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597" y="2577352"/>
            <a:ext cx="476726" cy="476426"/>
          </a:xfrm>
          <a:prstGeom prst="rect">
            <a:avLst/>
          </a:prstGeom>
        </p:spPr>
      </p:pic>
      <p:pic>
        <p:nvPicPr>
          <p:cNvPr id="5" name="Image 3" descr="https://test.web.static.jianzeppt.com/ppt-temp-img3/e4d24223dad5f59a0f5ce4f86ce1766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2397" y="2577352"/>
            <a:ext cx="476726" cy="476426"/>
          </a:xfrm>
          <a:prstGeom prst="rect">
            <a:avLst/>
          </a:prstGeom>
        </p:spPr>
      </p:pic>
      <p:pic>
        <p:nvPicPr>
          <p:cNvPr id="6" name="Image 4" descr="https://test.web.static.jianzeppt.com/ppt-temp-img3/62abade972d2ae60bdd8057f38c4daf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98387" y="2577352"/>
            <a:ext cx="476726" cy="476426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1701165" y="3481320"/>
            <a:ext cx="2110722" cy="3046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96"/>
              </a:lnSpc>
            </a:pPr>
            <a:r>
              <a:rPr lang="en-US" sz="1920" b="1">
                <a:solidFill>
                  <a:srgbClr val="000000"/>
                </a:solidFill>
                <a:latin typeface="OPPOSans"/>
                <a:ea typeface="OPPOSans"/>
                <a:cs typeface="OPPOSans"/>
              </a:rPr>
              <a:t>数据可行性</a:t>
            </a:r>
            <a:endParaRPr lang="en-US" sz="1920"/>
          </a:p>
        </p:txBody>
      </p:sp>
      <p:sp>
        <p:nvSpPr>
          <p:cNvPr id="8" name="Text 1"/>
          <p:cNvSpPr/>
          <p:nvPr/>
        </p:nvSpPr>
        <p:spPr>
          <a:xfrm>
            <a:off x="8405216" y="3935574"/>
            <a:ext cx="2110723" cy="9618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72"/>
              </a:lnSpc>
            </a:pPr>
            <a:r>
              <a:rPr lang="en-US" sz="1440" dirty="0" err="1">
                <a:solidFill>
                  <a:srgbClr val="333333"/>
                </a:solidFill>
                <a:latin typeface="Source Han Sans CN Normal"/>
                <a:ea typeface="Source Han Sans CN Normal"/>
                <a:cs typeface="Source Han Sans CN Normal"/>
              </a:rPr>
              <a:t>研究范围聚焦</a:t>
            </a:r>
            <a:r>
              <a:rPr lang="zh-CN" altLang="en-US" sz="1440" dirty="0">
                <a:solidFill>
                  <a:srgbClr val="333333"/>
                </a:solidFill>
                <a:latin typeface="Source Han Sans CN Normal"/>
                <a:ea typeface="Source Han Sans CN Normal"/>
                <a:cs typeface="Source Han Sans CN Normal"/>
              </a:rPr>
              <a:t>佛山市</a:t>
            </a:r>
            <a:r>
              <a:rPr lang="en-US" sz="1440" dirty="0" err="1">
                <a:solidFill>
                  <a:srgbClr val="333333"/>
                </a:solidFill>
                <a:latin typeface="Source Han Sans CN Normal"/>
                <a:ea typeface="Source Han Sans CN Normal"/>
                <a:cs typeface="Source Han Sans CN Normal"/>
              </a:rPr>
              <a:t>南海区，目标明确，技术路线清晰，工作量在本科毕业设计阶段可控</a:t>
            </a:r>
            <a:r>
              <a:rPr lang="en-US" sz="1440" dirty="0">
                <a:solidFill>
                  <a:srgbClr val="333333"/>
                </a:solidFill>
                <a:latin typeface="Source Han Sans CN Normal"/>
                <a:ea typeface="Source Han Sans CN Normal"/>
                <a:cs typeface="Source Han Sans CN Normal"/>
              </a:rPr>
              <a:t>。</a:t>
            </a:r>
            <a:endParaRPr lang="en-US" sz="1440" dirty="0"/>
          </a:p>
        </p:txBody>
      </p:sp>
      <p:sp>
        <p:nvSpPr>
          <p:cNvPr id="9" name="Text 2"/>
          <p:cNvSpPr/>
          <p:nvPr/>
        </p:nvSpPr>
        <p:spPr>
          <a:xfrm>
            <a:off x="5018049" y="3481320"/>
            <a:ext cx="2110722" cy="3046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96"/>
              </a:lnSpc>
            </a:pPr>
            <a:r>
              <a:rPr lang="en-US" sz="1920" b="1">
                <a:solidFill>
                  <a:srgbClr val="000000"/>
                </a:solidFill>
                <a:latin typeface="OPPOSans"/>
                <a:ea typeface="OPPOSans"/>
                <a:cs typeface="OPPOSans"/>
              </a:rPr>
              <a:t>技术可行性</a:t>
            </a:r>
            <a:endParaRPr lang="en-US" sz="1920"/>
          </a:p>
        </p:txBody>
      </p:sp>
      <p:sp>
        <p:nvSpPr>
          <p:cNvPr id="10" name="Text 3"/>
          <p:cNvSpPr/>
          <p:nvPr/>
        </p:nvSpPr>
        <p:spPr>
          <a:xfrm>
            <a:off x="1701165" y="3935573"/>
            <a:ext cx="2110723" cy="86190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726"/>
              </a:lnSpc>
            </a:pPr>
            <a:r>
              <a:rPr lang="en-US" sz="1328">
                <a:solidFill>
                  <a:srgbClr val="333333"/>
                </a:solidFill>
                <a:latin typeface="Source Han Sans CN Normal"/>
                <a:ea typeface="Source Han Sans CN Normal"/>
                <a:cs typeface="Source Han Sans CN Normal"/>
              </a:rPr>
              <a:t>数据来源明确，部分核心数据已获取（如43份典籍），其余可通过公开平台、API等合规方式获得。</a:t>
            </a:r>
            <a:endParaRPr lang="en-US" sz="1328"/>
          </a:p>
        </p:txBody>
      </p:sp>
      <p:sp>
        <p:nvSpPr>
          <p:cNvPr id="11" name="Text 4"/>
          <p:cNvSpPr/>
          <p:nvPr/>
        </p:nvSpPr>
        <p:spPr>
          <a:xfrm>
            <a:off x="5029544" y="3935573"/>
            <a:ext cx="2110723" cy="86190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726"/>
              </a:lnSpc>
            </a:pPr>
            <a:r>
              <a:rPr lang="en-US" sz="1328" dirty="0" err="1">
                <a:solidFill>
                  <a:srgbClr val="333333"/>
                </a:solidFill>
                <a:latin typeface="Source Han Sans CN Normal"/>
                <a:ea typeface="Source Han Sans CN Normal"/>
                <a:cs typeface="Source Han Sans CN Normal"/>
              </a:rPr>
              <a:t>所用方法与技术（Python</a:t>
            </a:r>
            <a:r>
              <a:rPr lang="en-US" sz="1328" dirty="0">
                <a:solidFill>
                  <a:srgbClr val="333333"/>
                </a:solidFill>
                <a:latin typeface="Source Han Sans CN Normal"/>
                <a:ea typeface="Source Han Sans CN Normal"/>
                <a:cs typeface="Source Han Sans CN Normal"/>
              </a:rPr>
              <a:t>, GIS, Neo4j）均有成熟研究基础和开源工具支持，已具备初步数据处理能力。</a:t>
            </a:r>
            <a:endParaRPr lang="en-US" sz="1328" dirty="0"/>
          </a:p>
        </p:txBody>
      </p:sp>
      <p:sp>
        <p:nvSpPr>
          <p:cNvPr id="12" name="Text 5"/>
          <p:cNvSpPr/>
          <p:nvPr/>
        </p:nvSpPr>
        <p:spPr>
          <a:xfrm>
            <a:off x="8382060" y="3481320"/>
            <a:ext cx="2110722" cy="3046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96"/>
              </a:lnSpc>
            </a:pPr>
            <a:r>
              <a:rPr lang="zh-CN" altLang="en-US" sz="1920" b="1" dirty="0">
                <a:solidFill>
                  <a:srgbClr val="000000"/>
                </a:solidFill>
                <a:latin typeface="OPPOSans"/>
                <a:ea typeface="OPPOSans"/>
                <a:cs typeface="OPPOSans"/>
              </a:rPr>
              <a:t>工作量</a:t>
            </a:r>
            <a:r>
              <a:rPr lang="en-US" sz="1920" b="1" dirty="0">
                <a:solidFill>
                  <a:srgbClr val="000000"/>
                </a:solidFill>
                <a:latin typeface="OPPOSans"/>
                <a:ea typeface="OPPOSans"/>
                <a:cs typeface="OPPOSans"/>
              </a:rPr>
              <a:t>可</a:t>
            </a:r>
            <a:r>
              <a:rPr lang="zh-CN" altLang="en-US" sz="1920" b="1" dirty="0">
                <a:solidFill>
                  <a:srgbClr val="000000"/>
                </a:solidFill>
                <a:latin typeface="OPPOSans"/>
                <a:ea typeface="OPPOSans"/>
                <a:cs typeface="OPPOSans"/>
              </a:rPr>
              <a:t>控</a:t>
            </a:r>
            <a:endParaRPr lang="en-US" sz="1920" dirty="0"/>
          </a:p>
        </p:txBody>
      </p:sp>
      <p:sp>
        <p:nvSpPr>
          <p:cNvPr id="13" name="Text 6"/>
          <p:cNvSpPr/>
          <p:nvPr/>
        </p:nvSpPr>
        <p:spPr>
          <a:xfrm>
            <a:off x="487680" y="438107"/>
            <a:ext cx="11231270" cy="423193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3322"/>
              </a:lnSpc>
            </a:pPr>
            <a:r>
              <a:rPr lang="en-US" sz="2768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OPPOSans"/>
              </a:rPr>
              <a:t>4.1 </a:t>
            </a:r>
            <a:r>
              <a:rPr lang="en-US" sz="2768" b="1" dirty="0" err="1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研究可行性分析</a:t>
            </a:r>
            <a:endParaRPr lang="en-US" sz="2768" b="1" dirty="0">
              <a:solidFill>
                <a:srgbClr val="1E1E1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5" name="Image 3" descr="https://oss.jianzeppt.com/editablePptPic/isIllustration_1_isShadow_0/18102cb5-5882-4151-ac19-4286f52a0323_image_90819cb7d4a6a1eecbd1ae23dec6207e_14123563.png">
            <a:extLst>
              <a:ext uri="{FF2B5EF4-FFF2-40B4-BE49-F238E27FC236}">
                <a16:creationId xmlns:a16="http://schemas.microsoft.com/office/drawing/2014/main" id="{62CAF191-4736-E819-032B-A0949569B37A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9785719" y="194778"/>
            <a:ext cx="2288952" cy="9012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9="http://schemas.microsoft.com/office/powerpoint/2015/09/main" xmlns:p15="http://schemas.microsoft.com/office/powerpoint/2012/main" xmlns:a14="http://schemas.microsoft.com/office/drawing/2010/main" xmlns:wp="http://schemas.openxmlformats.org/drawingml/2006/wordprocessingDrawing" xmlns:w="http://schemas.openxmlformats.org/wordprocessingml/2006/main" xmlns:m="http://schemas.openxmlformats.org/officeDocument/2006/math"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2" descr="https://test.web.static.jianzeppt.com/ppt-temp-img3/ce7421b5e1cf78edb5402ddae9294dd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781136"/>
            <a:ext cx="12446000" cy="3214378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C4666CA0-5EC8-EABB-884C-89B5C8C9F48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8502" y="589569"/>
            <a:ext cx="9563837" cy="3106321"/>
          </a:xfrm>
          <a:prstGeom prst="rect">
            <a:avLst/>
          </a:prstGeom>
        </p:spPr>
      </p:pic>
      <p:pic>
        <p:nvPicPr>
          <p:cNvPr id="5" name="Image 3" descr="https://test.web.static.jianzeppt.com/ppt-temp-img3/c3afa5a22bf1ba28eee95e86dd81bb8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612" y="3038418"/>
            <a:ext cx="742718" cy="742718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5312894" y="5287998"/>
            <a:ext cx="413624" cy="425078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3322"/>
              </a:lnSpc>
            </a:pPr>
            <a:r>
              <a:rPr lang="en-US" sz="2768" b="1" dirty="0">
                <a:solidFill>
                  <a:srgbClr val="5D0769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04</a:t>
            </a:r>
            <a:endParaRPr lang="en-US" sz="2768" dirty="0"/>
          </a:p>
        </p:txBody>
      </p:sp>
      <p:sp>
        <p:nvSpPr>
          <p:cNvPr id="8" name="Text 2"/>
          <p:cNvSpPr/>
          <p:nvPr/>
        </p:nvSpPr>
        <p:spPr>
          <a:xfrm>
            <a:off x="1534912" y="5445059"/>
            <a:ext cx="413624" cy="425078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3322"/>
              </a:lnSpc>
            </a:pPr>
            <a:r>
              <a:rPr lang="en-US" sz="2768" b="1" dirty="0">
                <a:solidFill>
                  <a:srgbClr val="5D0769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02</a:t>
            </a:r>
            <a:endParaRPr lang="en-US" sz="2768" dirty="0"/>
          </a:p>
        </p:txBody>
      </p:sp>
      <p:sp>
        <p:nvSpPr>
          <p:cNvPr id="9" name="Text 3"/>
          <p:cNvSpPr/>
          <p:nvPr/>
        </p:nvSpPr>
        <p:spPr>
          <a:xfrm>
            <a:off x="238634" y="4093149"/>
            <a:ext cx="413624" cy="425078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3322"/>
              </a:lnSpc>
            </a:pPr>
            <a:r>
              <a:rPr lang="en-US" sz="2768" b="1" dirty="0">
                <a:solidFill>
                  <a:srgbClr val="5D0769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01</a:t>
            </a:r>
            <a:endParaRPr lang="en-US" sz="2768" dirty="0"/>
          </a:p>
        </p:txBody>
      </p:sp>
      <p:sp>
        <p:nvSpPr>
          <p:cNvPr id="11" name="Text 5"/>
          <p:cNvSpPr/>
          <p:nvPr/>
        </p:nvSpPr>
        <p:spPr>
          <a:xfrm>
            <a:off x="506206" y="4481400"/>
            <a:ext cx="1935702" cy="54989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184"/>
              </a:lnSpc>
            </a:pPr>
            <a:r>
              <a:rPr lang="en-US" altLang="zh-CN" sz="1400" dirty="0" err="1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Normal"/>
              </a:rPr>
              <a:t>文献梳理与方案论证，完成开题报告与答辩</a:t>
            </a:r>
            <a:endParaRPr lang="en-US" altLang="zh-CN" sz="1400" dirty="0">
              <a:solidFill>
                <a:srgbClr val="1E1E1E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Source Han Sans CN Normal"/>
            </a:endParaRPr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72FBDC0E-A9F2-7E1E-E897-EEE0C284CB5E}"/>
              </a:ext>
            </a:extLst>
          </p:cNvPr>
          <p:cNvGrpSpPr/>
          <p:nvPr/>
        </p:nvGrpSpPr>
        <p:grpSpPr>
          <a:xfrm>
            <a:off x="3461444" y="3842708"/>
            <a:ext cx="2804742" cy="1328048"/>
            <a:chOff x="3596058" y="4023633"/>
            <a:chExt cx="2804742" cy="1328048"/>
          </a:xfrm>
        </p:grpSpPr>
        <p:sp>
          <p:nvSpPr>
            <p:cNvPr id="6" name="Text 0"/>
            <p:cNvSpPr/>
            <p:nvPr/>
          </p:nvSpPr>
          <p:spPr>
            <a:xfrm>
              <a:off x="3596058" y="4023633"/>
              <a:ext cx="413624" cy="425078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ts val="3322"/>
                </a:lnSpc>
              </a:pPr>
              <a:r>
                <a:rPr lang="en-US" sz="2768" b="1" dirty="0">
                  <a:solidFill>
                    <a:srgbClr val="5D0769"/>
                  </a:solidFill>
                  <a:latin typeface="Arial" pitchFamily="34" charset="0"/>
                  <a:ea typeface="Arial" pitchFamily="34" charset="0"/>
                  <a:cs typeface="Arial" pitchFamily="34" charset="0"/>
                </a:rPr>
                <a:t>03</a:t>
              </a:r>
              <a:endParaRPr lang="en-US" sz="2768" dirty="0"/>
            </a:p>
          </p:txBody>
        </p:sp>
        <p:sp>
          <p:nvSpPr>
            <p:cNvPr id="10" name="Text 4"/>
            <p:cNvSpPr/>
            <p:nvPr/>
          </p:nvSpPr>
          <p:spPr>
            <a:xfrm>
              <a:off x="4175099" y="4139516"/>
              <a:ext cx="1938483" cy="218008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ts val="1726"/>
                </a:lnSpc>
              </a:pPr>
              <a:r>
                <a:rPr lang="zh-CN" altLang="en-US" sz="1600" b="1" dirty="0">
                  <a:solidFill>
                    <a:srgbClr val="5D0769"/>
                  </a:solidFill>
                  <a:latin typeface="OPPOSans"/>
                  <a:ea typeface="OPPOSans"/>
                  <a:cs typeface="OPPOSans"/>
                </a:rPr>
                <a:t>数据清洗</a:t>
              </a:r>
              <a:endParaRPr lang="en-US" sz="1600" dirty="0"/>
            </a:p>
          </p:txBody>
        </p:sp>
        <p:sp>
          <p:nvSpPr>
            <p:cNvPr id="12" name="Text 6"/>
            <p:cNvSpPr/>
            <p:nvPr/>
          </p:nvSpPr>
          <p:spPr>
            <a:xfrm>
              <a:off x="4176539" y="4529468"/>
              <a:ext cx="2224261" cy="822213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ts val="2184"/>
                </a:lnSpc>
              </a:pPr>
              <a:r>
                <a:rPr lang="en-US" altLang="zh-CN" sz="1400" dirty="0" err="1">
                  <a:solidFill>
                    <a:srgbClr val="1E1E1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Source Han Sans CN Normal"/>
                </a:rPr>
                <a:t>文本清洗与标准化、地理数据统一、文化要素提取、关联关系建立</a:t>
              </a:r>
              <a:endParaRPr lang="en-US" altLang="zh-CN" sz="1400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Normal"/>
              </a:endParaRPr>
            </a:p>
          </p:txBody>
        </p:sp>
      </p:grpSp>
      <p:sp>
        <p:nvSpPr>
          <p:cNvPr id="13" name="Text 7"/>
          <p:cNvSpPr/>
          <p:nvPr/>
        </p:nvSpPr>
        <p:spPr>
          <a:xfrm>
            <a:off x="2239496" y="5869677"/>
            <a:ext cx="1935603" cy="82266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184"/>
              </a:lnSpc>
            </a:pPr>
            <a:r>
              <a:rPr lang="en-US" altLang="zh-CN" sz="1400" dirty="0" err="1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Normal"/>
              </a:rPr>
              <a:t>文化典籍OCR处理、平台数据爬取、空间数据收集，建立初步数据库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Text 8"/>
          <p:cNvSpPr/>
          <p:nvPr/>
        </p:nvSpPr>
        <p:spPr>
          <a:xfrm>
            <a:off x="5953009" y="5340528"/>
            <a:ext cx="1906403" cy="24474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038"/>
              </a:lnSpc>
            </a:pPr>
            <a:r>
              <a:rPr lang="zh-CN" altLang="en-US" sz="1600" b="1" dirty="0">
                <a:solidFill>
                  <a:srgbClr val="5D0769"/>
                </a:solidFill>
                <a:latin typeface="OPPOSans"/>
                <a:ea typeface="OPPOSans"/>
                <a:cs typeface="OPPOSans"/>
              </a:rPr>
              <a:t>核心分析</a:t>
            </a:r>
            <a:endParaRPr lang="en-US" sz="1600" dirty="0"/>
          </a:p>
        </p:txBody>
      </p:sp>
      <p:sp>
        <p:nvSpPr>
          <p:cNvPr id="15" name="Text 9"/>
          <p:cNvSpPr/>
          <p:nvPr/>
        </p:nvSpPr>
        <p:spPr>
          <a:xfrm>
            <a:off x="2160570" y="5532076"/>
            <a:ext cx="1906403" cy="24474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038"/>
              </a:lnSpc>
            </a:pPr>
            <a:r>
              <a:rPr lang="zh-CN" altLang="en-US" sz="1600" b="1" dirty="0">
                <a:solidFill>
                  <a:srgbClr val="5D0769"/>
                </a:solidFill>
                <a:latin typeface="OPPOSans"/>
                <a:ea typeface="OPPOSans"/>
                <a:cs typeface="OPPOSans"/>
              </a:rPr>
              <a:t>数据采集</a:t>
            </a:r>
            <a:endParaRPr lang="en-US" sz="1600" dirty="0"/>
          </a:p>
        </p:txBody>
      </p:sp>
      <p:sp>
        <p:nvSpPr>
          <p:cNvPr id="17" name="Text 11"/>
          <p:cNvSpPr/>
          <p:nvPr/>
        </p:nvSpPr>
        <p:spPr>
          <a:xfrm>
            <a:off x="5793319" y="4229257"/>
            <a:ext cx="1924579" cy="24474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038"/>
              </a:lnSpc>
            </a:pPr>
            <a:endParaRPr lang="en-US" sz="1568" dirty="0"/>
          </a:p>
        </p:txBody>
      </p:sp>
      <p:sp>
        <p:nvSpPr>
          <p:cNvPr id="18" name="Text 12"/>
          <p:cNvSpPr/>
          <p:nvPr/>
        </p:nvSpPr>
        <p:spPr>
          <a:xfrm>
            <a:off x="5954449" y="5743849"/>
            <a:ext cx="1935603" cy="111415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184"/>
              </a:lnSpc>
            </a:pPr>
            <a:r>
              <a:rPr lang="en-US" altLang="zh-CN" sz="1400" dirty="0" err="1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Normal"/>
              </a:rPr>
              <a:t>构建文化谱系与景点谱系、知识图谱可视化、空间分析，完成中期检查</a:t>
            </a:r>
            <a:endParaRPr lang="en-US" altLang="zh-CN" sz="1400" dirty="0">
              <a:solidFill>
                <a:srgbClr val="1E1E1E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Source Han Sans CN Normal"/>
            </a:endParaRPr>
          </a:p>
        </p:txBody>
      </p:sp>
      <p:sp>
        <p:nvSpPr>
          <p:cNvPr id="22" name="Text 1">
            <a:extLst>
              <a:ext uri="{FF2B5EF4-FFF2-40B4-BE49-F238E27FC236}">
                <a16:creationId xmlns:a16="http://schemas.microsoft.com/office/drawing/2014/main" id="{984BB54F-D468-59B5-5615-E3015320651E}"/>
              </a:ext>
            </a:extLst>
          </p:cNvPr>
          <p:cNvSpPr/>
          <p:nvPr/>
        </p:nvSpPr>
        <p:spPr>
          <a:xfrm>
            <a:off x="9355677" y="5516902"/>
            <a:ext cx="413624" cy="425078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3322"/>
              </a:lnSpc>
            </a:pPr>
            <a:r>
              <a:rPr lang="en-US" sz="2768" b="1" dirty="0">
                <a:solidFill>
                  <a:srgbClr val="5D0769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06</a:t>
            </a:r>
            <a:endParaRPr lang="en-US" sz="2768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5DC91FE2-4252-D052-79B4-2806E534F613}"/>
              </a:ext>
            </a:extLst>
          </p:cNvPr>
          <p:cNvSpPr txBox="1"/>
          <p:nvPr/>
        </p:nvSpPr>
        <p:spPr>
          <a:xfrm>
            <a:off x="9251488" y="5941980"/>
            <a:ext cx="2209800" cy="916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84"/>
              </a:lnSpc>
            </a:pPr>
            <a:r>
              <a:rPr lang="en-US" altLang="zh-CN" sz="1400" dirty="0" err="1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论文查重与抽检、修改完善、答辩准备与实施、项目归档</a:t>
            </a:r>
            <a:endParaRPr lang="en-US" altLang="zh-CN" sz="1400" dirty="0">
              <a:solidFill>
                <a:srgbClr val="1E1E1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Text 9">
            <a:extLst>
              <a:ext uri="{FF2B5EF4-FFF2-40B4-BE49-F238E27FC236}">
                <a16:creationId xmlns:a16="http://schemas.microsoft.com/office/drawing/2014/main" id="{01696C7C-A815-12D8-2B31-C4846BB34D70}"/>
              </a:ext>
            </a:extLst>
          </p:cNvPr>
          <p:cNvSpPr/>
          <p:nvPr/>
        </p:nvSpPr>
        <p:spPr>
          <a:xfrm>
            <a:off x="728060" y="4164064"/>
            <a:ext cx="1906403" cy="24474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038"/>
              </a:lnSpc>
            </a:pPr>
            <a:r>
              <a:rPr lang="zh-CN" altLang="en-US" sz="1600" b="1" dirty="0">
                <a:solidFill>
                  <a:srgbClr val="5D0769"/>
                </a:solidFill>
                <a:latin typeface="OPPOSans"/>
                <a:ea typeface="OPPOSans"/>
                <a:cs typeface="OPPOSans"/>
              </a:rPr>
              <a:t>开题</a:t>
            </a:r>
            <a:endParaRPr lang="en-US" sz="1600" b="1" dirty="0">
              <a:solidFill>
                <a:srgbClr val="5D0769"/>
              </a:solidFill>
              <a:latin typeface="OPPOSans"/>
              <a:ea typeface="OPPOSans"/>
              <a:cs typeface="OPPOSans"/>
            </a:endParaRPr>
          </a:p>
        </p:txBody>
      </p: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5D6EFBCD-CC18-D07E-6FD6-CE99A087F25B}"/>
              </a:ext>
            </a:extLst>
          </p:cNvPr>
          <p:cNvGrpSpPr/>
          <p:nvPr/>
        </p:nvGrpSpPr>
        <p:grpSpPr>
          <a:xfrm>
            <a:off x="7374018" y="4093149"/>
            <a:ext cx="2895878" cy="944257"/>
            <a:chOff x="7641493" y="3953643"/>
            <a:chExt cx="2895878" cy="944257"/>
          </a:xfrm>
        </p:grpSpPr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C83AE512-EFEF-4BE8-75C8-2BFDF0D23880}"/>
                </a:ext>
              </a:extLst>
            </p:cNvPr>
            <p:cNvSpPr txBox="1"/>
            <p:nvPr/>
          </p:nvSpPr>
          <p:spPr>
            <a:xfrm>
              <a:off x="8039077" y="4264009"/>
              <a:ext cx="2498294" cy="6338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2184"/>
                </a:lnSpc>
              </a:pPr>
              <a:r>
                <a:rPr lang="en-US" altLang="zh-CN" sz="1400" dirty="0" err="1">
                  <a:solidFill>
                    <a:srgbClr val="1E1E1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深化对比分析、完善可视化图表、设计方案、撰写论文初稿</a:t>
              </a:r>
              <a:endParaRPr lang="en-US" altLang="zh-CN" sz="1400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" name="Text 1">
              <a:extLst>
                <a:ext uri="{FF2B5EF4-FFF2-40B4-BE49-F238E27FC236}">
                  <a16:creationId xmlns:a16="http://schemas.microsoft.com/office/drawing/2014/main" id="{3E9FDA1F-F863-AD95-6414-FA28110E783C}"/>
                </a:ext>
              </a:extLst>
            </p:cNvPr>
            <p:cNvSpPr/>
            <p:nvPr/>
          </p:nvSpPr>
          <p:spPr>
            <a:xfrm>
              <a:off x="7641493" y="3953643"/>
              <a:ext cx="413624" cy="425078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ts val="3322"/>
                </a:lnSpc>
              </a:pPr>
              <a:r>
                <a:rPr lang="en-US" sz="2768" b="1" dirty="0">
                  <a:solidFill>
                    <a:srgbClr val="5D0769"/>
                  </a:solidFill>
                  <a:latin typeface="Arial" pitchFamily="34" charset="0"/>
                  <a:ea typeface="Arial" pitchFamily="34" charset="0"/>
                  <a:cs typeface="Arial" pitchFamily="34" charset="0"/>
                </a:rPr>
                <a:t>05</a:t>
              </a:r>
              <a:endParaRPr lang="en-US" sz="2768" dirty="0"/>
            </a:p>
          </p:txBody>
        </p:sp>
        <p:sp>
          <p:nvSpPr>
            <p:cNvPr id="26" name="Text 8">
              <a:extLst>
                <a:ext uri="{FF2B5EF4-FFF2-40B4-BE49-F238E27FC236}">
                  <a16:creationId xmlns:a16="http://schemas.microsoft.com/office/drawing/2014/main" id="{E1760DC9-D335-FF97-C69E-F21A0331B514}"/>
                </a:ext>
              </a:extLst>
            </p:cNvPr>
            <p:cNvSpPr/>
            <p:nvPr/>
          </p:nvSpPr>
          <p:spPr>
            <a:xfrm>
              <a:off x="8207722" y="4011130"/>
              <a:ext cx="1906403" cy="244747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ts val="2038"/>
                </a:lnSpc>
              </a:pPr>
              <a:r>
                <a:rPr lang="zh-CN" altLang="en-US" sz="1600" b="1" dirty="0">
                  <a:solidFill>
                    <a:srgbClr val="5D0769"/>
                  </a:solidFill>
                  <a:latin typeface="OPPOSans"/>
                  <a:ea typeface="OPPOSans"/>
                  <a:cs typeface="OPPOSans"/>
                </a:rPr>
                <a:t>论文撰写</a:t>
              </a:r>
              <a:endParaRPr lang="en-US" sz="1600" dirty="0"/>
            </a:p>
          </p:txBody>
        </p:sp>
      </p:grpSp>
      <p:sp>
        <p:nvSpPr>
          <p:cNvPr id="27" name="Text 8">
            <a:extLst>
              <a:ext uri="{FF2B5EF4-FFF2-40B4-BE49-F238E27FC236}">
                <a16:creationId xmlns:a16="http://schemas.microsoft.com/office/drawing/2014/main" id="{76CBE6D5-7648-64EC-05C1-8A29C4388119}"/>
              </a:ext>
            </a:extLst>
          </p:cNvPr>
          <p:cNvSpPr/>
          <p:nvPr/>
        </p:nvSpPr>
        <p:spPr>
          <a:xfrm>
            <a:off x="9873490" y="5613239"/>
            <a:ext cx="1906403" cy="24474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038"/>
              </a:lnSpc>
            </a:pPr>
            <a:r>
              <a:rPr lang="zh-CN" altLang="en-US" sz="1600" b="1" dirty="0">
                <a:solidFill>
                  <a:srgbClr val="5D0769"/>
                </a:solidFill>
                <a:latin typeface="OPPOSans"/>
                <a:ea typeface="OPPOSans"/>
                <a:cs typeface="OPPOSans"/>
              </a:rPr>
              <a:t>审核答辩</a:t>
            </a:r>
            <a:endParaRPr lang="en-US" sz="1600" dirty="0"/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E6B0CB6C-E9C1-057E-563B-5EC906706E9E}"/>
              </a:ext>
            </a:extLst>
          </p:cNvPr>
          <p:cNvCxnSpPr>
            <a:cxnSpLocks/>
          </p:cNvCxnSpPr>
          <p:nvPr/>
        </p:nvCxnSpPr>
        <p:spPr>
          <a:xfrm flipV="1">
            <a:off x="31612" y="5209913"/>
            <a:ext cx="11218450" cy="108058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" name="Image 0" descr="https://oss.jianzeppt.com/editablePptPic/isIllustration_2_isShadow_0/68fe1269-8cc2-4116-97e6-2e27b97da75f_image_024f533a16df894d6710d6aaad9f47c2_14123563.png">
            <a:extLst>
              <a:ext uri="{FF2B5EF4-FFF2-40B4-BE49-F238E27FC236}">
                <a16:creationId xmlns:a16="http://schemas.microsoft.com/office/drawing/2014/main" id="{FAC59FFD-4565-5A50-05F4-4783ABEFD1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5360" y="203042"/>
            <a:ext cx="82800" cy="896400"/>
          </a:xfrm>
          <a:prstGeom prst="rect">
            <a:avLst/>
          </a:prstGeom>
        </p:spPr>
      </p:pic>
      <p:sp>
        <p:nvSpPr>
          <p:cNvPr id="30" name="Text 6">
            <a:extLst>
              <a:ext uri="{FF2B5EF4-FFF2-40B4-BE49-F238E27FC236}">
                <a16:creationId xmlns:a16="http://schemas.microsoft.com/office/drawing/2014/main" id="{444D2A9A-8324-7F45-C0D1-68D686E16423}"/>
              </a:ext>
            </a:extLst>
          </p:cNvPr>
          <p:cNvSpPr/>
          <p:nvPr/>
        </p:nvSpPr>
        <p:spPr>
          <a:xfrm>
            <a:off x="487680" y="438107"/>
            <a:ext cx="11231270" cy="423193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3322"/>
              </a:lnSpc>
            </a:pPr>
            <a:r>
              <a:rPr lang="en-US" sz="2768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OPPOSans"/>
              </a:rPr>
              <a:t>4.2 </a:t>
            </a:r>
            <a:r>
              <a:rPr lang="zh-CN" altLang="en-US" sz="2768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OPPOSans"/>
              </a:rPr>
              <a:t>研究计划</a:t>
            </a:r>
            <a:endParaRPr lang="en-US" sz="2768" b="1" dirty="0">
              <a:solidFill>
                <a:srgbClr val="1E1E1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6" name="Image 3" descr="https://oss.jianzeppt.com/editablePptPic/isIllustration_1_isShadow_0/18102cb5-5882-4151-ac19-4286f52a0323_image_90819cb7d4a6a1eecbd1ae23dec6207e_14123563.png">
            <a:extLst>
              <a:ext uri="{FF2B5EF4-FFF2-40B4-BE49-F238E27FC236}">
                <a16:creationId xmlns:a16="http://schemas.microsoft.com/office/drawing/2014/main" id="{25239E92-7C96-1BDD-297A-6445CEF33BE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9785719" y="194778"/>
            <a:ext cx="2288952" cy="9012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p15="http://schemas.microsoft.com/office/powerpoint/2012/main" xmlns:p159="http://schemas.microsoft.com/office/powerpoint/2015/09/main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85FEC-B1E4-7DCE-1B06-4DBFE6557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517ABB24-DF7A-9914-880F-A02FEFD7F4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8534" y="3062760"/>
            <a:ext cx="6534227" cy="3768680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C5F1B4FB-CFCF-920E-DCFE-43BEE882AC5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5" t="13863" r="12537" b="9537"/>
          <a:stretch>
            <a:fillRect/>
          </a:stretch>
        </p:blipFill>
        <p:spPr>
          <a:xfrm>
            <a:off x="5739782" y="535794"/>
            <a:ext cx="4646807" cy="2683431"/>
          </a:xfrm>
          <a:prstGeom prst="rect">
            <a:avLst/>
          </a:prstGeom>
        </p:spPr>
      </p:pic>
      <p:pic>
        <p:nvPicPr>
          <p:cNvPr id="2" name="Image 0" descr="https://oss.jianzeppt.com/editablePptPic/isIllustration_2_isShadow_0/68fe1269-8cc2-4116-97e6-2e27b97da75f_image_024f533a16df894d6710d6aaad9f47c2_14123563.png">
            <a:extLst>
              <a:ext uri="{FF2B5EF4-FFF2-40B4-BE49-F238E27FC236}">
                <a16:creationId xmlns:a16="http://schemas.microsoft.com/office/drawing/2014/main" id="{83E90E11-27B6-406C-3755-9910A35C28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360" y="203042"/>
            <a:ext cx="82800" cy="896400"/>
          </a:xfrm>
          <a:prstGeom prst="rect">
            <a:avLst/>
          </a:prstGeom>
        </p:spPr>
      </p:pic>
      <p:sp>
        <p:nvSpPr>
          <p:cNvPr id="13" name="Text 6">
            <a:extLst>
              <a:ext uri="{FF2B5EF4-FFF2-40B4-BE49-F238E27FC236}">
                <a16:creationId xmlns:a16="http://schemas.microsoft.com/office/drawing/2014/main" id="{B5576B14-683B-E9E5-67EF-3988D8676218}"/>
              </a:ext>
            </a:extLst>
          </p:cNvPr>
          <p:cNvSpPr/>
          <p:nvPr/>
        </p:nvSpPr>
        <p:spPr>
          <a:xfrm>
            <a:off x="487680" y="438107"/>
            <a:ext cx="11231270" cy="423193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3322"/>
              </a:lnSpc>
            </a:pPr>
            <a:r>
              <a:rPr lang="en-US" altLang="zh-CN" sz="2768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OPPOSans"/>
              </a:rPr>
              <a:t>4.3 </a:t>
            </a:r>
            <a:r>
              <a:rPr lang="zh-CN" altLang="en-US" sz="2768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OPPOSans"/>
              </a:rPr>
              <a:t>当前</a:t>
            </a:r>
            <a:r>
              <a:rPr lang="en-US" sz="2768" b="1" dirty="0" err="1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OPPOSans"/>
              </a:rPr>
              <a:t>研究</a:t>
            </a:r>
            <a:r>
              <a:rPr lang="zh-CN" altLang="en-US" sz="2768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OPPOSans"/>
              </a:rPr>
              <a:t>进展</a:t>
            </a:r>
            <a:endParaRPr lang="en-US" sz="2768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98450845-B492-4C4F-1574-5A36AD937B33}"/>
              </a:ext>
            </a:extLst>
          </p:cNvPr>
          <p:cNvSpPr txBox="1"/>
          <p:nvPr/>
        </p:nvSpPr>
        <p:spPr>
          <a:xfrm>
            <a:off x="3134049" y="1198980"/>
            <a:ext cx="209644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数据整理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b="1" dirty="0"/>
          </a:p>
          <a:p>
            <a:r>
              <a:rPr lang="en-US" altLang="zh-CN" sz="1400" dirty="0"/>
              <a:t>OCR</a:t>
            </a:r>
            <a:r>
              <a:rPr lang="zh-CN" altLang="en-US" sz="1400" dirty="0"/>
              <a:t>技术将图片中的文字提取出来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71471693-BBB6-5FC6-1D96-2B32835EB50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5506" b="28363"/>
          <a:stretch>
            <a:fillRect/>
          </a:stretch>
        </p:blipFill>
        <p:spPr>
          <a:xfrm>
            <a:off x="137458" y="2243650"/>
            <a:ext cx="1885406" cy="2067093"/>
          </a:xfrm>
          <a:prstGeom prst="rect">
            <a:avLst/>
          </a:prstGeom>
        </p:spPr>
      </p:pic>
      <p:sp>
        <p:nvSpPr>
          <p:cNvPr id="17" name="文本框 16">
            <a:extLst>
              <a:ext uri="{FF2B5EF4-FFF2-40B4-BE49-F238E27FC236}">
                <a16:creationId xmlns:a16="http://schemas.microsoft.com/office/drawing/2014/main" id="{FC65D3FE-615B-E9C4-FF72-E6CF770D0B4F}"/>
              </a:ext>
            </a:extLst>
          </p:cNvPr>
          <p:cNvSpPr txBox="1"/>
          <p:nvPr/>
        </p:nvSpPr>
        <p:spPr>
          <a:xfrm>
            <a:off x="79022" y="1209881"/>
            <a:ext cx="209644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数据收集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b="1" dirty="0"/>
          </a:p>
          <a:p>
            <a:r>
              <a:rPr lang="zh-CN" altLang="en-US" sz="1400" dirty="0"/>
              <a:t>相关文化典籍资料 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3BB202C7-179F-6A73-8F87-EC3B472A8251}"/>
              </a:ext>
            </a:extLst>
          </p:cNvPr>
          <p:cNvSpPr txBox="1"/>
          <p:nvPr/>
        </p:nvSpPr>
        <p:spPr>
          <a:xfrm>
            <a:off x="5422018" y="280371"/>
            <a:ext cx="2096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知识图谱示例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139BA818-DD76-8E50-925B-19C102DC39D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1321" y="2243650"/>
            <a:ext cx="1727276" cy="2210277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E01AD0A8-A73F-76C7-E197-55395B5AB0F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680" y="4947100"/>
            <a:ext cx="3932397" cy="1491986"/>
          </a:xfrm>
          <a:prstGeom prst="rect">
            <a:avLst/>
          </a:prstGeom>
        </p:spPr>
      </p:pic>
      <p:pic>
        <p:nvPicPr>
          <p:cNvPr id="6" name="Image 3" descr="https://oss.jianzeppt.com/editablePptPic/isIllustration_1_isShadow_0/18102cb5-5882-4151-ac19-4286f52a0323_image_90819cb7d4a6a1eecbd1ae23dec6207e_14123563.png">
            <a:extLst>
              <a:ext uri="{FF2B5EF4-FFF2-40B4-BE49-F238E27FC236}">
                <a16:creationId xmlns:a16="http://schemas.microsoft.com/office/drawing/2014/main" id="{56C8D9A2-6E6D-BEF8-106B-22FDADFAA0C9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9785719" y="194778"/>
            <a:ext cx="2288952" cy="901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86884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9="http://schemas.microsoft.com/office/powerpoint/2015/09/main" xmlns:p15="http://schemas.microsoft.com/office/powerpoint/2012/main" xmlns:a14="http://schemas.microsoft.com/office/drawing/2010/main" xmlns:wp="http://schemas.openxmlformats.org/drawingml/2006/wordprocessingDrawing" xmlns:w="http://schemas.openxmlformats.org/wordprocessingml/2006/main" xmlns:m="http://schemas.openxmlformats.org/officeDocument/2006/math"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.web.static.jianzeppt.com/ppt-temp-img3/d893cf6e0c69a5aebb895e452fea6df2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99226" y="1736370"/>
            <a:ext cx="10993549" cy="1903302"/>
          </a:xfrm>
          <a:prstGeom prst="rect">
            <a:avLst/>
          </a:prstGeom>
        </p:spPr>
      </p:pic>
      <p:pic>
        <p:nvPicPr>
          <p:cNvPr id="3" name="Image 1" descr="https://test.web.static.jianzeppt.com/ppt-temp-img3/d0534efa41b1f51160faca16017f4421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599227" y="1736371"/>
            <a:ext cx="821803" cy="867934"/>
          </a:xfrm>
          <a:prstGeom prst="rect">
            <a:avLst/>
          </a:prstGeom>
        </p:spPr>
      </p:pic>
      <p:pic>
        <p:nvPicPr>
          <p:cNvPr id="4" name="Image 2" descr="https://test.web.static.jianzeppt.com/ppt-temp-img3/ea10a1b4d492c6cee0342316e7515b25.pn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10161778" y="3429000"/>
            <a:ext cx="1430995" cy="210672"/>
          </a:xfrm>
          <a:prstGeom prst="rect">
            <a:avLst/>
          </a:prstGeom>
        </p:spPr>
      </p:pic>
      <p:pic>
        <p:nvPicPr>
          <p:cNvPr id="5" name="Image 3" descr="https://oss.jianzeppt.com/editablePptPic/isIllustration_1_isShadow_0/18102cb5-5882-4151-ac19-4286f52a0323_image_90819cb7d4a6a1eecbd1ae23dec6207e_14123563.png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9073617" y="399619"/>
            <a:ext cx="2519157" cy="991862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1045853" y="2451374"/>
            <a:ext cx="10100294" cy="1231963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</a:lstStyle>
          <a:p>
            <a:pPr>
              <a:lnSpc>
                <a:spcPts val="4320"/>
              </a:lnSpc>
            </a:pPr>
            <a:r>
              <a:rPr lang="zh-CN" altLang="en-US" sz="5400" b="1" dirty="0">
                <a:solidFill>
                  <a:srgbClr val="66087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DejaVu Sans" pitchFamily="34" charset="-120"/>
              </a:rPr>
              <a:t>感</a:t>
            </a:r>
            <a:r>
              <a:rPr lang="en-US" sz="5400" b="1" dirty="0">
                <a:solidFill>
                  <a:srgbClr val="66087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DejaVu Sans" pitchFamily="34" charset="-120"/>
              </a:rPr>
              <a:t>谢</a:t>
            </a:r>
            <a:r>
              <a:rPr lang="zh-CN" altLang="en-US" sz="5400" b="1" dirty="0">
                <a:solidFill>
                  <a:srgbClr val="66087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DejaVu Sans" pitchFamily="34" charset="-120"/>
              </a:rPr>
              <a:t>倾听</a:t>
            </a:r>
            <a:endParaRPr lang="en-US" sz="5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Text 1"/>
          <p:cNvSpPr/>
          <p:nvPr/>
        </p:nvSpPr>
        <p:spPr>
          <a:xfrm>
            <a:off x="1053168" y="3865855"/>
            <a:ext cx="10100294" cy="124739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</a:lstStyle>
          <a:p>
            <a:pPr>
              <a:lnSpc>
                <a:spcPts val="2458"/>
              </a:lnSpc>
            </a:pPr>
            <a:endParaRPr lang="en-US" sz="2048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fade/>
      </p:transition>
    </mc:Choice>
    <mc1:Fallback xmlns:mc1="http://schemas.openxmlformats.org/markup-compatibility/2006" xmlns="">
      <p:transition spd="slow">
        <p:fade/>
      </p:transition>
    </mc1:Fallback>
  </mc:AlternateContent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875</TotalTime>
  <Words>718</Words>
  <Application>Microsoft Office PowerPoint</Application>
  <PresentationFormat>宽屏</PresentationFormat>
  <Paragraphs>180</Paragraphs>
  <Slides>14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1" baseType="lpstr">
      <vt:lpstr>OPPOSans</vt:lpstr>
      <vt:lpstr>Source Han Sans CN Normal</vt:lpstr>
      <vt:lpstr>等线</vt:lpstr>
      <vt:lpstr>等线 Light</vt:lpstr>
      <vt:lpstr>微软雅黑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帅 孟</dc:creator>
  <cp:lastModifiedBy>帅 孟</cp:lastModifiedBy>
  <cp:revision>93</cp:revision>
  <dcterms:created xsi:type="dcterms:W3CDTF">2026-01-04T14:20:42Z</dcterms:created>
  <dcterms:modified xsi:type="dcterms:W3CDTF">2026-01-06T10:41:20Z</dcterms:modified>
</cp:coreProperties>
</file>