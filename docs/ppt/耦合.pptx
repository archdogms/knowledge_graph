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2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"/>
  </p:notesMasterIdLst>
  <p:sldIdLst>
    <p:sldId id="259" r:id="rId2"/>
    <p:sldId id="262" r:id="rId3"/>
    <p:sldId id="265" r:id="rId4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33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0"/>
    <p:restoredTop sz="0"/>
  </p:normalViewPr>
  <p:slideViewPr>
    <p:cSldViewPr>
      <p:cViewPr>
        <p:scale>
          <a:sx n="125" d="100"/>
          <a:sy n="125" d="100"/>
        </p:scale>
        <p:origin x="1386" y="9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heme" Target="../theme/theme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" Target="../slides/slide1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20.xml"/><Relationship Id="rId18" Type="http://schemas.openxmlformats.org/officeDocument/2006/relationships/tags" Target="../tags/tag25.xml"/><Relationship Id="rId26" Type="http://schemas.openxmlformats.org/officeDocument/2006/relationships/tags" Target="../tags/tag33.xml"/><Relationship Id="rId39" Type="http://schemas.openxmlformats.org/officeDocument/2006/relationships/image" Target="../media/image3.png"/><Relationship Id="rId21" Type="http://schemas.openxmlformats.org/officeDocument/2006/relationships/tags" Target="../tags/tag28.xml"/><Relationship Id="rId34" Type="http://schemas.openxmlformats.org/officeDocument/2006/relationships/tags" Target="../tags/tag41.xml"/><Relationship Id="rId42" Type="http://schemas.openxmlformats.org/officeDocument/2006/relationships/image" Target="../media/image6.svg"/><Relationship Id="rId47" Type="http://schemas.openxmlformats.org/officeDocument/2006/relationships/image" Target="../media/image11.png"/><Relationship Id="rId50" Type="http://schemas.openxmlformats.org/officeDocument/2006/relationships/image" Target="../media/image14.svg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6" Type="http://schemas.openxmlformats.org/officeDocument/2006/relationships/tags" Target="../tags/tag23.xml"/><Relationship Id="rId29" Type="http://schemas.openxmlformats.org/officeDocument/2006/relationships/tags" Target="../tags/tag36.xml"/><Relationship Id="rId11" Type="http://schemas.openxmlformats.org/officeDocument/2006/relationships/tags" Target="../tags/tag18.xml"/><Relationship Id="rId24" Type="http://schemas.openxmlformats.org/officeDocument/2006/relationships/tags" Target="../tags/tag31.xml"/><Relationship Id="rId32" Type="http://schemas.openxmlformats.org/officeDocument/2006/relationships/tags" Target="../tags/tag39.xml"/><Relationship Id="rId37" Type="http://schemas.openxmlformats.org/officeDocument/2006/relationships/image" Target="../media/image1.png"/><Relationship Id="rId40" Type="http://schemas.openxmlformats.org/officeDocument/2006/relationships/image" Target="../media/image4.svg"/><Relationship Id="rId45" Type="http://schemas.openxmlformats.org/officeDocument/2006/relationships/image" Target="../media/image9.png"/><Relationship Id="rId5" Type="http://schemas.openxmlformats.org/officeDocument/2006/relationships/tags" Target="../tags/tag12.xml"/><Relationship Id="rId15" Type="http://schemas.openxmlformats.org/officeDocument/2006/relationships/tags" Target="../tags/tag22.xml"/><Relationship Id="rId23" Type="http://schemas.openxmlformats.org/officeDocument/2006/relationships/tags" Target="../tags/tag30.xml"/><Relationship Id="rId28" Type="http://schemas.openxmlformats.org/officeDocument/2006/relationships/tags" Target="../tags/tag35.xml"/><Relationship Id="rId36" Type="http://schemas.openxmlformats.org/officeDocument/2006/relationships/notesSlide" Target="../notesSlides/notesSlide1.xml"/><Relationship Id="rId49" Type="http://schemas.openxmlformats.org/officeDocument/2006/relationships/image" Target="../media/image13.png"/><Relationship Id="rId10" Type="http://schemas.openxmlformats.org/officeDocument/2006/relationships/tags" Target="../tags/tag17.xml"/><Relationship Id="rId19" Type="http://schemas.openxmlformats.org/officeDocument/2006/relationships/tags" Target="../tags/tag26.xml"/><Relationship Id="rId31" Type="http://schemas.openxmlformats.org/officeDocument/2006/relationships/tags" Target="../tags/tag38.xml"/><Relationship Id="rId44" Type="http://schemas.openxmlformats.org/officeDocument/2006/relationships/image" Target="../media/image8.svg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tags" Target="../tags/tag21.xml"/><Relationship Id="rId22" Type="http://schemas.openxmlformats.org/officeDocument/2006/relationships/tags" Target="../tags/tag29.xml"/><Relationship Id="rId27" Type="http://schemas.openxmlformats.org/officeDocument/2006/relationships/tags" Target="../tags/tag34.xml"/><Relationship Id="rId30" Type="http://schemas.openxmlformats.org/officeDocument/2006/relationships/tags" Target="../tags/tag37.xml"/><Relationship Id="rId35" Type="http://schemas.openxmlformats.org/officeDocument/2006/relationships/slideLayout" Target="../slideLayouts/slideLayout1.xml"/><Relationship Id="rId43" Type="http://schemas.openxmlformats.org/officeDocument/2006/relationships/image" Target="../media/image7.png"/><Relationship Id="rId48" Type="http://schemas.openxmlformats.org/officeDocument/2006/relationships/image" Target="../media/image12.svg"/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12" Type="http://schemas.openxmlformats.org/officeDocument/2006/relationships/tags" Target="../tags/tag19.xml"/><Relationship Id="rId17" Type="http://schemas.openxmlformats.org/officeDocument/2006/relationships/tags" Target="../tags/tag24.xml"/><Relationship Id="rId25" Type="http://schemas.openxmlformats.org/officeDocument/2006/relationships/tags" Target="../tags/tag32.xml"/><Relationship Id="rId33" Type="http://schemas.openxmlformats.org/officeDocument/2006/relationships/tags" Target="../tags/tag40.xml"/><Relationship Id="rId38" Type="http://schemas.openxmlformats.org/officeDocument/2006/relationships/image" Target="../media/image2.png"/><Relationship Id="rId46" Type="http://schemas.openxmlformats.org/officeDocument/2006/relationships/image" Target="../media/image10.svg"/><Relationship Id="rId20" Type="http://schemas.openxmlformats.org/officeDocument/2006/relationships/tags" Target="../tags/tag27.xml"/><Relationship Id="rId41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57.xml"/><Relationship Id="rId18" Type="http://schemas.openxmlformats.org/officeDocument/2006/relationships/tags" Target="../tags/tag62.xml"/><Relationship Id="rId26" Type="http://schemas.openxmlformats.org/officeDocument/2006/relationships/tags" Target="../tags/tag70.xml"/><Relationship Id="rId21" Type="http://schemas.openxmlformats.org/officeDocument/2006/relationships/tags" Target="../tags/tag65.xml"/><Relationship Id="rId34" Type="http://schemas.openxmlformats.org/officeDocument/2006/relationships/image" Target="../media/image17.png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5" Type="http://schemas.openxmlformats.org/officeDocument/2006/relationships/tags" Target="../tags/tag69.xml"/><Relationship Id="rId33" Type="http://schemas.openxmlformats.org/officeDocument/2006/relationships/image" Target="../media/image2.png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20" Type="http://schemas.openxmlformats.org/officeDocument/2006/relationships/tags" Target="../tags/tag64.xml"/><Relationship Id="rId29" Type="http://schemas.openxmlformats.org/officeDocument/2006/relationships/notesSlide" Target="../notesSlides/notesSlide2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24" Type="http://schemas.openxmlformats.org/officeDocument/2006/relationships/tags" Target="../tags/tag68.xml"/><Relationship Id="rId32" Type="http://schemas.openxmlformats.org/officeDocument/2006/relationships/image" Target="../media/image1.png"/><Relationship Id="rId37" Type="http://schemas.openxmlformats.org/officeDocument/2006/relationships/image" Target="../media/image20.png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23" Type="http://schemas.openxmlformats.org/officeDocument/2006/relationships/tags" Target="../tags/tag67.xml"/><Relationship Id="rId28" Type="http://schemas.openxmlformats.org/officeDocument/2006/relationships/slideLayout" Target="../slideLayouts/slideLayout1.xml"/><Relationship Id="rId36" Type="http://schemas.openxmlformats.org/officeDocument/2006/relationships/image" Target="../media/image19.png"/><Relationship Id="rId10" Type="http://schemas.openxmlformats.org/officeDocument/2006/relationships/tags" Target="../tags/tag54.xml"/><Relationship Id="rId19" Type="http://schemas.openxmlformats.org/officeDocument/2006/relationships/tags" Target="../tags/tag63.xml"/><Relationship Id="rId31" Type="http://schemas.openxmlformats.org/officeDocument/2006/relationships/image" Target="../media/image16.svg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Relationship Id="rId22" Type="http://schemas.openxmlformats.org/officeDocument/2006/relationships/tags" Target="../tags/tag66.xml"/><Relationship Id="rId27" Type="http://schemas.openxmlformats.org/officeDocument/2006/relationships/tags" Target="../tags/tag71.xml"/><Relationship Id="rId30" Type="http://schemas.openxmlformats.org/officeDocument/2006/relationships/image" Target="../media/image15.png"/><Relationship Id="rId35" Type="http://schemas.openxmlformats.org/officeDocument/2006/relationships/image" Target="../media/image18.svg"/><Relationship Id="rId8" Type="http://schemas.openxmlformats.org/officeDocument/2006/relationships/tags" Target="../tags/tag52.xml"/><Relationship Id="rId3" Type="http://schemas.openxmlformats.org/officeDocument/2006/relationships/tags" Target="../tags/tag4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3.png"/><Relationship Id="rId3" Type="http://schemas.openxmlformats.org/officeDocument/2006/relationships/tags" Target="../tags/tag77.xml"/><Relationship Id="rId7" Type="http://schemas.openxmlformats.org/officeDocument/2006/relationships/image" Target="../media/image15.png"/><Relationship Id="rId12" Type="http://schemas.openxmlformats.org/officeDocument/2006/relationships/image" Target="../media/image22.pn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3.xml"/><Relationship Id="rId11" Type="http://schemas.openxmlformats.org/officeDocument/2006/relationships/image" Target="../media/image21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.png"/><Relationship Id="rId4" Type="http://schemas.openxmlformats.org/officeDocument/2006/relationships/tags" Target="../tags/tag78.xml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210BB6B-7977-E68B-5561-881E6D45CAE3}"/>
              </a:ext>
            </a:extLst>
          </p:cNvPr>
          <p:cNvSpPr/>
          <p:nvPr/>
        </p:nvSpPr>
        <p:spPr>
          <a:xfrm>
            <a:off x="577275" y="1620952"/>
            <a:ext cx="2789857" cy="583372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Image 0" descr="https://oss.jianzeppt.com/editablePptPic/isIllustration_2_isShadow_0/9ea67713-3cac-4e24-9bbb-8def3fccddca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72" name="组合 71"/>
          <p:cNvGrpSpPr/>
          <p:nvPr>
            <p:custDataLst>
              <p:tags r:id="rId3"/>
            </p:custDataLst>
          </p:nvPr>
        </p:nvGrpSpPr>
        <p:grpSpPr>
          <a:xfrm>
            <a:off x="5510992" y="959050"/>
            <a:ext cx="3524964" cy="518415"/>
            <a:chOff x="200685" y="-795096"/>
            <a:chExt cx="5303520" cy="1676400"/>
          </a:xfrm>
        </p:grpSpPr>
        <p:pic>
          <p:nvPicPr>
            <p:cNvPr id="73" name="Image 6" descr="TEMP_Z_ORDER_11"/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00685" y="-795096"/>
              <a:ext cx="5303520" cy="1676400"/>
            </a:xfrm>
            <a:prstGeom prst="rect">
              <a:avLst/>
            </a:prstGeom>
          </p:spPr>
        </p:pic>
        <p:sp>
          <p:nvSpPr>
            <p:cNvPr id="74" name="Text 5" descr="TEMP_Z_ORDER_12"/>
            <p:cNvSpPr/>
            <p:nvPr>
              <p:custDataLst>
                <p:tags r:id="rId34"/>
              </p:custDataLst>
            </p:nvPr>
          </p:nvSpPr>
          <p:spPr>
            <a:xfrm>
              <a:off x="1394770" y="-267038"/>
              <a:ext cx="2910054" cy="5066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8084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个</a:t>
              </a:r>
              <a:r>
                <a:rPr lang="en-US" sz="1600" dirty="0" err="1">
                  <a:solidFill>
                    <a:srgbClr val="1F29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知识图谱实体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/>
          <p:cNvGrpSpPr/>
          <p:nvPr>
            <p:custDataLst>
              <p:tags r:id="rId4"/>
            </p:custDataLst>
          </p:nvPr>
        </p:nvGrpSpPr>
        <p:grpSpPr>
          <a:xfrm>
            <a:off x="685800" y="4294966"/>
            <a:ext cx="6324600" cy="1877234"/>
            <a:chOff x="-635000" y="-635000"/>
            <a:chExt cx="6324600" cy="1877234"/>
          </a:xfrm>
        </p:grpSpPr>
        <p:pic>
          <p:nvPicPr>
            <p:cNvPr id="92" name="Image 10" descr="TEMP_Z_ORDER_25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6324600" cy="1877234"/>
            </a:xfrm>
            <a:prstGeom prst="rect">
              <a:avLst/>
            </a:prstGeom>
          </p:spPr>
        </p:pic>
        <p:sp>
          <p:nvSpPr>
            <p:cNvPr id="93" name="Text 15" descr="TEMP_Z_ORDER_26"/>
            <p:cNvSpPr/>
            <p:nvPr>
              <p:custDataLst>
                <p:tags r:id="rId20"/>
              </p:custDataLst>
            </p:nvPr>
          </p:nvSpPr>
          <p:spPr>
            <a:xfrm>
              <a:off x="-452120" y="-452120"/>
              <a:ext cx="5967984" cy="27429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2231"/>
                </a:lnSpc>
                <a:buNone/>
              </a:pPr>
              <a:r>
                <a:rPr lang="en-US" sz="15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名称清洗示例</a:t>
              </a:r>
              <a:endParaRPr lang="en-US" sz="1560"/>
            </a:p>
          </p:txBody>
        </p:sp>
        <p:pic>
          <p:nvPicPr>
            <p:cNvPr id="94" name="Image 11" descr="TEMP_Z_ORDER_27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452120" y="-25400"/>
              <a:ext cx="5958840" cy="365760"/>
            </a:xfrm>
            <a:prstGeom prst="rect">
              <a:avLst/>
            </a:prstGeom>
          </p:spPr>
        </p:pic>
        <p:sp>
          <p:nvSpPr>
            <p:cNvPr id="95" name="Text 16" descr="TEMP_Z_ORDER_28"/>
            <p:cNvSpPr/>
            <p:nvPr>
              <p:custDataLst>
                <p:tags r:id="rId22"/>
              </p:custDataLst>
            </p:nvPr>
          </p:nvSpPr>
          <p:spPr>
            <a:xfrm>
              <a:off x="-391160" y="35560"/>
              <a:ext cx="1475105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狮舞（广东醒狮）</a:t>
              </a:r>
              <a:endParaRPr lang="en-US" sz="1440"/>
            </a:p>
          </p:txBody>
        </p:sp>
        <p:sp>
          <p:nvSpPr>
            <p:cNvPr id="96" name="Text 17" descr="TEMP_Z_ORDER_29"/>
            <p:cNvSpPr/>
            <p:nvPr>
              <p:custDataLst>
                <p:tags r:id="rId23"/>
              </p:custDataLst>
            </p:nvPr>
          </p:nvSpPr>
          <p:spPr>
            <a:xfrm>
              <a:off x="2062480" y="35560"/>
              <a:ext cx="155527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→</a:t>
              </a:r>
              <a:endParaRPr lang="en-US" sz="1440"/>
            </a:p>
          </p:txBody>
        </p:sp>
        <p:sp>
          <p:nvSpPr>
            <p:cNvPr id="97" name="Text 18" descr="TEMP_Z_ORDER_30"/>
            <p:cNvSpPr/>
            <p:nvPr>
              <p:custDataLst>
                <p:tags r:id="rId24"/>
              </p:custDataLst>
            </p:nvPr>
          </p:nvSpPr>
          <p:spPr>
            <a:xfrm>
              <a:off x="2336800" y="35560"/>
              <a:ext cx="921941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狮舞、醒狮</a:t>
              </a:r>
              <a:endParaRPr lang="en-US" sz="1440"/>
            </a:p>
          </p:txBody>
        </p:sp>
        <p:pic>
          <p:nvPicPr>
            <p:cNvPr id="98" name="Image 12" descr="TEMP_Z_ORDER_31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452120" y="401320"/>
              <a:ext cx="5958840" cy="365760"/>
            </a:xfrm>
            <a:prstGeom prst="rect">
              <a:avLst/>
            </a:prstGeom>
          </p:spPr>
        </p:pic>
        <p:sp>
          <p:nvSpPr>
            <p:cNvPr id="99" name="Text 19" descr="TEMP_Z_ORDER_32"/>
            <p:cNvSpPr/>
            <p:nvPr>
              <p:custDataLst>
                <p:tags r:id="rId26"/>
              </p:custDataLst>
            </p:nvPr>
          </p:nvSpPr>
          <p:spPr>
            <a:xfrm>
              <a:off x="-391160" y="462280"/>
              <a:ext cx="1659493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九江双蒸酒酿制技艺</a:t>
              </a:r>
              <a:endParaRPr lang="en-US" sz="1440"/>
            </a:p>
          </p:txBody>
        </p:sp>
        <p:sp>
          <p:nvSpPr>
            <p:cNvPr id="100" name="Text 20" descr="TEMP_Z_ORDER_33"/>
            <p:cNvSpPr/>
            <p:nvPr>
              <p:custDataLst>
                <p:tags r:id="rId27"/>
              </p:custDataLst>
            </p:nvPr>
          </p:nvSpPr>
          <p:spPr>
            <a:xfrm>
              <a:off x="2062480" y="462280"/>
              <a:ext cx="155527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→</a:t>
              </a:r>
              <a:endParaRPr lang="en-US" sz="1440"/>
            </a:p>
          </p:txBody>
        </p:sp>
        <p:sp>
          <p:nvSpPr>
            <p:cNvPr id="101" name="Text 21" descr="TEMP_Z_ORDER_34"/>
            <p:cNvSpPr/>
            <p:nvPr>
              <p:custDataLst>
                <p:tags r:id="rId28"/>
              </p:custDataLst>
            </p:nvPr>
          </p:nvSpPr>
          <p:spPr>
            <a:xfrm>
              <a:off x="2336800" y="46228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双蒸酒</a:t>
              </a:r>
              <a:endParaRPr lang="en-US" sz="1440"/>
            </a:p>
          </p:txBody>
        </p:sp>
        <p:pic>
          <p:nvPicPr>
            <p:cNvPr id="102" name="Image 13" descr="TEMP_Z_ORDER_35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-452120" y="828040"/>
              <a:ext cx="5958840" cy="365760"/>
            </a:xfrm>
            <a:prstGeom prst="rect">
              <a:avLst/>
            </a:prstGeom>
          </p:spPr>
        </p:pic>
        <p:sp>
          <p:nvSpPr>
            <p:cNvPr id="103" name="Text 22" descr="TEMP_Z_ORDER_36"/>
            <p:cNvSpPr/>
            <p:nvPr>
              <p:custDataLst>
                <p:tags r:id="rId30"/>
              </p:custDataLst>
            </p:nvPr>
          </p:nvSpPr>
          <p:spPr>
            <a:xfrm>
              <a:off x="-391160" y="889000"/>
              <a:ext cx="1106329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4B5563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松塘村孔子诞</a:t>
              </a:r>
              <a:endParaRPr lang="en-US" sz="1440"/>
            </a:p>
          </p:txBody>
        </p:sp>
        <p:sp>
          <p:nvSpPr>
            <p:cNvPr id="104" name="Text 23" descr="TEMP_Z_ORDER_37"/>
            <p:cNvSpPr/>
            <p:nvPr>
              <p:custDataLst>
                <p:tags r:id="rId31"/>
              </p:custDataLst>
            </p:nvPr>
          </p:nvSpPr>
          <p:spPr>
            <a:xfrm>
              <a:off x="2062480" y="889000"/>
              <a:ext cx="155527" cy="24077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73788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→</a:t>
              </a:r>
              <a:endParaRPr lang="en-US" sz="1440"/>
            </a:p>
          </p:txBody>
        </p:sp>
        <p:sp>
          <p:nvSpPr>
            <p:cNvPr id="105" name="Text 24" descr="TEMP_Z_ORDER_38"/>
            <p:cNvSpPr/>
            <p:nvPr>
              <p:custDataLst>
                <p:tags r:id="rId32"/>
              </p:custDataLst>
            </p:nvPr>
          </p:nvSpPr>
          <p:spPr>
            <a:xfrm>
              <a:off x="2336800" y="889000"/>
              <a:ext cx="553164" cy="240881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孔子诞</a:t>
              </a:r>
              <a:endParaRPr lang="en-US" sz="1440"/>
            </a:p>
          </p:txBody>
        </p:sp>
      </p:grpSp>
      <p:grpSp>
        <p:nvGrpSpPr>
          <p:cNvPr id="52" name="组合 51"/>
          <p:cNvGrpSpPr/>
          <p:nvPr>
            <p:custDataLst>
              <p:tags r:id="rId5"/>
            </p:custDataLst>
          </p:nvPr>
        </p:nvGrpSpPr>
        <p:grpSpPr>
          <a:xfrm>
            <a:off x="7193280" y="4294965"/>
            <a:ext cx="4465320" cy="911337"/>
            <a:chOff x="-635000" y="-635000"/>
            <a:chExt cx="4465320" cy="777240"/>
          </a:xfrm>
        </p:grpSpPr>
        <p:pic>
          <p:nvPicPr>
            <p:cNvPr id="53" name="Image 15" descr="TEMP_Z_ORDER_43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4465320" cy="777240"/>
            </a:xfrm>
            <a:prstGeom prst="rect">
              <a:avLst/>
            </a:prstGeom>
          </p:spPr>
        </p:pic>
        <p:sp>
          <p:nvSpPr>
            <p:cNvPr id="54" name="Text 28" descr="TEMP_Z_ORDER_44"/>
            <p:cNvSpPr/>
            <p:nvPr>
              <p:custDataLst>
                <p:tags r:id="rId18"/>
              </p:custDataLst>
            </p:nvPr>
          </p:nvSpPr>
          <p:spPr>
            <a:xfrm>
              <a:off x="-497840" y="-497840"/>
              <a:ext cx="4200144" cy="61214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 dirty="0" err="1">
                  <a:solidFill>
                    <a:srgbClr val="991B1B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匹配规则</a:t>
              </a:r>
              <a:endParaRPr lang="en-US" sz="1440" dirty="0">
                <a:solidFill>
                  <a:srgbClr val="991B1B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endParaRPr>
            </a:p>
            <a:p>
              <a:pPr>
                <a:lnSpc>
                  <a:spcPts val="1915"/>
                </a:lnSpc>
              </a:pPr>
              <a:r>
                <a:rPr lang="en-US" altLang="zh-CN" sz="1440" dirty="0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name </a:t>
              </a:r>
              <a:r>
                <a:rPr lang="en-US" altLang="zh-CN" sz="1440" dirty="0" err="1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包含匹配</a:t>
              </a:r>
              <a:r>
                <a:rPr lang="en-US" altLang="zh-CN" sz="1440" dirty="0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——</a:t>
              </a:r>
              <a:r>
                <a:rPr lang="en-US" altLang="zh-CN" sz="1440" dirty="0" err="1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非遗关键词出现在实体</a:t>
              </a:r>
              <a:r>
                <a:rPr lang="en-US" altLang="zh-CN" sz="1440" dirty="0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/</a:t>
              </a:r>
              <a:r>
                <a:rPr lang="en-US" altLang="zh-CN" sz="1440" dirty="0" err="1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POI名称中</a:t>
              </a:r>
              <a:r>
                <a:rPr lang="en-US" altLang="zh-CN" sz="1440" dirty="0">
                  <a:solidFill>
                    <a:srgbClr val="B91C1C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。</a:t>
              </a:r>
              <a:endParaRPr lang="en-US" altLang="zh-CN" sz="1440" dirty="0"/>
            </a:p>
          </p:txBody>
        </p:sp>
      </p:grpSp>
      <p:grpSp>
        <p:nvGrpSpPr>
          <p:cNvPr id="55" name="组合 54"/>
          <p:cNvGrpSpPr/>
          <p:nvPr>
            <p:custDataLst>
              <p:tags r:id="rId6"/>
            </p:custDataLst>
          </p:nvPr>
        </p:nvGrpSpPr>
        <p:grpSpPr>
          <a:xfrm>
            <a:off x="7214475" y="4915364"/>
            <a:ext cx="4596524" cy="1516045"/>
            <a:chOff x="-715453" y="-635000"/>
            <a:chExt cx="4596524" cy="1516045"/>
          </a:xfrm>
        </p:grpSpPr>
        <p:sp>
          <p:nvSpPr>
            <p:cNvPr id="56" name="Text 29" descr="TEMP_Z_ORDER_45"/>
            <p:cNvSpPr/>
            <p:nvPr>
              <p:custDataLst>
                <p:tags r:id="rId14"/>
              </p:custDataLst>
            </p:nvPr>
          </p:nvSpPr>
          <p:spPr>
            <a:xfrm>
              <a:off x="-497840" y="-635000"/>
              <a:ext cx="4200144" cy="23147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endParaRPr lang="en-US" sz="1440" dirty="0"/>
            </a:p>
          </p:txBody>
        </p:sp>
        <p:pic>
          <p:nvPicPr>
            <p:cNvPr id="57" name="Image 16" descr="TEMP_Z_ORDER_4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-715453" y="119045"/>
              <a:ext cx="4596524" cy="762000"/>
            </a:xfrm>
            <a:prstGeom prst="rect">
              <a:avLst/>
            </a:prstGeom>
          </p:spPr>
        </p:pic>
        <p:sp>
          <p:nvSpPr>
            <p:cNvPr id="59" name="Text 31" descr="TEMP_Z_ORDER_48"/>
            <p:cNvSpPr/>
            <p:nvPr>
              <p:custDataLst>
                <p:tags r:id="rId16"/>
              </p:custDataLst>
            </p:nvPr>
          </p:nvSpPr>
          <p:spPr>
            <a:xfrm>
              <a:off x="-594845" y="355146"/>
              <a:ext cx="4394153" cy="23044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1915"/>
                </a:lnSpc>
                <a:buNone/>
              </a:pPr>
              <a:r>
                <a:rPr lang="en-US" sz="1440" dirty="0" err="1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非遗名录是连接「文献记忆」与「空间载体」的桥梁</a:t>
              </a:r>
              <a:r>
                <a:rPr lang="en-US" sz="1440" dirty="0">
                  <a:solidFill>
                    <a:srgbClr val="FFFFFF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。</a:t>
              </a:r>
              <a:endParaRPr lang="en-US" sz="1440" dirty="0"/>
            </a:p>
          </p:txBody>
        </p:sp>
      </p:grpSp>
      <p:sp>
        <p:nvSpPr>
          <p:cNvPr id="51" name="Text 32"/>
          <p:cNvSpPr/>
          <p:nvPr>
            <p:custDataLst>
              <p:tags r:id="rId7"/>
            </p:custDataLst>
          </p:nvPr>
        </p:nvSpPr>
        <p:spPr>
          <a:xfrm>
            <a:off x="487680" y="371515"/>
            <a:ext cx="2895600" cy="4247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1.1 </a:t>
            </a:r>
            <a:r>
              <a:rPr lang="zh-CN" altLang="en-US" sz="2760" b="1" dirty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非遗名录耦合</a:t>
            </a:r>
            <a:endParaRPr lang="en-US" sz="276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8F1940-7702-EF53-889F-27A8E4B81D3D}"/>
              </a:ext>
            </a:extLst>
          </p:cNvPr>
          <p:cNvSpPr txBox="1"/>
          <p:nvPr/>
        </p:nvSpPr>
        <p:spPr>
          <a:xfrm>
            <a:off x="829895" y="1747858"/>
            <a:ext cx="238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南海区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项非遗名录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99F4AB-60C6-6717-F6B4-06FB53EC833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5509232" y="2357858"/>
            <a:ext cx="3524964" cy="457200"/>
            <a:chOff x="200685" y="-795096"/>
            <a:chExt cx="5303520" cy="1676400"/>
          </a:xfrm>
        </p:grpSpPr>
        <p:pic>
          <p:nvPicPr>
            <p:cNvPr id="7" name="Image 6" descr="TEMP_Z_ORDER_11">
              <a:extLst>
                <a:ext uri="{FF2B5EF4-FFF2-40B4-BE49-F238E27FC236}">
                  <a16:creationId xmlns:a16="http://schemas.microsoft.com/office/drawing/2014/main" id="{3C07EDB9-47C9-C20F-6715-47DAE12DAA38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00685" y="-795096"/>
              <a:ext cx="5303520" cy="1676400"/>
            </a:xfrm>
            <a:prstGeom prst="rect">
              <a:avLst/>
            </a:prstGeom>
          </p:spPr>
        </p:pic>
        <p:sp>
          <p:nvSpPr>
            <p:cNvPr id="8" name="Text 5" descr="TEMP_Z_ORDER_12">
              <a:extLst>
                <a:ext uri="{FF2B5EF4-FFF2-40B4-BE49-F238E27FC236}">
                  <a16:creationId xmlns:a16="http://schemas.microsoft.com/office/drawing/2014/main" id="{6D61FB67-5ABD-C8DE-3B6E-FCDB1477523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394769" y="-267038"/>
              <a:ext cx="3202412" cy="50661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231"/>
                </a:lnSpc>
                <a:buNone/>
              </a:pPr>
              <a:r>
                <a:rPr lang="en-US" altLang="zh-CN" sz="16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13532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条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POI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思源黑体 CN" pitchFamily="34" charset="-120"/>
                </a:rPr>
                <a:t>数据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9"/>
            </p:custDataLst>
          </p:nvPr>
        </p:nvGrpSpPr>
        <p:grpSpPr>
          <a:xfrm>
            <a:off x="275018" y="3624382"/>
            <a:ext cx="11356836" cy="457200"/>
            <a:chOff x="-1131308" y="-771569"/>
            <a:chExt cx="11356836" cy="457200"/>
          </a:xfrm>
        </p:grpSpPr>
        <p:pic>
          <p:nvPicPr>
            <p:cNvPr id="10" name="Image 2" descr="TEMP_Z_ORDER_2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-747272" y="-771569"/>
              <a:ext cx="10972800" cy="457200"/>
            </a:xfrm>
            <a:prstGeom prst="rect">
              <a:avLst/>
            </a:prstGeom>
          </p:spPr>
        </p:pic>
        <p:sp>
          <p:nvSpPr>
            <p:cNvPr id="11" name="Text 0" descr="TEMP_Z_ORDER_3"/>
            <p:cNvSpPr/>
            <p:nvPr>
              <p:custDataLst>
                <p:tags r:id="rId11"/>
              </p:custDataLst>
            </p:nvPr>
          </p:nvSpPr>
          <p:spPr>
            <a:xfrm>
              <a:off x="-1131308" y="-651678"/>
              <a:ext cx="10981944" cy="29512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2402"/>
                </a:lnSpc>
                <a:buNone/>
              </a:pPr>
              <a:r>
                <a:rPr lang="en-US" sz="1680" dirty="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以</a:t>
              </a:r>
              <a:r>
                <a:rPr lang="en-US" sz="1680" dirty="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91项非遗名录</a:t>
              </a:r>
              <a:r>
                <a:rPr lang="en-US" sz="1680" dirty="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为中间件，向左匹配知识图谱实体（文献记忆），</a:t>
              </a:r>
              <a:r>
                <a:rPr lang="en-US" sz="1680" dirty="0" err="1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向右匹配POI（空间载体</a:t>
              </a:r>
              <a:r>
                <a:rPr lang="en-US" sz="1680" dirty="0">
                  <a:solidFill>
                    <a:srgbClr val="374151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）。</a:t>
              </a:r>
              <a:endParaRPr lang="en-US" sz="1680" dirty="0"/>
            </a:p>
          </p:txBody>
        </p:sp>
      </p:grp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FF3296A-C54E-29FE-E1E8-693CEF54A80F}"/>
              </a:ext>
            </a:extLst>
          </p:cNvPr>
          <p:cNvCxnSpPr>
            <a:cxnSpLocks/>
          </p:cNvCxnSpPr>
          <p:nvPr/>
        </p:nvCxnSpPr>
        <p:spPr>
          <a:xfrm>
            <a:off x="3367132" y="1912638"/>
            <a:ext cx="2147380" cy="68903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205E6BC6-8099-8E3B-3F7D-21227ED4A4C0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367132" y="1223602"/>
            <a:ext cx="2143860" cy="68903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700"/>
                            </p:stCondLst>
                            <p:childTnLst>
                              <p:par>
                                <p:cTn id="1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3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00"/>
                            </p:stCondLst>
                            <p:childTnLst>
                              <p:par>
                                <p:cTn id="4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6" descr="TEMP_Z_ORDER_18">
            <a:extLst>
              <a:ext uri="{FF2B5EF4-FFF2-40B4-BE49-F238E27FC236}">
                <a16:creationId xmlns:a16="http://schemas.microsoft.com/office/drawing/2014/main" id="{0BCF9733-3AD2-22B3-4BD4-FCA14F7050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202680" y="2392680"/>
            <a:ext cx="5410200" cy="3124200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9ea67713-3cac-4e24-9bbb-8def3fccddca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grpSp>
        <p:nvGrpSpPr>
          <p:cNvPr id="148" name="组合 147"/>
          <p:cNvGrpSpPr/>
          <p:nvPr>
            <p:custDataLst>
              <p:tags r:id="rId4"/>
            </p:custDataLst>
          </p:nvPr>
        </p:nvGrpSpPr>
        <p:grpSpPr>
          <a:xfrm>
            <a:off x="609600" y="1371600"/>
            <a:ext cx="2606040" cy="853440"/>
            <a:chOff x="-635000" y="-635000"/>
            <a:chExt cx="2606040" cy="853440"/>
          </a:xfrm>
        </p:grpSpPr>
        <p:pic>
          <p:nvPicPr>
            <p:cNvPr id="149" name="Image 2" descr="TEMP_Z_ORDER_2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50" name="Text 0" descr="TEMP_Z_ORDER_3"/>
            <p:cNvSpPr/>
            <p:nvPr>
              <p:custDataLst>
                <p:tags r:id="rId25"/>
              </p:custDataLst>
            </p:nvPr>
          </p:nvSpPr>
          <p:spPr>
            <a:xfrm>
              <a:off x="248920" y="-513080"/>
              <a:ext cx="86258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双向耦合</a:t>
              </a:r>
              <a:endParaRPr lang="en-US" sz="960"/>
            </a:p>
          </p:txBody>
        </p:sp>
        <p:sp>
          <p:nvSpPr>
            <p:cNvPr id="151" name="Text 1" descr="TEMP_Z_ORDER_4"/>
            <p:cNvSpPr/>
            <p:nvPr>
              <p:custDataLst>
                <p:tags r:id="rId26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14</a:t>
              </a:r>
              <a:endParaRPr lang="en-US" sz="1320"/>
            </a:p>
          </p:txBody>
        </p:sp>
        <p:sp>
          <p:nvSpPr>
            <p:cNvPr id="152" name="Text 2" descr="TEMP_Z_ORDER_5"/>
            <p:cNvSpPr/>
            <p:nvPr>
              <p:custDataLst>
                <p:tags r:id="rId27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15.4% | 文献有记载，空间有载体</a:t>
              </a:r>
              <a:endParaRPr lang="en-US" sz="960"/>
            </a:p>
          </p:txBody>
        </p:sp>
      </p:grpSp>
      <p:grpSp>
        <p:nvGrpSpPr>
          <p:cNvPr id="153" name="组合 152"/>
          <p:cNvGrpSpPr/>
          <p:nvPr>
            <p:custDataLst>
              <p:tags r:id="rId5"/>
            </p:custDataLst>
          </p:nvPr>
        </p:nvGrpSpPr>
        <p:grpSpPr>
          <a:xfrm>
            <a:off x="3398520" y="1371600"/>
            <a:ext cx="2606040" cy="853440"/>
            <a:chOff x="-635000" y="-635000"/>
            <a:chExt cx="2606040" cy="853440"/>
          </a:xfrm>
        </p:grpSpPr>
        <p:pic>
          <p:nvPicPr>
            <p:cNvPr id="154" name="Image 3" descr="TEMP_Z_ORDER_6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55" name="Text 3" descr="TEMP_Z_ORDER_7"/>
            <p:cNvSpPr/>
            <p:nvPr>
              <p:custDataLst>
                <p:tags r:id="rId21"/>
              </p:custDataLst>
            </p:nvPr>
          </p:nvSpPr>
          <p:spPr>
            <a:xfrm>
              <a:off x="142240" y="-513080"/>
              <a:ext cx="107594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仅实体匹配</a:t>
              </a:r>
              <a:endParaRPr lang="en-US" sz="960"/>
            </a:p>
          </p:txBody>
        </p:sp>
        <p:sp>
          <p:nvSpPr>
            <p:cNvPr id="156" name="Text 4" descr="TEMP_Z_ORDER_8"/>
            <p:cNvSpPr/>
            <p:nvPr>
              <p:custDataLst>
                <p:tags r:id="rId22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44</a:t>
              </a:r>
              <a:endParaRPr lang="en-US" sz="1320"/>
            </a:p>
          </p:txBody>
        </p:sp>
        <p:sp>
          <p:nvSpPr>
            <p:cNvPr id="157" name="Text 5" descr="TEMP_Z_ORDER_9"/>
            <p:cNvSpPr/>
            <p:nvPr>
              <p:custDataLst>
                <p:tags r:id="rId23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 dirty="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48.4% | </a:t>
              </a:r>
              <a:r>
                <a:rPr lang="en-US" sz="960" dirty="0" err="1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文献有记载，无对应POI</a:t>
              </a:r>
              <a:endParaRPr lang="en-US" sz="960" dirty="0"/>
            </a:p>
          </p:txBody>
        </p:sp>
      </p:grpSp>
      <p:grpSp>
        <p:nvGrpSpPr>
          <p:cNvPr id="117" name="组合 116"/>
          <p:cNvGrpSpPr/>
          <p:nvPr>
            <p:custDataLst>
              <p:tags r:id="rId6"/>
            </p:custDataLst>
          </p:nvPr>
        </p:nvGrpSpPr>
        <p:grpSpPr>
          <a:xfrm>
            <a:off x="6187440" y="1371600"/>
            <a:ext cx="2606040" cy="853440"/>
            <a:chOff x="-635000" y="-635000"/>
            <a:chExt cx="2606040" cy="853440"/>
          </a:xfrm>
        </p:grpSpPr>
        <p:pic>
          <p:nvPicPr>
            <p:cNvPr id="118" name="Image 4" descr="TEMP_Z_ORDER_10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19" name="Text 6" descr="TEMP_Z_ORDER_11"/>
            <p:cNvSpPr/>
            <p:nvPr>
              <p:custDataLst>
                <p:tags r:id="rId17"/>
              </p:custDataLst>
            </p:nvPr>
          </p:nvSpPr>
          <p:spPr>
            <a:xfrm>
              <a:off x="142240" y="-513080"/>
              <a:ext cx="1060704" cy="1686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仅POI匹配</a:t>
              </a:r>
              <a:endParaRPr lang="en-US" sz="960"/>
            </a:p>
          </p:txBody>
        </p:sp>
        <p:sp>
          <p:nvSpPr>
            <p:cNvPr id="120" name="Text 7" descr="TEMP_Z_ORDER_12"/>
            <p:cNvSpPr/>
            <p:nvPr>
              <p:custDataLst>
                <p:tags r:id="rId18"/>
              </p:custDataLst>
            </p:nvPr>
          </p:nvSpPr>
          <p:spPr>
            <a:xfrm>
              <a:off x="508000" y="-345440"/>
              <a:ext cx="32918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</a:t>
              </a:r>
              <a:endParaRPr lang="en-US" sz="1320"/>
            </a:p>
          </p:txBody>
        </p:sp>
        <p:sp>
          <p:nvSpPr>
            <p:cNvPr id="121" name="Text 8" descr="TEMP_Z_ORDER_13"/>
            <p:cNvSpPr/>
            <p:nvPr>
              <p:custDataLst>
                <p:tags r:id="rId19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3.3% | 有空间载体，文献未涉及</a:t>
              </a:r>
              <a:endParaRPr lang="en-US" sz="960"/>
            </a:p>
          </p:txBody>
        </p:sp>
      </p:grpSp>
      <p:grpSp>
        <p:nvGrpSpPr>
          <p:cNvPr id="122" name="组合 121"/>
          <p:cNvGrpSpPr/>
          <p:nvPr>
            <p:custDataLst>
              <p:tags r:id="rId7"/>
            </p:custDataLst>
          </p:nvPr>
        </p:nvGrpSpPr>
        <p:grpSpPr>
          <a:xfrm>
            <a:off x="8976360" y="1371600"/>
            <a:ext cx="2606040" cy="853440"/>
            <a:chOff x="-635000" y="-635000"/>
            <a:chExt cx="2606040" cy="853440"/>
          </a:xfrm>
        </p:grpSpPr>
        <p:pic>
          <p:nvPicPr>
            <p:cNvPr id="123" name="Image 5" descr="TEMP_Z_ORDER_1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-635000" y="-635000"/>
              <a:ext cx="2606040" cy="853440"/>
            </a:xfrm>
            <a:prstGeom prst="rect">
              <a:avLst/>
            </a:prstGeom>
          </p:spPr>
        </p:pic>
        <p:sp>
          <p:nvSpPr>
            <p:cNvPr id="124" name="Text 9" descr="TEMP_Z_ORDER_15"/>
            <p:cNvSpPr/>
            <p:nvPr>
              <p:custDataLst>
                <p:tags r:id="rId13"/>
              </p:custDataLst>
            </p:nvPr>
          </p:nvSpPr>
          <p:spPr>
            <a:xfrm>
              <a:off x="355600" y="-513080"/>
              <a:ext cx="649224" cy="1688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373"/>
                </a:lnSpc>
                <a:buNone/>
              </a:pPr>
              <a:r>
                <a:rPr lang="en-US" sz="960">
                  <a:solidFill>
                    <a:srgbClr val="1F2937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无匹配</a:t>
              </a:r>
              <a:endParaRPr lang="en-US" sz="960"/>
            </a:p>
          </p:txBody>
        </p:sp>
        <p:sp>
          <p:nvSpPr>
            <p:cNvPr id="125" name="Text 10" descr="TEMP_Z_ORDER_16"/>
            <p:cNvSpPr/>
            <p:nvPr>
              <p:custDataLst>
                <p:tags r:id="rId14"/>
              </p:custDataLst>
            </p:nvPr>
          </p:nvSpPr>
          <p:spPr>
            <a:xfrm>
              <a:off x="355600" y="-345440"/>
              <a:ext cx="649224" cy="2011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584"/>
                </a:lnSpc>
                <a:buNone/>
              </a:pPr>
              <a:r>
                <a:rPr lang="en-US" sz="1320">
                  <a:solidFill>
                    <a:srgbClr val="FF000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30</a:t>
              </a:r>
              <a:endParaRPr lang="en-US" sz="1320"/>
            </a:p>
          </p:txBody>
        </p:sp>
        <p:sp>
          <p:nvSpPr>
            <p:cNvPr id="126" name="Text 11" descr="TEMP_Z_ORDER_17"/>
            <p:cNvSpPr/>
            <p:nvPr>
              <p:custDataLst>
                <p:tags r:id="rId15"/>
              </p:custDataLst>
            </p:nvPr>
          </p:nvSpPr>
          <p:spPr>
            <a:xfrm>
              <a:off x="-513080" y="-86360"/>
              <a:ext cx="2371344" cy="1511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1200"/>
                </a:lnSpc>
                <a:buNone/>
              </a:pPr>
              <a:r>
                <a:rPr lang="en-US" sz="960">
                  <a:solidFill>
                    <a:srgbClr val="6B7280"/>
                  </a:solidFill>
                  <a:latin typeface="思源黑体 CN" pitchFamily="34" charset="0"/>
                  <a:ea typeface="思源黑体 CN" pitchFamily="34" charset="-122"/>
                  <a:cs typeface="思源黑体 CN" pitchFamily="34" charset="-120"/>
                </a:rPr>
                <a:t>33.0% | 两侧均未匹配（多为区级项目）</a:t>
              </a:r>
              <a:endParaRPr lang="en-US" sz="960"/>
            </a:p>
          </p:txBody>
        </p:sp>
      </p:grpSp>
      <p:pic>
        <p:nvPicPr>
          <p:cNvPr id="128" name="Image 6" descr="TEMP_Z_ORDER_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609600" y="2392680"/>
            <a:ext cx="5410200" cy="3474720"/>
          </a:xfrm>
          <a:prstGeom prst="rect">
            <a:avLst/>
          </a:prstGeom>
        </p:spPr>
      </p:pic>
      <p:sp>
        <p:nvSpPr>
          <p:cNvPr id="129" name="Text 12" descr="TEMP_Z_ORDER_19"/>
          <p:cNvSpPr/>
          <p:nvPr>
            <p:custDataLst>
              <p:tags r:id="rId9"/>
            </p:custDataLst>
          </p:nvPr>
        </p:nvSpPr>
        <p:spPr>
          <a:xfrm>
            <a:off x="792480" y="2575560"/>
            <a:ext cx="5967984" cy="350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80"/>
              </a:lnSpc>
              <a:buNone/>
            </a:pPr>
            <a:r>
              <a:rPr lang="zh-CN" alt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文化</a:t>
            </a: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实体侧TOP-10（文化记忆密度最高）</a:t>
            </a:r>
            <a:endParaRPr lang="en-US" sz="1920" dirty="0"/>
          </a:p>
        </p:txBody>
      </p:sp>
      <p:sp>
        <p:nvSpPr>
          <p:cNvPr id="97" name="Text 33" descr="TEMP_Z_ORDER_51"/>
          <p:cNvSpPr/>
          <p:nvPr>
            <p:custDataLst>
              <p:tags r:id="rId10"/>
            </p:custDataLst>
          </p:nvPr>
        </p:nvSpPr>
        <p:spPr>
          <a:xfrm>
            <a:off x="7299960" y="2575560"/>
            <a:ext cx="4108704" cy="3509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880"/>
              </a:lnSpc>
              <a:buNone/>
            </a:pPr>
            <a:r>
              <a:rPr lang="en-US" sz="1920" dirty="0">
                <a:solidFill>
                  <a:srgbClr val="1F2937"/>
                </a:solidFill>
                <a:latin typeface="思源黑体 CN" pitchFamily="34" charset="0"/>
                <a:ea typeface="思源黑体 CN" pitchFamily="34" charset="-122"/>
                <a:cs typeface="思源黑体 CN" pitchFamily="34" charset="-120"/>
              </a:rPr>
              <a:t>POI侧TOP-10（空间载体最丰富）</a:t>
            </a:r>
            <a:endParaRPr lang="en-US" sz="1920" dirty="0"/>
          </a:p>
        </p:txBody>
      </p:sp>
      <p:sp>
        <p:nvSpPr>
          <p:cNvPr id="76" name="Text 50"/>
          <p:cNvSpPr/>
          <p:nvPr>
            <p:custDataLst>
              <p:tags r:id="rId11"/>
            </p:custDataLst>
          </p:nvPr>
        </p:nvSpPr>
        <p:spPr>
          <a:xfrm>
            <a:off x="487680" y="438107"/>
            <a:ext cx="11240414" cy="358140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sz="2760" b="1" dirty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1.1 </a:t>
            </a:r>
            <a:r>
              <a:rPr lang="en-US" sz="2760" b="1" dirty="0" err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研究背景</a:t>
            </a:r>
            <a:endParaRPr lang="en-US" sz="276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58E9A3-6188-688E-EBF8-1F5AAECEE9CE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61763" y="3102402"/>
            <a:ext cx="5305873" cy="206395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0F33F3-EB0F-D548-930A-E4DC72DD23CA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02680" y="3094138"/>
            <a:ext cx="5421241" cy="2011261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6" descr="TEMP_Z_ORDER_18">
            <a:extLst>
              <a:ext uri="{FF2B5EF4-FFF2-40B4-BE49-F238E27FC236}">
                <a16:creationId xmlns:a16="http://schemas.microsoft.com/office/drawing/2014/main" id="{90319B37-EFF6-B0AD-10CA-E627898D69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8220" y="1325564"/>
            <a:ext cx="4918159" cy="4845206"/>
          </a:xfrm>
          <a:prstGeom prst="rect">
            <a:avLst/>
          </a:prstGeom>
        </p:spPr>
      </p:pic>
      <p:pic>
        <p:nvPicPr>
          <p:cNvPr id="2" name="Image 0" descr="https://oss.jianzeppt.com/editablePptPic/isIllustration_2_isShadow_0/9ea67713-3cac-4e24-9bbb-8def3fccddca_image_024f533a16df894d6710d6aaad9f47c2_14123563.png?x-oss-process=image/resize,w_1440,h_800,m_lfit/format,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35360" y="203042"/>
            <a:ext cx="82800" cy="896400"/>
          </a:xfrm>
          <a:prstGeom prst="rect">
            <a:avLst/>
          </a:prstGeom>
        </p:spPr>
      </p:pic>
      <p:pic>
        <p:nvPicPr>
          <p:cNvPr id="3" name="Image 1" descr="https://oss.jianzeppt.com/editablePptPic/isIllustration_1_isShadow_0/9ea67713-3cac-4e24-9bbb-8def3fccddca_image_90819cb7d4a6a1eecbd1ae23dec6207e_14123563.png?x-oss-process=image/resize,w_1440,h_800,m_lfit/format,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785720" y="194778"/>
            <a:ext cx="2288951" cy="901224"/>
          </a:xfrm>
          <a:prstGeom prst="rect">
            <a:avLst/>
          </a:prstGeom>
        </p:spPr>
      </p:pic>
      <p:sp>
        <p:nvSpPr>
          <p:cNvPr id="12" name="Text 2"/>
          <p:cNvSpPr/>
          <p:nvPr>
            <p:custDataLst>
              <p:tags r:id="rId4"/>
            </p:custDataLst>
          </p:nvPr>
        </p:nvSpPr>
        <p:spPr>
          <a:xfrm>
            <a:off x="487680" y="439581"/>
            <a:ext cx="11240414" cy="358140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2760" b="1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耦合特征分析</a:t>
            </a:r>
            <a:endParaRPr lang="en-US" sz="276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045DBE-11E1-7467-F8A4-5AFCAFB42AF4}"/>
              </a:ext>
            </a:extLst>
          </p:cNvPr>
          <p:cNvSpPr txBox="1"/>
          <p:nvPr/>
        </p:nvSpPr>
        <p:spPr>
          <a:xfrm>
            <a:off x="418160" y="1905000"/>
            <a:ext cx="43510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-apple-system"/>
              </a:rPr>
              <a:t>文化未转化是最突出矛盾</a:t>
            </a:r>
            <a:r>
              <a:rPr lang="zh-CN" altLang="en-US" sz="1600" b="0" i="0" dirty="0">
                <a:effectLst/>
                <a:latin typeface="-apple-system"/>
              </a:rPr>
              <a:t> </a:t>
            </a:r>
            <a:r>
              <a:rPr lang="en-US" altLang="zh-CN" sz="1600" b="0" i="0" dirty="0">
                <a:effectLst/>
                <a:latin typeface="-apple-system"/>
              </a:rPr>
              <a:t>48.4%</a:t>
            </a:r>
            <a:r>
              <a:rPr lang="zh-CN" altLang="en-US" sz="1600" b="0" i="0" dirty="0">
                <a:effectLst/>
                <a:latin typeface="-apple-system"/>
              </a:rPr>
              <a:t>的非遗在典籍中有记载但无</a:t>
            </a:r>
            <a:r>
              <a:rPr lang="en-US" altLang="zh-CN" sz="1600" b="0" i="0" dirty="0">
                <a:effectLst/>
                <a:latin typeface="-apple-system"/>
              </a:rPr>
              <a:t>POI</a:t>
            </a:r>
            <a:r>
              <a:rPr lang="zh-CN" altLang="en-US" sz="1600" b="0" i="0" dirty="0">
                <a:effectLst/>
                <a:latin typeface="-apple-system"/>
              </a:rPr>
              <a:t>。粤剧</a:t>
            </a:r>
            <a:r>
              <a:rPr lang="en-US" altLang="zh-CN" sz="1600" b="0" i="0" dirty="0">
                <a:effectLst/>
                <a:latin typeface="-apple-system"/>
              </a:rPr>
              <a:t>314</a:t>
            </a:r>
            <a:r>
              <a:rPr lang="zh-CN" altLang="en-US" sz="1600" b="0" i="0" dirty="0">
                <a:effectLst/>
                <a:latin typeface="-apple-system"/>
              </a:rPr>
              <a:t>次</a:t>
            </a:r>
            <a:r>
              <a:rPr lang="en-US" altLang="zh-CN" sz="1600" b="0" i="0" dirty="0">
                <a:effectLst/>
                <a:latin typeface="-apple-system"/>
              </a:rPr>
              <a:t>mentions</a:t>
            </a:r>
            <a:r>
              <a:rPr lang="zh-CN" altLang="en-US" sz="1600" b="0" i="0" dirty="0">
                <a:effectLst/>
                <a:latin typeface="-apple-system"/>
              </a:rPr>
              <a:t>、龙舟</a:t>
            </a:r>
            <a:r>
              <a:rPr lang="en-US" altLang="zh-CN" sz="1600" b="0" i="0" dirty="0">
                <a:effectLst/>
                <a:latin typeface="-apple-system"/>
              </a:rPr>
              <a:t>190+</a:t>
            </a:r>
            <a:r>
              <a:rPr lang="zh-CN" altLang="en-US" sz="1600" b="0" i="0" dirty="0">
                <a:effectLst/>
                <a:latin typeface="-apple-system"/>
              </a:rPr>
              <a:t>次、灰塑</a:t>
            </a:r>
            <a:r>
              <a:rPr lang="en-US" altLang="zh-CN" sz="1600" b="0" i="0" dirty="0">
                <a:effectLst/>
                <a:latin typeface="-apple-system"/>
              </a:rPr>
              <a:t>54</a:t>
            </a:r>
            <a:r>
              <a:rPr lang="zh-CN" altLang="en-US" sz="1600" b="0" i="0" dirty="0">
                <a:effectLst/>
                <a:latin typeface="-apple-system"/>
              </a:rPr>
              <a:t>次</a:t>
            </a:r>
            <a:r>
              <a:rPr lang="en-US" altLang="zh-CN" sz="1600" b="0" i="0" dirty="0">
                <a:effectLst/>
                <a:latin typeface="-apple-system"/>
              </a:rPr>
              <a:t>——</a:t>
            </a:r>
            <a:r>
              <a:rPr lang="zh-CN" altLang="en-US" sz="1600" b="0" i="0" dirty="0">
                <a:effectLst/>
                <a:latin typeface="-apple-system"/>
              </a:rPr>
              <a:t>文化记忆深厚却无体验载体。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600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-apple-system"/>
              </a:rPr>
              <a:t>市级非遗存在「中间断层」</a:t>
            </a:r>
            <a:r>
              <a:rPr lang="zh-CN" altLang="en-US" sz="1600" b="0" i="0" dirty="0">
                <a:effectLst/>
                <a:latin typeface="-apple-system"/>
              </a:rPr>
              <a:t> 国家</a:t>
            </a:r>
            <a:r>
              <a:rPr lang="en-US" altLang="zh-CN" sz="1600" b="0" i="0" dirty="0">
                <a:effectLst/>
                <a:latin typeface="-apple-system"/>
              </a:rPr>
              <a:t>/</a:t>
            </a:r>
            <a:r>
              <a:rPr lang="zh-CN" altLang="en-US" sz="1600" b="0" i="0" dirty="0">
                <a:effectLst/>
                <a:latin typeface="-apple-system"/>
              </a:rPr>
              <a:t>省级耦合率</a:t>
            </a:r>
            <a:r>
              <a:rPr lang="en-US" altLang="zh-CN" sz="1600" b="0" i="0" dirty="0">
                <a:effectLst/>
                <a:latin typeface="-apple-system"/>
              </a:rPr>
              <a:t>~35%</a:t>
            </a:r>
            <a:r>
              <a:rPr lang="zh-CN" altLang="en-US" sz="1600" b="0" i="0" dirty="0">
                <a:effectLst/>
                <a:latin typeface="-apple-system"/>
              </a:rPr>
              <a:t>，区级</a:t>
            </a:r>
            <a:r>
              <a:rPr lang="en-US" altLang="zh-CN" sz="1600" b="0" i="0" dirty="0">
                <a:effectLst/>
                <a:latin typeface="-apple-system"/>
              </a:rPr>
              <a:t>~15%</a:t>
            </a:r>
            <a:r>
              <a:rPr lang="zh-CN" altLang="en-US" sz="1600" b="0" i="0" dirty="0">
                <a:effectLst/>
                <a:latin typeface="-apple-system"/>
              </a:rPr>
              <a:t>，市级仅</a:t>
            </a:r>
            <a:r>
              <a:rPr lang="en-US" altLang="zh-CN" sz="1600" b="1" i="0" dirty="0">
                <a:effectLst/>
                <a:latin typeface="-apple-system"/>
              </a:rPr>
              <a:t>3.8%</a:t>
            </a:r>
            <a:r>
              <a:rPr lang="zh-CN" altLang="en-US" sz="1600" b="0" i="0" dirty="0">
                <a:effectLst/>
                <a:latin typeface="-apple-system"/>
              </a:rPr>
              <a:t>。龙舟说唱、灰塑、香云纱等市级项目有显著文献记载却几乎无载体。</a:t>
            </a:r>
            <a:endParaRPr lang="en-US" altLang="zh-CN" sz="1600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zh-CN" altLang="en-US" sz="1600" b="0" i="0" dirty="0">
              <a:effectLst/>
              <a:latin typeface="-apple-system"/>
            </a:endParaRPr>
          </a:p>
          <a:p>
            <a:pPr marL="285750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600" b="1" i="0" dirty="0">
                <a:effectLst/>
                <a:latin typeface="-apple-system"/>
              </a:rPr>
              <a:t>九江镇文旅倒挂最严重</a:t>
            </a:r>
            <a:r>
              <a:rPr lang="zh-CN" altLang="en-US" sz="1600" b="0" i="0" dirty="0">
                <a:effectLst/>
                <a:latin typeface="-apple-system"/>
              </a:rPr>
              <a:t> </a:t>
            </a:r>
            <a:r>
              <a:rPr lang="en-US" altLang="zh-CN" sz="1600" b="0" i="0" dirty="0">
                <a:effectLst/>
                <a:latin typeface="-apple-system"/>
              </a:rPr>
              <a:t>13</a:t>
            </a:r>
            <a:r>
              <a:rPr lang="zh-CN" altLang="en-US" sz="1600" b="0" i="0" dirty="0">
                <a:effectLst/>
                <a:latin typeface="-apple-system"/>
              </a:rPr>
              <a:t>项非遗 </a:t>
            </a:r>
            <a:r>
              <a:rPr lang="en-US" altLang="zh-CN" sz="1600" b="0" i="0" dirty="0">
                <a:effectLst/>
                <a:latin typeface="-apple-system"/>
              </a:rPr>
              <a:t>vs </a:t>
            </a:r>
            <a:r>
              <a:rPr lang="zh-CN" altLang="en-US" sz="1600" b="0" i="0" dirty="0">
                <a:effectLst/>
                <a:latin typeface="-apple-system"/>
              </a:rPr>
              <a:t>仅</a:t>
            </a:r>
            <a:r>
              <a:rPr lang="en-US" altLang="zh-CN" sz="1600" b="0" i="0" dirty="0">
                <a:effectLst/>
                <a:latin typeface="-apple-system"/>
              </a:rPr>
              <a:t>259</a:t>
            </a:r>
            <a:r>
              <a:rPr lang="zh-CN" altLang="en-US" sz="1600" b="0" i="0" dirty="0">
                <a:effectLst/>
                <a:latin typeface="-apple-system"/>
              </a:rPr>
              <a:t>个</a:t>
            </a:r>
            <a:r>
              <a:rPr lang="en-US" altLang="zh-CN" sz="1600" b="0" i="0" dirty="0">
                <a:effectLst/>
                <a:latin typeface="-apple-system"/>
              </a:rPr>
              <a:t>POI</a:t>
            </a:r>
            <a:r>
              <a:rPr lang="zh-CN" altLang="en-US" sz="1600" b="0" i="0" dirty="0">
                <a:effectLst/>
                <a:latin typeface="-apple-system"/>
              </a:rPr>
              <a:t>（占全区</a:t>
            </a:r>
            <a:r>
              <a:rPr lang="en-US" altLang="zh-CN" sz="1600" b="0" i="0" dirty="0">
                <a:effectLst/>
                <a:latin typeface="-apple-system"/>
              </a:rPr>
              <a:t>1.9%</a:t>
            </a:r>
            <a:r>
              <a:rPr lang="zh-CN" altLang="en-US" sz="1600" b="0" i="0" dirty="0">
                <a:effectLst/>
                <a:latin typeface="-apple-system"/>
              </a:rPr>
              <a:t>）。西樵镇则以</a:t>
            </a:r>
            <a:r>
              <a:rPr lang="en-US" altLang="zh-CN" sz="1600" b="0" i="0" dirty="0">
                <a:effectLst/>
                <a:latin typeface="-apple-system"/>
              </a:rPr>
              <a:t>5</a:t>
            </a:r>
            <a:r>
              <a:rPr lang="zh-CN" altLang="en-US" sz="1600" b="0" i="0" dirty="0">
                <a:effectLst/>
                <a:latin typeface="-apple-system"/>
              </a:rPr>
              <a:t>项双向耦合领跑，是文旅融合最深的镇街。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07A8836-A3F2-CA46-180C-EA2FFB09C6E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1243" y="1340804"/>
            <a:ext cx="4696018" cy="141676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811A8E-B999-EB43-0232-A934CFED125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450"/>
          <a:stretch>
            <a:fillRect/>
          </a:stretch>
        </p:blipFill>
        <p:spPr>
          <a:xfrm>
            <a:off x="5521242" y="3047999"/>
            <a:ext cx="4696019" cy="139312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FA3E6A3-F782-EBB1-4531-EDE8F6A035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1241" y="4572000"/>
            <a:ext cx="4696019" cy="1598770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 unknown"/>
  <p:tag name="AS_RELEASE_DATE" val="2025.05.31"/>
  <p:tag name="AS_TITLE" val="Aspose.Slides for Java"/>
  <p:tag name="AS_VERSION" val="25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7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8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9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2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257</Words>
  <Application>Microsoft Office PowerPoint</Application>
  <PresentationFormat>宽屏</PresentationFormat>
  <Paragraphs>42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-apple-system</vt:lpstr>
      <vt:lpstr>思源黑体 CN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帅 孟</cp:lastModifiedBy>
  <cp:revision>16</cp:revision>
  <cp:lastPrinted>2026-03-31T15:45:48Z</cp:lastPrinted>
  <dcterms:created xsi:type="dcterms:W3CDTF">2026-03-31T07:45:48Z</dcterms:created>
  <dcterms:modified xsi:type="dcterms:W3CDTF">2026-03-31T09:02:42Z</dcterms:modified>
</cp:coreProperties>
</file>