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9" d="100"/>
          <a:sy n="159" d="100"/>
        </p:scale>
        <p:origin x="144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27780" y="406718"/>
            <a:ext cx="20424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 · 清华紫系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58022" y="2626995"/>
            <a:ext cx="7275957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佛山市南海区文旅融合调研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55920" y="3535680"/>
            <a:ext cx="12801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中期汇报</a:t>
            </a:r>
          </a:p>
        </p:txBody>
      </p:sp>
      <p:sp>
        <p:nvSpPr>
          <p:cNvPr id="8" name="Line 8"/>
          <p:cNvSpPr/>
          <p:nvPr/>
        </p:nvSpPr>
        <p:spPr>
          <a:xfrm>
            <a:off x="3810000" y="414337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9050">
            <a:solidFill>
              <a:srgbClr val="7E57C2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095750"/>
            <a:ext cx="95250" cy="9525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352098" y="4536758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答辩人：孟帅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90185" y="4950142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指导老师：邬东璠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07380" y="5339239"/>
            <a:ext cx="7772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清华大学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24549" y="5715952"/>
            <a:ext cx="4542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基于多元大数据 · 文化谱系 × 景点谱系 · 知识图谱与空间耦合分析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7F3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772993" y="6535102"/>
            <a:ext cx="1295559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2026年</a:t>
            </a:r>
            <a:r>
              <a:rPr lang="en-US" alt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4</a:t>
            </a:r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月</a:t>
            </a:r>
            <a:r>
              <a:rPr lang="en-US" alt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</a:t>
            </a:r>
            <a:r>
              <a:rPr lang="zh-CN" altLang="en-US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日</a:t>
            </a:r>
            <a:endParaRPr lang="zh-CN" sz="1050" dirty="0">
              <a:solidFill>
                <a:srgbClr val="999999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940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 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70887" y="292418"/>
            <a:ext cx="9762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095375"/>
            <a:ext cx="5143500" cy="97155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095375"/>
            <a:ext cx="57150" cy="9715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10615" y="1201102"/>
            <a:ext cx="39716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1170" y="129825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定位与分工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1696402"/>
            <a:ext cx="26029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P.3 汇报边界 · 开题 vs 中期一页对照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1095375"/>
            <a:ext cx="5143500" cy="97155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286500" y="1095375"/>
            <a:ext cx="57150" cy="9715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35115" y="1201102"/>
            <a:ext cx="49492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5670" y="1298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数据建设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4165" y="1696402"/>
            <a:ext cx="23806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P.4–5 语料工程 · POI/评论与主表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238375"/>
            <a:ext cx="5143500" cy="97155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62000" y="2238375"/>
            <a:ext cx="57150" cy="971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10615" y="2344102"/>
            <a:ext cx="49492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1170" y="244125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抽取与知识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9665" y="2839402"/>
            <a:ext cx="31090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P.6–7 Qwen 合并规模 · 六大分类与关系语义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2238375"/>
            <a:ext cx="5143500" cy="97155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286500" y="2238375"/>
            <a:ext cx="57150" cy="971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35115" y="2344102"/>
            <a:ext cx="49492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65670" y="244125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分析与可视化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2839402"/>
            <a:ext cx="37224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P.8–11 六 HTML 地图 · 双谱系 · 图谱/空间 · 演示顺序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3381375"/>
            <a:ext cx="5143500" cy="97155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762000" y="3381375"/>
            <a:ext cx="57150" cy="9715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10615" y="3487102"/>
            <a:ext cx="49492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41170" y="358425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耦合与反思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9665" y="3982402"/>
            <a:ext cx="34157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P.12–16 四象限 · 片区解读 · 工具链 · 不足与结论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3381375"/>
            <a:ext cx="5143500" cy="971550"/>
          </a:xfrm>
          <a:prstGeom prst="rect">
            <a:avLst/>
          </a:prstGeom>
          <a:noFill/>
          <a:ln w="9525">
            <a:solidFill>
              <a:srgbClr val="D1C4E9"/>
            </a:solidFill>
            <a:prstDash val="dash"/>
          </a:ln>
        </p:spPr>
      </p:sp>
      <p:sp>
        <p:nvSpPr>
          <p:cNvPr id="33" name="TextBox 33"/>
          <p:cNvSpPr txBox="1"/>
          <p:nvPr/>
        </p:nvSpPr>
        <p:spPr>
          <a:xfrm>
            <a:off x="8252627" y="3790950"/>
            <a:ext cx="121124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777777"/>
                </a:solidFill>
                <a:latin typeface="Arial"/>
                <a:ea typeface="Microsoft YaHei"/>
                <a:cs typeface="Arial"/>
              </a:rPr>
              <a:t>致谢 · P.17</a:t>
            </a:r>
          </a:p>
        </p:txBody>
      </p:sp>
      <p:sp>
        <p:nvSpPr>
          <p:cNvPr id="34" name="Line 34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522821" y="65351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06000" y="-381000"/>
            <a:ext cx="2667000" cy="2667000"/>
          </a:xfrm>
          <a:prstGeom prst="ellipse">
            <a:avLst/>
          </a:prstGeom>
          <a:solidFill>
            <a:srgbClr val="4A237A">
              <a:alpha val="5000"/>
            </a:srgb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906000" y="4953000"/>
            <a:ext cx="1905000" cy="1905000"/>
          </a:xfrm>
          <a:prstGeom prst="rect">
            <a:avLst/>
          </a:prstGeom>
          <a:solidFill>
            <a:srgbClr val="7E57C2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0535" y="265748"/>
            <a:ext cx="274086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中期汇报定位与分工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7439" y="354806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04850"/>
            <a:ext cx="1219200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704850"/>
            <a:ext cx="5715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060" y="861060"/>
            <a:ext cx="32114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本期边界 · 开题与中期对照（一页说清）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28750"/>
            <a:ext cx="5524500" cy="4095750"/>
          </a:xfrm>
          <a:prstGeom prst="rect">
            <a:avLst/>
          </a:prstGeom>
          <a:solidFill>
            <a:srgbClr val="F7F3FA"/>
          </a:solidFill>
          <a:ln w="9525">
            <a:solidFill>
              <a:srgbClr val="D1C4E9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57200" y="1428750"/>
            <a:ext cx="57150" cy="40957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28650" y="1628775"/>
            <a:ext cx="25684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本期怎么讲（屏显要核）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3412" y="1993106"/>
            <a:ext cx="44566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不重述开题背景/意义/总目标，立项依据见《研究开题》。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3412" y="2278856"/>
            <a:ext cx="4990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主线：语料与结构化主表 → Qwen 多 chunk 抽取与 merged 合并 →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3412" y="2526506"/>
            <a:ext cx="47852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交互式可视化（谱系/图谱/空间）→ 双谱系耦合四象限与协调度。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3412" y="2812256"/>
            <a:ext cx="58532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答辩主数字口径：merged_entities / merged_relations；路径可回溯仓库。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3412" y="3098006"/>
            <a:ext cx="51795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谱系构建侧-rule NER（626 实体等）仅作辅助，勿与 merged 混答。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4365" y="3525202"/>
            <a:ext cx="46502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口播一句：中期汇报只讲「开题之后做到的硬成果 + 可演示链条」。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10300" y="1428750"/>
            <a:ext cx="5524500" cy="4095750"/>
          </a:xfrm>
          <a:prstGeom prst="rect">
            <a:avLst/>
          </a:prstGeom>
          <a:solidFill>
            <a:srgbClr val="FAFBFC"/>
          </a:solidFill>
          <a:ln w="9525">
            <a:solidFill>
              <a:srgbClr val="D1C4E9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210300" y="1428750"/>
            <a:ext cx="57150" cy="40957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381750" y="1628775"/>
            <a:ext cx="214286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开题 → 中期（对照）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86512" y="1993106"/>
            <a:ext cx="48181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开题：双谱系 + 耦合判定表 + 技术路线论证；多为框架与小样。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86512" y="2278856"/>
            <a:ext cx="52124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中期：53 语料文件级索引；《南海县志》+ 南海文史批量 OCR 入库。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86512" y="2564606"/>
            <a:ext cx="50645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中期：POI 13,113 双源融合 + LLM 清洗；评论 16k+ 与 POI 匹配表。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86512" y="2850356"/>
            <a:ext cx="51631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中期：merged 知识库 8048 实体 / 19382 关系；6 个 HTML 可投屏。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86512" y="3136106"/>
            <a:ext cx="49166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中期：耦合 16/9/14/6 + 镇街协调度；空间核密度与聚类已出图。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87465" y="3563302"/>
            <a:ext cx="43358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评委追问开题：指向 PDF；追问数字：指向 merged_* 与 CSV。</a:t>
            </a:r>
          </a:p>
        </p:txBody>
      </p:sp>
      <p:sp>
        <p:nvSpPr>
          <p:cNvPr id="29" name="Line 29"/>
          <p:cNvSpPr/>
          <p:nvPr/>
        </p:nvSpPr>
        <p:spPr>
          <a:xfrm>
            <a:off x="419100" y="6362700"/>
            <a:ext cx="11353800" cy="9525"/>
          </a:xfrm>
          <a:custGeom>
            <a:avLst/>
            <a:gdLst/>
            <a:ahLst/>
            <a:cxnLst/>
            <a:rect l="l" t="t" r="r" b="b"/>
            <a:pathLst>
              <a:path w="11353800" h="9525">
                <a:moveTo>
                  <a:pt x="0" y="0"/>
                </a:moveTo>
                <a:lnTo>
                  <a:pt x="113538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46722" y="65593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自研语料与开放数据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84294" y="65593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定位与分工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644098" y="65431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06000" y="-381000"/>
            <a:ext cx="2667000" cy="2667000"/>
          </a:xfrm>
          <a:prstGeom prst="ellipse">
            <a:avLst/>
          </a:prstGeom>
          <a:solidFill>
            <a:srgbClr val="4A237A">
              <a:alpha val="5000"/>
            </a:srgb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906000" y="4953000"/>
            <a:ext cx="1905000" cy="1905000"/>
          </a:xfrm>
          <a:prstGeom prst="rect">
            <a:avLst/>
          </a:prstGeom>
          <a:solidFill>
            <a:srgbClr val="7E57C2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0535" y="265748"/>
            <a:ext cx="363797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语料建设：规模与工程链路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7439" y="354806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04850"/>
            <a:ext cx="1219200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704850"/>
            <a:ext cx="5715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060" y="861060"/>
            <a:ext cx="44470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OCR → 统一 corpus → corpus_index → Qwen chunk 抽取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3657600" cy="1790700"/>
          </a:xfrm>
          <a:prstGeom prst="rect">
            <a:avLst/>
          </a:prstGeom>
          <a:solidFill>
            <a:srgbClr val="F3E5F5"/>
          </a:solidFill>
          <a:ln w="9525">
            <a:solidFill>
              <a:srgbClr val="D1C4E9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943100" y="173593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语料文件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94868" y="20383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67200" y="1314450"/>
            <a:ext cx="3657600" cy="1790700"/>
          </a:xfrm>
          <a:prstGeom prst="rect">
            <a:avLst/>
          </a:prstGeom>
          <a:solidFill>
            <a:srgbClr val="F3E5F5"/>
          </a:solidFill>
          <a:ln w="9525">
            <a:solidFill>
              <a:srgbClr val="D1C4E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260181" y="1735931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合计字符（索引口径）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44650" y="2029778"/>
            <a:ext cx="190270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8,991,098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11425" y="2485549"/>
            <a:ext cx="17691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77777"/>
                </a:solidFill>
                <a:latin typeface="Arial"/>
                <a:ea typeface="Microsoft YaHei"/>
                <a:cs typeface="Arial"/>
              </a:rPr>
              <a:t>约 899 万（含符号与全角）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77200" y="1314450"/>
            <a:ext cx="3657600" cy="1790700"/>
          </a:xfrm>
          <a:prstGeom prst="rect">
            <a:avLst/>
          </a:prstGeom>
          <a:solidFill>
            <a:srgbClr val="F3E5F5"/>
          </a:solidFill>
          <a:ln w="9525">
            <a:solidFill>
              <a:srgbClr val="D1C4E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238595" y="1735931"/>
            <a:ext cx="13348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汉字（CJK 估值）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31808" y="2038350"/>
            <a:ext cx="154838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≈508万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95300" y="31813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31508" y="3177064"/>
            <a:ext cx="89613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《南海县志》458 页 OCR 连续文本 + 南海文史资料 31 本扫描 PDF 并行识别（RapidOCR）入 data/corpus。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95300" y="34671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31508" y="3462814"/>
            <a:ext cx="601915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统一命名与目录；corpus_index.json 全库导航，字段可追溯至原文件。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95300" y="37528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31508" y="3748564"/>
            <a:ext cx="77974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另：中期报告书面口径「541 万中文字符」为纯汉字统计，与本页全字符指标并列使用勿混谈。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95300" y="40386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31508" y="4034314"/>
            <a:ext cx="101996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语料经 chunk_size≈800（见 config）切段，进入 Qwen 多线程抽取，结果合并为 merged_entities/merged_relations。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95300" y="43243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31508" y="4320064"/>
            <a:ext cx="806750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数据溯源：data/corpus/、corpus_index.json、output/qwen_extraction/merged_*.json。</a:t>
            </a:r>
          </a:p>
        </p:txBody>
      </p:sp>
      <p:sp>
        <p:nvSpPr>
          <p:cNvPr id="31" name="Line 31"/>
          <p:cNvSpPr/>
          <p:nvPr/>
        </p:nvSpPr>
        <p:spPr>
          <a:xfrm>
            <a:off x="419100" y="6362700"/>
            <a:ext cx="11353800" cy="9525"/>
          </a:xfrm>
          <a:custGeom>
            <a:avLst/>
            <a:gdLst/>
            <a:ahLst/>
            <a:cxnLst/>
            <a:rect l="l" t="t" r="r" b="b"/>
            <a:pathLst>
              <a:path w="11353800" h="9525">
                <a:moveTo>
                  <a:pt x="0" y="0"/>
                </a:moveTo>
                <a:lnTo>
                  <a:pt x="113538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46722" y="65593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自研语料与开放数据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844540" y="65593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数据建设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44098" y="65431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06000" y="-381000"/>
            <a:ext cx="2667000" cy="2667000"/>
          </a:xfrm>
          <a:prstGeom prst="ellipse">
            <a:avLst/>
          </a:prstGeom>
          <a:solidFill>
            <a:srgbClr val="4A237A">
              <a:alpha val="5000"/>
            </a:srgb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906000" y="4953000"/>
            <a:ext cx="1905000" cy="1905000"/>
          </a:xfrm>
          <a:prstGeom prst="rect">
            <a:avLst/>
          </a:prstGeom>
          <a:solidFill>
            <a:srgbClr val="7E57C2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0535" y="265748"/>
            <a:ext cx="303990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旅游侧数据与主表出口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7439" y="354806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04850"/>
            <a:ext cx="1219200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704850"/>
            <a:ext cx="5715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060" y="861060"/>
            <a:ext cx="47625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双源 POI 融合 · LLM 清洗 · 评论匹配 · 主表 CSV/JSON 出口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3657600" cy="1790700"/>
          </a:xfrm>
          <a:prstGeom prst="rect">
            <a:avLst/>
          </a:prstGeom>
          <a:solidFill>
            <a:srgbClr val="F3E5F5"/>
          </a:solidFill>
          <a:ln w="9525">
            <a:solidFill>
              <a:srgbClr val="D1C4E9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893808" y="1735931"/>
            <a:ext cx="7843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POI（条）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8859" y="2005965"/>
            <a:ext cx="1374281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13,113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0886" y="2550795"/>
            <a:ext cx="18302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高德 1,353 + Shapefile 12,906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267200" y="1314450"/>
            <a:ext cx="3657600" cy="1790700"/>
          </a:xfrm>
          <a:prstGeom prst="rect">
            <a:avLst/>
          </a:prstGeom>
          <a:solidFill>
            <a:srgbClr val="F3E5F5"/>
          </a:solidFill>
          <a:ln w="9525">
            <a:solidFill>
              <a:srgbClr val="D1C4E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305365" y="1735931"/>
            <a:ext cx="15812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评论—POI 匹配（行）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19086" y="2005965"/>
            <a:ext cx="175382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26,323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13293" y="2550795"/>
            <a:ext cx="21654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review_poi_matched.csv 当前导出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77200" y="1314450"/>
            <a:ext cx="3657600" cy="1790700"/>
          </a:xfrm>
          <a:prstGeom prst="rect">
            <a:avLst/>
          </a:prstGeom>
          <a:solidFill>
            <a:srgbClr val="F3E5F5"/>
          </a:solidFill>
          <a:ln w="9525">
            <a:solidFill>
              <a:srgbClr val="D1C4E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563100" y="173593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字段工程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22050" y="2060258"/>
            <a:ext cx="116790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11 类+文旅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64562" y="2439352"/>
            <a:ext cx="16828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锚点 996 · 关联非遗 164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95300" y="31813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32460" y="3185160"/>
            <a:ext cx="97924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POI：双源去重融合、LLM 清洗；大类占比：公园绿地 41%、自然景观 31%、人文古迹/非遗体验等构成「文化深度」叙事字段。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95300" y="34671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32460" y="3470910"/>
            <a:ext cx="106074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评论：四平台采集 16,391 条；exact 名称匹配 + 评分阈值；匹配表支撑体验度六维模型（评分/好评/文化深度/活跃/历史积淀/照片）。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95300" y="37528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32460" y="3756660"/>
            <a:ext cx="119306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主表出口（可复核）：output/tables/poi_llm_cleaned.csv、review_poi_matched.csv；merged 入口 output/qwen_extraction/merged_*.json。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95300" y="40386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32460" y="4042410"/>
            <a:ext cx="66465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体验度分级：高 59 / 中 561 / 低 12,493（中期报告口径），支撑景点谱系树可视化。</a:t>
            </a:r>
          </a:p>
        </p:txBody>
      </p:sp>
      <p:sp>
        <p:nvSpPr>
          <p:cNvPr id="31" name="Line 31"/>
          <p:cNvSpPr/>
          <p:nvPr/>
        </p:nvSpPr>
        <p:spPr>
          <a:xfrm>
            <a:off x="419100" y="6362700"/>
            <a:ext cx="11353800" cy="9525"/>
          </a:xfrm>
          <a:custGeom>
            <a:avLst/>
            <a:gdLst/>
            <a:ahLst/>
            <a:cxnLst/>
            <a:rect l="l" t="t" r="r" b="b"/>
            <a:pathLst>
              <a:path w="11353800" h="9525">
                <a:moveTo>
                  <a:pt x="0" y="0"/>
                </a:moveTo>
                <a:lnTo>
                  <a:pt x="113538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46722" y="65593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自研语料与开放数据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844540" y="65593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数据建设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44098" y="65431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06000" y="-381000"/>
            <a:ext cx="2667000" cy="2667000"/>
          </a:xfrm>
          <a:prstGeom prst="ellipse">
            <a:avLst/>
          </a:prstGeom>
          <a:solidFill>
            <a:srgbClr val="4A237A">
              <a:alpha val="5000"/>
            </a:srgb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906000" y="4953000"/>
            <a:ext cx="1905000" cy="1905000"/>
          </a:xfrm>
          <a:prstGeom prst="rect">
            <a:avLst/>
          </a:prstGeom>
          <a:solidFill>
            <a:srgbClr val="7E57C2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0535" y="265748"/>
            <a:ext cx="393701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知识抽取：规模、口径与合并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7439" y="354806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04850"/>
            <a:ext cx="1219200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704850"/>
            <a:ext cx="5715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060" y="861060"/>
            <a:ext cx="45872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只答 merged_*：实体 8048 · 关系 19382 · 多关系对 2796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3657600" cy="1790700"/>
          </a:xfrm>
          <a:prstGeom prst="rect">
            <a:avLst/>
          </a:prstGeom>
          <a:solidFill>
            <a:srgbClr val="F3E5F5"/>
          </a:solidFill>
          <a:ln w="9525">
            <a:solidFill>
              <a:srgbClr val="D1C4E9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548253" y="1624965"/>
            <a:ext cx="147549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8,048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3535" y="2232660"/>
            <a:ext cx="13449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实体（merged）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67200" y="1314450"/>
            <a:ext cx="3657600" cy="1790700"/>
          </a:xfrm>
          <a:prstGeom prst="rect">
            <a:avLst/>
          </a:prstGeom>
          <a:solidFill>
            <a:srgbClr val="F3E5F5"/>
          </a:solidFill>
          <a:ln w="9525">
            <a:solidFill>
              <a:srgbClr val="D1C4E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282344" y="1624965"/>
            <a:ext cx="162731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19,382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23535" y="2232660"/>
            <a:ext cx="13449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关系（merged）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077200" y="1314450"/>
            <a:ext cx="3657600" cy="1790700"/>
          </a:xfrm>
          <a:prstGeom prst="rect">
            <a:avLst/>
          </a:prstGeom>
          <a:solidFill>
            <a:srgbClr val="F3E5F5"/>
          </a:solidFill>
          <a:ln w="9525">
            <a:solidFill>
              <a:srgbClr val="D1C4E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168253" y="1624965"/>
            <a:ext cx="147549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2,796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64980" y="22326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多关系实体对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95300" y="30480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1508" y="3043714"/>
            <a:ext cx="1041380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答辩主口径：仅引用 merged_entities.json / merged_relations.json；勿用 progress.json 或单文件 chunk 与总数对打。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95300" y="33337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31508" y="3329464"/>
            <a:ext cx="101158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合并逻辑：多 chunk 去重；ai_type_stats / ai_label_stats 支撑分类体系落地；relation_stats 支撑关系统计与叙事。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95300" y="36195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1508" y="3615214"/>
            <a:ext cx="872856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实体标签对齐《分类体系》六大一级类 A–F（非遗/物质遗产/传承主体/文化空间/文献记忆/历史时序）。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95300" y="39052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31508" y="3900964"/>
            <a:ext cx="883098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关系策略：开放式 relation_text + 后置 relation_group（空间关联/传承延续/营建创造/文献记载等）。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95300" y="41910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31508" y="4186714"/>
            <a:ext cx="40359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配置见项目根 config.json（API Key 勿投屏）。</a:t>
            </a:r>
          </a:p>
        </p:txBody>
      </p:sp>
      <p:sp>
        <p:nvSpPr>
          <p:cNvPr id="30" name="Line 30"/>
          <p:cNvSpPr/>
          <p:nvPr/>
        </p:nvSpPr>
        <p:spPr>
          <a:xfrm>
            <a:off x="419100" y="6362700"/>
            <a:ext cx="11353800" cy="9525"/>
          </a:xfrm>
          <a:custGeom>
            <a:avLst/>
            <a:gdLst/>
            <a:ahLst/>
            <a:cxnLst/>
            <a:rect l="l" t="t" r="r" b="b"/>
            <a:pathLst>
              <a:path w="11353800" h="9525">
                <a:moveTo>
                  <a:pt x="0" y="0"/>
                </a:moveTo>
                <a:lnTo>
                  <a:pt x="113538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46722" y="65593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自研语料与开放数据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784294" y="65593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抽取与知识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644098" y="65431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06000" y="-381000"/>
            <a:ext cx="2667000" cy="2667000"/>
          </a:xfrm>
          <a:prstGeom prst="ellipse">
            <a:avLst/>
          </a:prstGeom>
          <a:solidFill>
            <a:srgbClr val="4A237A">
              <a:alpha val="5000"/>
            </a:srgb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906000" y="4953000"/>
            <a:ext cx="1905000" cy="1905000"/>
          </a:xfrm>
          <a:prstGeom prst="rect">
            <a:avLst/>
          </a:prstGeom>
          <a:solidFill>
            <a:srgbClr val="7E57C2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0535" y="265748"/>
            <a:ext cx="486403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实体类型、关系语义与 schema 落地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7439" y="354806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04850"/>
            <a:ext cx="1219200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704850"/>
            <a:ext cx="5715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060" y="861060"/>
            <a:ext cx="41841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分类「收」· 关系「放」· 图谱与论文表共用一套语义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95300" y="10858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30555" y="1073468"/>
            <a:ext cx="106517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一级类（merged ai_label_stats）：A 非遗文化、B 物质文化遗产、C 传承主体、D 文化空间、E 文献记忆、F 历史时序。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95300" y="14097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30555" y="1397318"/>
            <a:ext cx="100701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二级类示例：A1–A6 非遗细分、B1–B6 古建/遗址/聚落、C1–C4 人物与社群、D1–D4 空间、E1–E5 文献、F1–F3 时序。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17335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31508" y="1729264"/>
            <a:ext cx="814199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原则（《分类体系》）：实体类型尽量稳定；关系保留原文短语与证据，避免空洞「相关/涉及」。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95300" y="20574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31508" y="2053114"/>
            <a:ext cx="91847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边属性建议：relation_text、relation_group、evidence、source_file，便于 Neo4j / Gephi / 论文三线表。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95300" y="23812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32460" y="2385060"/>
            <a:ext cx="93017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可视化子集 knowledge_graph.html 约 387 节点 / 2118 边（规则+融合层），与 merged 全库-scale 区别请口头交代。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95300" y="27051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31508" y="2700814"/>
            <a:ext cx="541396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论文附录建议：实体类型说明表 1；关系上位类 × 示例短语 表 2。</a:t>
            </a:r>
          </a:p>
        </p:txBody>
      </p:sp>
      <p:sp>
        <p:nvSpPr>
          <p:cNvPr id="23" name="Line 23"/>
          <p:cNvSpPr/>
          <p:nvPr/>
        </p:nvSpPr>
        <p:spPr>
          <a:xfrm>
            <a:off x="419100" y="6362700"/>
            <a:ext cx="11353800" cy="9525"/>
          </a:xfrm>
          <a:custGeom>
            <a:avLst/>
            <a:gdLst/>
            <a:ahLst/>
            <a:cxnLst/>
            <a:rect l="l" t="t" r="r" b="b"/>
            <a:pathLst>
              <a:path w="11353800" h="9525">
                <a:moveTo>
                  <a:pt x="0" y="0"/>
                </a:moveTo>
                <a:lnTo>
                  <a:pt x="113538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46722" y="65593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自研语料与开放数据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84294" y="65593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抽取与知识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644098" y="65431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06000" y="-381000"/>
            <a:ext cx="2667000" cy="2667000"/>
          </a:xfrm>
          <a:prstGeom prst="ellipse">
            <a:avLst/>
          </a:prstGeom>
          <a:solidFill>
            <a:srgbClr val="4A237A">
              <a:alpha val="5000"/>
            </a:srgb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906000" y="4953000"/>
            <a:ext cx="1905000" cy="1905000"/>
          </a:xfrm>
          <a:prstGeom prst="rect">
            <a:avLst/>
          </a:prstGeom>
          <a:solidFill>
            <a:srgbClr val="7E57C2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0535" y="265748"/>
            <a:ext cx="513316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分析产物：交互页面一览（演示地图）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7439" y="354806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04850"/>
            <a:ext cx="1219200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704850"/>
            <a:ext cx="5715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060" y="861060"/>
            <a:ext cx="46661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六 HTML 均在 output/figures/ — 答辩按此顺序可快速跳转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95300" y="1162050"/>
            <a:ext cx="47625" cy="5334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72465" y="1277302"/>
            <a:ext cx="36174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237A"/>
                </a:solidFill>
                <a:latin typeface="Consolas"/>
                <a:ea typeface="Microsoft YaHei"/>
                <a:cs typeface="Consolas"/>
              </a:rPr>
              <a:t>output/figures/culture_genealogy_tree.html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2465" y="1505902"/>
            <a:ext cx="3093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文化谱系 · 8 大类 97 条目 · ECharts 折叠树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95300" y="1943100"/>
            <a:ext cx="47625" cy="5334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72465" y="2058352"/>
            <a:ext cx="35288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237A"/>
                </a:solidFill>
                <a:latin typeface="Consolas"/>
                <a:ea typeface="Microsoft YaHei"/>
                <a:cs typeface="Consolas"/>
              </a:rPr>
              <a:t>output/figures/scenic_genealogy_tree.html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2465" y="2286952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景点谱系 · 11 类 POI × 体验度三色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95300" y="2724150"/>
            <a:ext cx="47625" cy="5334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72465" y="2839402"/>
            <a:ext cx="31585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237A"/>
                </a:solidFill>
                <a:latin typeface="Consolas"/>
                <a:ea typeface="Microsoft YaHei"/>
                <a:cs typeface="Consolas"/>
              </a:rPr>
              <a:t>output/figures/scenic_town_tree.html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2465" y="30680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镇街分布树 · 7 镇街资源对比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95300" y="3505200"/>
            <a:ext cx="47625" cy="5334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72465" y="3620452"/>
            <a:ext cx="3069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237A"/>
                </a:solidFill>
                <a:latin typeface="Consolas"/>
                <a:ea typeface="Microsoft YaHei"/>
                <a:cs typeface="Consolas"/>
              </a:rPr>
              <a:t>output/figures/knowledge_graph.html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2465" y="3849052"/>
            <a:ext cx="32624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力导向知识图谱 · 筛选/下钻（子集规模见 P7）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95300" y="4286250"/>
            <a:ext cx="47625" cy="5334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72465" y="4401502"/>
            <a:ext cx="30055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237A"/>
                </a:solidFill>
                <a:latin typeface="Consolas"/>
                <a:ea typeface="Microsoft YaHei"/>
                <a:cs typeface="Consolas"/>
              </a:rPr>
              <a:t>output/figures/spatial_analysis.html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2465" y="4630102"/>
            <a:ext cx="27563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空间四合一 · 核密度·聚类·镇街柱/雷达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95300" y="5067300"/>
            <a:ext cx="47625" cy="5334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72465" y="5182552"/>
            <a:ext cx="30941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237A"/>
                </a:solidFill>
                <a:latin typeface="Consolas"/>
                <a:ea typeface="Microsoft YaHei"/>
                <a:cs typeface="Consolas"/>
              </a:rPr>
              <a:t>output/figures/coupling_analysis.html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2465" y="5411152"/>
            <a:ext cx="22196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双谱系耦合 · 四象限 + 文字报告</a:t>
            </a:r>
          </a:p>
        </p:txBody>
      </p:sp>
      <p:sp>
        <p:nvSpPr>
          <p:cNvPr id="29" name="Line 29"/>
          <p:cNvSpPr/>
          <p:nvPr/>
        </p:nvSpPr>
        <p:spPr>
          <a:xfrm>
            <a:off x="419100" y="6362700"/>
            <a:ext cx="11353800" cy="9525"/>
          </a:xfrm>
          <a:custGeom>
            <a:avLst/>
            <a:gdLst/>
            <a:ahLst/>
            <a:cxnLst/>
            <a:rect l="l" t="t" r="r" b="b"/>
            <a:pathLst>
              <a:path w="11353800" h="9525">
                <a:moveTo>
                  <a:pt x="0" y="0"/>
                </a:moveTo>
                <a:lnTo>
                  <a:pt x="113538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46722" y="65593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自研语料与开放数据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24049" y="65593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分析与可视化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644098" y="65431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06000" y="-381000"/>
            <a:ext cx="2667000" cy="2667000"/>
          </a:xfrm>
          <a:prstGeom prst="ellipse">
            <a:avLst/>
          </a:prstGeom>
          <a:solidFill>
            <a:srgbClr val="4A237A">
              <a:alpha val="5000"/>
            </a:srgb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906000" y="4953000"/>
            <a:ext cx="1905000" cy="1905000"/>
          </a:xfrm>
          <a:prstGeom prst="rect">
            <a:avLst/>
          </a:prstGeom>
          <a:solidFill>
            <a:srgbClr val="7E57C2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0535" y="265748"/>
            <a:ext cx="354826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双谱系：典籍侧 vs 旅游侧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7439" y="354806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04850"/>
            <a:ext cx="1219200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704850"/>
            <a:ext cx="5715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060" y="861060"/>
            <a:ext cx="50429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文化基因 / 地方记忆 × 市场表现 / 体验结构 — 开题核心框架落地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28750"/>
            <a:ext cx="5524500" cy="4095750"/>
          </a:xfrm>
          <a:prstGeom prst="rect">
            <a:avLst/>
          </a:prstGeom>
          <a:solidFill>
            <a:srgbClr val="F7F3FA"/>
          </a:solidFill>
          <a:ln w="9525">
            <a:solidFill>
              <a:srgbClr val="D1C4E9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57200" y="1428750"/>
            <a:ext cx="57150" cy="40957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28650" y="1628775"/>
            <a:ext cx="26029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文化谱系（典籍 + 名录）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3412" y="2021681"/>
            <a:ext cx="5269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数据：53 文本源、县志+文史、37 项非遗编码、165 条文化载体锚点。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3412" y="2307431"/>
            <a:ext cx="71266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结构：武术/饮食/建筑/民俗/工艺/戏曲/学术/中医药 等 8 门，条目化进 culture_taxonomy。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3412" y="2593181"/>
            <a:ext cx="63215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可视化：culture_genealogy_tree.html — 层级展开，服务「文化叙事从何而来」。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3412" y="2878931"/>
            <a:ext cx="59189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关键词：黄飞鸿、康有为、西樵山、九江双蒸、醒狮、松塘村等（典籍高频）。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10300" y="1428750"/>
            <a:ext cx="5524500" cy="4095750"/>
          </a:xfrm>
          <a:prstGeom prst="rect">
            <a:avLst/>
          </a:prstGeom>
          <a:solidFill>
            <a:srgbClr val="FAFBFC"/>
          </a:solidFill>
          <a:ln w="9525">
            <a:solidFill>
              <a:srgbClr val="D1C4E9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210300" y="1428750"/>
            <a:ext cx="57150" cy="40957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381750" y="1628775"/>
            <a:ext cx="25109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景点谱系（POI + 评论）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86512" y="2021681"/>
            <a:ext cx="52452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数据：13,113 POI；16,391 评论；覆盖率约 29.6% 起评（中期报告）。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86512" y="2307431"/>
            <a:ext cx="54999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结构：11 类功能 + 体验度「高/中/低」+ 镇街维度；scenic_* 三个页面。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86512" y="2593181"/>
            <a:ext cx="57300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叙事：市场热点（桂城高密度 POI）vs 西南文化带（西樵-九江非遗富集）。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86512" y="2878931"/>
            <a:ext cx="36186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为耦合分析提供「景点侧」节点与评分证据链。</a:t>
            </a:r>
          </a:p>
        </p:txBody>
      </p:sp>
      <p:sp>
        <p:nvSpPr>
          <p:cNvPr id="25" name="Line 25"/>
          <p:cNvSpPr/>
          <p:nvPr/>
        </p:nvSpPr>
        <p:spPr>
          <a:xfrm>
            <a:off x="419100" y="6362700"/>
            <a:ext cx="11353800" cy="9525"/>
          </a:xfrm>
          <a:custGeom>
            <a:avLst/>
            <a:gdLst/>
            <a:ahLst/>
            <a:cxnLst/>
            <a:rect l="l" t="t" r="r" b="b"/>
            <a:pathLst>
              <a:path w="11353800" h="9525">
                <a:moveTo>
                  <a:pt x="0" y="0"/>
                </a:moveTo>
                <a:lnTo>
                  <a:pt x="113538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46722" y="65593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自研语料与开放数据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24049" y="65593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分析与可视化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44098" y="65431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06000" y="-381000"/>
            <a:ext cx="2667000" cy="2667000"/>
          </a:xfrm>
          <a:prstGeom prst="ellipse">
            <a:avLst/>
          </a:prstGeom>
          <a:solidFill>
            <a:srgbClr val="4A237A">
              <a:alpha val="5000"/>
            </a:srgb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906000" y="4953000"/>
            <a:ext cx="1905000" cy="1905000"/>
          </a:xfrm>
          <a:prstGeom prst="rect">
            <a:avLst/>
          </a:prstGeom>
          <a:solidFill>
            <a:srgbClr val="7E57C2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0535" y="265748"/>
            <a:ext cx="393701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知识图谱与空间分析（要点）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7439" y="354806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04850"/>
            <a:ext cx="1219200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704850"/>
            <a:ext cx="5715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060" y="861060"/>
            <a:ext cx="39037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结构浏览 + 空间热点 — 结论与中期报告 §4–5 同源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95300" y="10858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31508" y="1081564"/>
            <a:ext cx="98179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knowledge_graph.html：力导向；节点/边类型筛选；导出图可用作论文插图（与 merged 语义一致，规模为子集）。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95300" y="14097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31508" y="1405414"/>
            <a:ext cx="572121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图谱侧重「文化锚点—景点」对应、共现与传承等关系类型混合展示。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17335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31508" y="1729264"/>
            <a:ext cx="80488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spatial_analysis.html：核密度热点（桂城一级、里水/大沥/狮山二级）；DBSCAN 2 大集聚区。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95300" y="20574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32460" y="2061210"/>
            <a:ext cx="91001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空间结论：中心城区现代设施 POI 密；西南带非遗叙事密度高，存在「文化富集—旅游转化不足」片区（例：九江）。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95300" y="24003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31508" y="2396014"/>
            <a:ext cx="351458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答辩推荐全屏 HTML；备离线目录防断网。</a:t>
            </a:r>
          </a:p>
        </p:txBody>
      </p:sp>
      <p:sp>
        <p:nvSpPr>
          <p:cNvPr id="21" name="Line 21"/>
          <p:cNvSpPr/>
          <p:nvPr/>
        </p:nvSpPr>
        <p:spPr>
          <a:xfrm>
            <a:off x="419100" y="6362700"/>
            <a:ext cx="11353800" cy="9525"/>
          </a:xfrm>
          <a:custGeom>
            <a:avLst/>
            <a:gdLst/>
            <a:ahLst/>
            <a:cxnLst/>
            <a:rect l="l" t="t" r="r" b="b"/>
            <a:pathLst>
              <a:path w="11353800" h="9525">
                <a:moveTo>
                  <a:pt x="0" y="0"/>
                </a:moveTo>
                <a:lnTo>
                  <a:pt x="113538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46722" y="65593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自研语料与开放数据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24049" y="65593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分析与可视化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01379" y="654319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06000" y="-381000"/>
            <a:ext cx="2667000" cy="2667000"/>
          </a:xfrm>
          <a:prstGeom prst="ellipse">
            <a:avLst/>
          </a:prstGeom>
          <a:solidFill>
            <a:srgbClr val="4A237A">
              <a:alpha val="5000"/>
            </a:srgb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906000" y="4953000"/>
            <a:ext cx="1905000" cy="1905000"/>
          </a:xfrm>
          <a:prstGeom prst="rect">
            <a:avLst/>
          </a:prstGeom>
          <a:solidFill>
            <a:srgbClr val="7E57C2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0535" y="265748"/>
            <a:ext cx="303990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幻灯片版式与现场演示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7439" y="354806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04850"/>
            <a:ext cx="1219200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704850"/>
            <a:ext cx="5715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060" y="861060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清华紫系答辩模板 + HTML 全屏演示顺序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95300" y="11620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31508" y="1157764"/>
            <a:ext cx="870994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本片视觉：顶栏 #4A237A、左强调 #9C27B0、副条浅紫 #F3E5F5、正文混排 KPI / 双栏 / 列表 / 四宫格。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95300" y="15240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31508" y="1519714"/>
            <a:ext cx="637296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信息密度控制：每页 1 个主命题 + 证据链（数字 + 路径）+ 口播 1–2 句展开。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18859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32460" y="1889760"/>
            <a:ext cx="83816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演示顺序建议：coupling_analysis → spatial_analysis → knowledge_graph（先讲结论归因，再回结构）。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95300" y="22479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31508" y="2243614"/>
            <a:ext cx="43153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备用：论文静态图、口播数字卡片、离线 HTML 包。</a:t>
            </a:r>
          </a:p>
        </p:txBody>
      </p:sp>
      <p:sp>
        <p:nvSpPr>
          <p:cNvPr id="19" name="Line 19"/>
          <p:cNvSpPr/>
          <p:nvPr/>
        </p:nvSpPr>
        <p:spPr>
          <a:xfrm>
            <a:off x="419100" y="6362700"/>
            <a:ext cx="11353800" cy="9525"/>
          </a:xfrm>
          <a:custGeom>
            <a:avLst/>
            <a:gdLst/>
            <a:ahLst/>
            <a:cxnLst/>
            <a:rect l="l" t="t" r="r" b="b"/>
            <a:pathLst>
              <a:path w="11353800" h="9525">
                <a:moveTo>
                  <a:pt x="0" y="0"/>
                </a:moveTo>
                <a:lnTo>
                  <a:pt x="113538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46722" y="65593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自研语料与开放数据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24049" y="65593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分析与可视化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36978" y="6543199"/>
            <a:ext cx="1102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06000" y="-381000"/>
            <a:ext cx="2667000" cy="2667000"/>
          </a:xfrm>
          <a:prstGeom prst="ellipse">
            <a:avLst/>
          </a:prstGeom>
          <a:solidFill>
            <a:srgbClr val="4A237A">
              <a:alpha val="5000"/>
            </a:srgb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906000" y="4953000"/>
            <a:ext cx="1905000" cy="1905000"/>
          </a:xfrm>
          <a:prstGeom prst="rect">
            <a:avLst/>
          </a:prstGeom>
          <a:solidFill>
            <a:srgbClr val="7E57C2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0535" y="265748"/>
            <a:ext cx="244182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耦合：四象限统计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7439" y="354806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04850"/>
            <a:ext cx="1219200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704850"/>
            <a:ext cx="5715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060" y="861060"/>
            <a:ext cx="46485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与 coupling_analysis.html / coupling_results.json 一致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1524000"/>
            <a:ext cx="4953000" cy="1905000"/>
          </a:xfrm>
          <a:prstGeom prst="rect">
            <a:avLst/>
          </a:prstGeom>
          <a:solidFill>
            <a:srgbClr val="EDE7F6"/>
          </a:solidFill>
          <a:ln w="9525">
            <a:solidFill>
              <a:srgbClr val="D1C4E9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54405" y="1673542"/>
            <a:ext cx="44388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4408" y="2262664"/>
            <a:ext cx="24080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强耦合（文化有 + 景点有）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7265" y="2534602"/>
            <a:ext cx="27333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非遗—传承基地/博物馆等叙事—场所成对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86500" y="1524000"/>
            <a:ext cx="4953000" cy="1905000"/>
          </a:xfrm>
          <a:prstGeom prst="rect">
            <a:avLst/>
          </a:prstGeom>
          <a:solidFill>
            <a:srgbClr val="FCE4EC"/>
          </a:solidFill>
          <a:ln w="9525">
            <a:solidFill>
              <a:srgbClr val="D1C4E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478905" y="1673542"/>
            <a:ext cx="31277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98908" y="2262664"/>
            <a:ext cx="221248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错位（关联弱 / 体验浅）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01765" y="2534602"/>
            <a:ext cx="21045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挖掘不充分、主题—空间弱对齐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810000"/>
            <a:ext cx="4953000" cy="1905000"/>
          </a:xfrm>
          <a:prstGeom prst="rect">
            <a:avLst/>
          </a:prstGeom>
          <a:solidFill>
            <a:srgbClr val="E8DAEF"/>
          </a:solidFill>
          <a:ln w="9525">
            <a:solidFill>
              <a:srgbClr val="D1C4E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54405" y="3959542"/>
            <a:ext cx="44388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4408" y="4548664"/>
            <a:ext cx="23786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缺失 A（文化有 + 景点无）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7265" y="4820602"/>
            <a:ext cx="26336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未转化为可游产品（如部分省级非遗）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86500" y="3810000"/>
            <a:ext cx="4953000" cy="1905000"/>
          </a:xfrm>
          <a:prstGeom prst="rect">
            <a:avLst/>
          </a:prstGeom>
          <a:solidFill>
            <a:srgbClr val="D1C4E9"/>
          </a:solidFill>
          <a:ln w="9525">
            <a:solidFill>
              <a:srgbClr val="D1C4E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478905" y="3959542"/>
            <a:ext cx="31277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98908" y="4548664"/>
            <a:ext cx="23786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缺失 B（景点有 + 文化弱）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01765" y="4820602"/>
            <a:ext cx="27640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「有形无魂」— 现代公园等缺少南海叙事</a:t>
            </a:r>
          </a:p>
        </p:txBody>
      </p:sp>
      <p:sp>
        <p:nvSpPr>
          <p:cNvPr id="27" name="Line 27"/>
          <p:cNvSpPr/>
          <p:nvPr/>
        </p:nvSpPr>
        <p:spPr>
          <a:xfrm>
            <a:off x="419100" y="6362700"/>
            <a:ext cx="11353800" cy="9525"/>
          </a:xfrm>
          <a:custGeom>
            <a:avLst/>
            <a:gdLst/>
            <a:ahLst/>
            <a:cxnLst/>
            <a:rect l="l" t="t" r="r" b="b"/>
            <a:pathLst>
              <a:path w="11353800" h="9525">
                <a:moveTo>
                  <a:pt x="0" y="0"/>
                </a:moveTo>
                <a:lnTo>
                  <a:pt x="113538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46722" y="65593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自研语料与开放数据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84294" y="65593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耦合与反思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01379" y="654319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06000" y="-381000"/>
            <a:ext cx="2667000" cy="2667000"/>
          </a:xfrm>
          <a:prstGeom prst="ellipse">
            <a:avLst/>
          </a:prstGeom>
          <a:solidFill>
            <a:srgbClr val="4A237A">
              <a:alpha val="5000"/>
            </a:srgb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906000" y="4953000"/>
            <a:ext cx="1905000" cy="1905000"/>
          </a:xfrm>
          <a:prstGeom prst="rect">
            <a:avLst/>
          </a:prstGeom>
          <a:solidFill>
            <a:srgbClr val="7E57C2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0535" y="265748"/>
            <a:ext cx="393701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耦合机制与空间片区（解读）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7439" y="354806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04850"/>
            <a:ext cx="1219200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704850"/>
            <a:ext cx="5715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060" y="861060"/>
            <a:ext cx="45872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四象限机制一句话 + 中心城区 vs 西南带 + 镇街协调度口述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95300" y="10858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30555" y="1073468"/>
            <a:ext cx="70435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强耦合：叙事资源与非遗传习/展示场所路径短，宜作为案例展示「融合成功」。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95300" y="13716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31508" y="1367314"/>
            <a:ext cx="77323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错位：有文化基因或非遗名称，但 POI 体验度低、评论缺少文化关键词 — 需深化叙事与产品。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16573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31508" y="1653064"/>
            <a:ext cx="785336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缺失 A：典籍/名录高频但无对应景点或线路 — 优先做「非遗旅游化」清单（中期报告 14 项）。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95300" y="19431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31508" y="1938814"/>
            <a:ext cx="60936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缺失 B：大体量城市公园/湖体 — 可注入十番、醒狮、书院等模块化活动。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95300" y="22288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32460" y="2232660"/>
            <a:ext cx="77594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空间：桂城 D≈0.88 极高协调；西樵 C 高 T 偏低；九江 POI 少非遗多 — 典型「文化富集—旅游薄」。</a:t>
            </a:r>
          </a:p>
        </p:txBody>
      </p:sp>
      <p:sp>
        <p:nvSpPr>
          <p:cNvPr id="21" name="Line 21"/>
          <p:cNvSpPr/>
          <p:nvPr/>
        </p:nvSpPr>
        <p:spPr>
          <a:xfrm>
            <a:off x="419100" y="6362700"/>
            <a:ext cx="11353800" cy="9525"/>
          </a:xfrm>
          <a:custGeom>
            <a:avLst/>
            <a:gdLst/>
            <a:ahLst/>
            <a:cxnLst/>
            <a:rect l="l" t="t" r="r" b="b"/>
            <a:pathLst>
              <a:path w="11353800" h="9525">
                <a:moveTo>
                  <a:pt x="0" y="0"/>
                </a:moveTo>
                <a:lnTo>
                  <a:pt x="113538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46722" y="65593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自研语料与开放数据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4294" y="65593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耦合与反思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01379" y="654319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06000" y="-381000"/>
            <a:ext cx="2667000" cy="2667000"/>
          </a:xfrm>
          <a:prstGeom prst="ellipse">
            <a:avLst/>
          </a:prstGeom>
          <a:solidFill>
            <a:srgbClr val="4A237A">
              <a:alpha val="5000"/>
            </a:srgb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906000" y="4953000"/>
            <a:ext cx="1905000" cy="1905000"/>
          </a:xfrm>
          <a:prstGeom prst="rect">
            <a:avLst/>
          </a:prstGeom>
          <a:solidFill>
            <a:srgbClr val="7E57C2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0535" y="265748"/>
            <a:ext cx="363797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可复现链条与相对开题增量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7439" y="354806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04850"/>
            <a:ext cx="1219200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704850"/>
            <a:ext cx="5715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060" y="861060"/>
            <a:ext cx="32377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仓库即方法论文档 · 开题小样 → 中期规模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28750"/>
            <a:ext cx="5524500" cy="4095750"/>
          </a:xfrm>
          <a:prstGeom prst="rect">
            <a:avLst/>
          </a:prstGeom>
          <a:solidFill>
            <a:srgbClr val="F7F3FA"/>
          </a:solidFill>
          <a:ln w="9525">
            <a:solidFill>
              <a:srgbClr val="D1C4E9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57200" y="1428750"/>
            <a:ext cx="57150" cy="40957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28650" y="1628775"/>
            <a:ext cx="22808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工具与复现（code/）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3412" y="1993106"/>
            <a:ext cx="46209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采集：code/collection — OCR、POI、评论爬虫、行政边界。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3412" y="2278856"/>
            <a:ext cx="43169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处理：code/processing — 清洗、导出 CSV、LLM 字段。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3412" y="2564606"/>
            <a:ext cx="5606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分析：code/analysis — 双谱系、耦合、空间；visualization — 知识图谱。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3412" y="2850356"/>
            <a:ext cx="61243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配置与抽取：config.json、output/qwen_extraction/ 全链路日志与 merged。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3412" y="3136106"/>
            <a:ext cx="41362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图表：Python + ECharts → HTML；依赖 lib/ 前端库。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10300" y="1428750"/>
            <a:ext cx="5524500" cy="4095750"/>
          </a:xfrm>
          <a:prstGeom prst="rect">
            <a:avLst/>
          </a:prstGeom>
          <a:solidFill>
            <a:srgbClr val="FAFBFC"/>
          </a:solidFill>
          <a:ln w="9525">
            <a:solidFill>
              <a:srgbClr val="D1C4E9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210300" y="1428750"/>
            <a:ext cx="57150" cy="40957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81750" y="1628775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相对开题硬增量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86512" y="1993106"/>
            <a:ext cx="36597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开题：43 典籍规划 + 祖庙 50 节点示意级图谱。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86512" y="2278856"/>
            <a:ext cx="42758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中期：千万级索引字符 + 万级 POI + 万级关系 merged。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86512" y="2564606"/>
            <a:ext cx="50727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中期：6 大交互页面可投屏；耦合四象限 + 7 镇街协调度表可复述。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86512" y="2850356"/>
            <a:ext cx="4957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· 中期：体验度与聚类识别 2 个大型集聚区，可直接对照政策建议。</a:t>
            </a:r>
          </a:p>
        </p:txBody>
      </p:sp>
      <p:sp>
        <p:nvSpPr>
          <p:cNvPr id="26" name="Line 26"/>
          <p:cNvSpPr/>
          <p:nvPr/>
        </p:nvSpPr>
        <p:spPr>
          <a:xfrm>
            <a:off x="419100" y="6362700"/>
            <a:ext cx="11353800" cy="9525"/>
          </a:xfrm>
          <a:custGeom>
            <a:avLst/>
            <a:gdLst/>
            <a:ahLst/>
            <a:cxnLst/>
            <a:rect l="l" t="t" r="r" b="b"/>
            <a:pathLst>
              <a:path w="11353800" h="9525">
                <a:moveTo>
                  <a:pt x="0" y="0"/>
                </a:moveTo>
                <a:lnTo>
                  <a:pt x="113538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46722" y="65593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自研语料与开放数据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84294" y="65593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耦合与反思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601379" y="654319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06000" y="-381000"/>
            <a:ext cx="2667000" cy="2667000"/>
          </a:xfrm>
          <a:prstGeom prst="ellipse">
            <a:avLst/>
          </a:prstGeom>
          <a:solidFill>
            <a:srgbClr val="4A237A">
              <a:alpha val="5000"/>
            </a:srgb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906000" y="4953000"/>
            <a:ext cx="1905000" cy="1905000"/>
          </a:xfrm>
          <a:prstGeom prst="rect">
            <a:avLst/>
          </a:prstGeom>
          <a:solidFill>
            <a:srgbClr val="7E57C2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0535" y="265748"/>
            <a:ext cx="214279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不足与后续工作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7439" y="354806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04850"/>
            <a:ext cx="1219200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704850"/>
            <a:ext cx="5715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060" y="861060"/>
            <a:ext cx="38862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诚实交代限制 · 与开题目标 5（方案）闭合的计划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95300" y="10477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31508" y="1043464"/>
            <a:ext cx="776956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不足：等时圈/可达性 API 分析尚未全部闭合，需在论文中对照开题承诺说明进度与替代指标。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95300" y="13335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31508" y="1329214"/>
            <a:ext cx="580501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不足：评论仍受反爬、平台样本偏差影响；跨平台情感可比性需约束。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16192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31508" y="1614964"/>
            <a:ext cx="61960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不足：论文正文处于统稿阶段，图表与附录表格需与 merged 再对齐一轮。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95300" y="19050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32460" y="1908810"/>
            <a:ext cx="66815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后续：2–3 个文旅体验提升方案草案（古村连线、非遗集群、现代公园模块化活动）。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95300" y="219075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31508" y="2186464"/>
            <a:ext cx="556293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后续：可达性补做 → 与空间热力叠置，回应开题「热点/潜力点」。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95300" y="2476500"/>
            <a:ext cx="47625" cy="20955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31508" y="2472214"/>
            <a:ext cx="425943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后续：查重、预答辩与材料打包（含离线 HTML）。</a:t>
            </a:r>
          </a:p>
        </p:txBody>
      </p:sp>
      <p:sp>
        <p:nvSpPr>
          <p:cNvPr id="23" name="Line 23"/>
          <p:cNvSpPr/>
          <p:nvPr/>
        </p:nvSpPr>
        <p:spPr>
          <a:xfrm>
            <a:off x="419100" y="6362700"/>
            <a:ext cx="11353800" cy="9525"/>
          </a:xfrm>
          <a:custGeom>
            <a:avLst/>
            <a:gdLst/>
            <a:ahLst/>
            <a:cxnLst/>
            <a:rect l="l" t="t" r="r" b="b"/>
            <a:pathLst>
              <a:path w="11353800" h="9525">
                <a:moveTo>
                  <a:pt x="0" y="0"/>
                </a:moveTo>
                <a:lnTo>
                  <a:pt x="113538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46722" y="65593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自研语料与开放数据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84294" y="65593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耦合与反思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601379" y="654319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06000" y="-381000"/>
            <a:ext cx="2667000" cy="2667000"/>
          </a:xfrm>
          <a:prstGeom prst="ellipse">
            <a:avLst/>
          </a:prstGeom>
          <a:solidFill>
            <a:srgbClr val="4A237A">
              <a:alpha val="5000"/>
            </a:srgb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906000" y="4953000"/>
            <a:ext cx="1905000" cy="1905000"/>
          </a:xfrm>
          <a:prstGeom prst="rect">
            <a:avLst/>
          </a:prstGeom>
          <a:solidFill>
            <a:srgbClr val="7E57C2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0535" y="265748"/>
            <a:ext cx="184375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中期核心结论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7439" y="354806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毕设·中期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704850"/>
            <a:ext cx="12192000" cy="457200"/>
          </a:xfrm>
          <a:prstGeom prst="rect">
            <a:avLst/>
          </a:prstGeom>
          <a:solidFill>
            <a:srgbClr val="F3E5F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704850"/>
            <a:ext cx="5715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0060" y="861060"/>
            <a:ext cx="27119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 — 方法 — 下一步（收束一页）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66750" y="1428750"/>
            <a:ext cx="3429000" cy="2095500"/>
          </a:xfrm>
          <a:prstGeom prst="rect">
            <a:avLst/>
          </a:prstGeom>
          <a:solidFill>
            <a:srgbClr val="F7F3FA"/>
          </a:solidFill>
          <a:ln w="9525">
            <a:solidFill>
              <a:srgbClr val="D1C4E9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66750" y="1428750"/>
            <a:ext cx="57150" cy="209550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76300" y="16859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数据层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2015" y="2058352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语料 53 文件 · POI 13,113 ·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2015" y="2267902"/>
            <a:ext cx="17365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评论匹配 26k+ · merged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2015" y="2477452"/>
            <a:ext cx="17518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8k 实体 / 19k 关系可复核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476750" y="1428750"/>
            <a:ext cx="3429000" cy="2095500"/>
          </a:xfrm>
          <a:prstGeom prst="rect">
            <a:avLst/>
          </a:prstGeom>
          <a:solidFill>
            <a:srgbClr val="F7F3FA"/>
          </a:solidFill>
          <a:ln w="9525">
            <a:solidFill>
              <a:srgbClr val="D1C4E9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476750" y="1428750"/>
            <a:ext cx="57150" cy="2095500"/>
          </a:xfrm>
          <a:prstGeom prst="rect">
            <a:avLst/>
          </a:prstGeom>
          <a:solidFill>
            <a:srgbClr val="7E57C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686300" y="16859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方法层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92015" y="2058352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双谱系 + 《分类体系》指导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92015" y="2267902"/>
            <a:ext cx="15985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抽取合并 + 图谱/空间/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92015" y="24774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耦合量化，全链条可演示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286750" y="1428750"/>
            <a:ext cx="3429000" cy="2095500"/>
          </a:xfrm>
          <a:prstGeom prst="rect">
            <a:avLst/>
          </a:prstGeom>
          <a:solidFill>
            <a:srgbClr val="F7F3FA"/>
          </a:solidFill>
          <a:ln w="9525">
            <a:solidFill>
              <a:srgbClr val="D1C4E9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8286750" y="1428750"/>
            <a:ext cx="57150" cy="209550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496300" y="16859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下一步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02015" y="2058352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可达性闭合 · 方案论证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02015" y="226790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论文定稿 · 答辩预演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02015" y="24774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清华紫系材料归档</a:t>
            </a:r>
          </a:p>
        </p:txBody>
      </p:sp>
      <p:sp>
        <p:nvSpPr>
          <p:cNvPr id="29" name="Line 29"/>
          <p:cNvSpPr/>
          <p:nvPr/>
        </p:nvSpPr>
        <p:spPr>
          <a:xfrm>
            <a:off x="419100" y="6362700"/>
            <a:ext cx="11353800" cy="9525"/>
          </a:xfrm>
          <a:custGeom>
            <a:avLst/>
            <a:gdLst/>
            <a:ahLst/>
            <a:cxnLst/>
            <a:rect l="l" t="t" r="r" b="b"/>
            <a:pathLst>
              <a:path w="11353800" h="9525">
                <a:moveTo>
                  <a:pt x="0" y="0"/>
                </a:moveTo>
                <a:lnTo>
                  <a:pt x="11353800" y="0"/>
                </a:lnTo>
              </a:path>
            </a:pathLst>
          </a:custGeom>
          <a:noFill/>
          <a:ln w="9525">
            <a:solidFill>
              <a:srgbClr val="F3E5F5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46722" y="65593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自研语料与开放数据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84294" y="65593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耦合与反思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601379" y="6543199"/>
            <a:ext cx="145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4A23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170700" y="4067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谢谢各位老师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72497" y="2245995"/>
            <a:ext cx="5447005" cy="6001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感谢</a:t>
            </a:r>
            <a:r>
              <a:rPr lang="zh-CN" altLang="en-US" sz="3900" b="1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倾</a:t>
            </a:r>
            <a:r>
              <a:rPr lang="zh-CN" sz="3900" b="1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听 </a:t>
            </a:r>
            <a:r>
              <a:rPr lang="zh-CN" sz="3900" b="1" dirty="0">
                <a:solidFill>
                  <a:srgbClr val="4A237A"/>
                </a:solidFill>
                <a:latin typeface="Arial"/>
                <a:ea typeface="Microsoft YaHei"/>
                <a:cs typeface="Arial"/>
              </a:rPr>
              <a:t>· 恳请批评指正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08620" y="3108008"/>
            <a:ext cx="41747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佛山市南海区文旅融合调研 — 中期汇报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76237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7E57C2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714750"/>
            <a:ext cx="95250" cy="9525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238500" y="4000500"/>
            <a:ext cx="5715000" cy="1381125"/>
          </a:xfrm>
          <a:prstGeom prst="rect">
            <a:avLst/>
          </a:prstGeom>
          <a:solidFill>
            <a:srgbClr val="F7F3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487352" y="428339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答辩人：孟帅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79720" y="463296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指导老师：邬东璠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30240" y="49663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清华大学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7F3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480131" y="6535102"/>
            <a:ext cx="32317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2026年3月 · 本项目仓库可追溯全部图表与数据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76815" y="653510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2843</Words>
  <Application>Microsoft Office PowerPoint</Application>
  <PresentationFormat>宽屏</PresentationFormat>
  <Paragraphs>252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帅 孟</cp:lastModifiedBy>
  <cp:revision>3</cp:revision>
  <dcterms:created xsi:type="dcterms:W3CDTF">2013-01-27T09:14:16Z</dcterms:created>
  <dcterms:modified xsi:type="dcterms:W3CDTF">2026-03-30T06:33:51Z</dcterms:modified>
  <cp:category/>
</cp:coreProperties>
</file>