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53.svg" ContentType="image/svg"/>
  <Override PartName="/ppt/media/image55.svg" ContentType="image/svg"/>
  <Override PartName="/ppt/media/image57.svg" ContentType="image/svg"/>
  <Override PartName="/ppt/media/image59.svg" ContentType="image/svg"/>
  <Override PartName="/ppt/media/image61.svg" ContentType="image/svg"/>
  <Override PartName="/ppt/media/image63.svg" ContentType="image/svg"/>
  <Override PartName="/ppt/media/image65.svg" ContentType="image/svg"/>
  <Override PartName="/ppt/media/image67.svg" ContentType="image/svg"/>
  <Override PartName="/ppt/media/image68.svg" ContentType="image/svg"/>
  <Override PartName="/ppt/media/image70.svg" ContentType="image/svg"/>
  <Override PartName="/ppt/media/image71.svg" ContentType="image/svg"/>
  <Override PartName="/ppt/media/image73.svg" ContentType="image/svg"/>
  <Override PartName="/ppt/media/image75.svg" ContentType="image/svg"/>
  <Override PartName="/ppt/media/image77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62" r:id="rId3"/>
    <p:sldId id="268" r:id="rId4"/>
    <p:sldId id="308" r:id="rId5"/>
    <p:sldId id="274" r:id="rId6"/>
    <p:sldId id="280" r:id="rId7"/>
    <p:sldId id="283" r:id="rId8"/>
    <p:sldId id="312" r:id="rId9"/>
    <p:sldId id="292" r:id="rId10"/>
    <p:sldId id="298" r:id="rId11"/>
    <p:sldId id="301" r:id="rId12"/>
    <p:sldId id="307" r:id="rId13"/>
    <p:sldId id="309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07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5C8FE-0176-40C5-9514-1F7F7A4E530E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1F074-169E-48FA-9618-D02516D61B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928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6419-2D9B-C03B-D9AD-FA6D491E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70BA1-D64A-FBA5-F91F-2EFA41977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EBF5D-CB34-2B09-CD2A-1EF08DF40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2762D-C243-5EE2-5535-7F8EAB6A67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89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A393E-FA8E-A2D4-617E-710BA29C2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85A1D9-CDC9-E834-4CA6-E6B9837D8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C1C34D-4CCB-CE36-A934-2C10D854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C5DD7-2A59-C0CF-E9AE-44952AB08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49C40A-95F3-63C2-C562-CE52F12F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88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A75D1-2246-AD7B-03CD-F52F0864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A3541C-DE90-0333-9F73-AF78FDA44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47A69-B25B-FF3E-51E9-E6320C23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F8FC69-3888-E16B-BDB8-7C921791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F21FD-D394-2453-D401-81B90DAE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51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C1910-8882-3B03-28E3-09DD9FC6A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24A8F4-9B0D-CA87-ADB3-613CBD134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6F971E-BD60-69BB-7506-0AA0EC39B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37564-AF16-2250-99E4-CD674164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07163-B4EB-64C5-63B2-C8DA7719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86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FDB55-B7CC-688F-5236-3D5EEBFF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F8266-1EEB-B706-D5F0-8A3ECE67D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E4F197-0CBF-B5FD-D980-849F05A4A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73C345-608C-32B3-7FF2-2CEED284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5A6A96-076E-B129-3CE4-4C867FB8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C779F6-88A7-4BED-DE6C-94E52F8B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83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1EA30-6A6D-E5F6-207E-BE7AF720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C7DD48-4D92-7525-7051-300508B58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18FF08-8A3A-C635-9254-A1B39C9A0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1A13EB-1404-95AA-5180-DEF023C2A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2FD481-4F52-5E97-1ACA-15C9BF272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3BF677-D36A-E51A-A501-7BEAB8E20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B19544-02AE-3EAD-01D3-0012632F0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AFB802-735D-4BE8-D6E1-4419B603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30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07B02-E67A-25F5-1BD8-218F1BF7E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BB0E0C-C024-65BF-8CE9-4B25F809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238AE0-C8B9-72AF-595F-7298BACED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EFFB0-29F4-F514-967A-8453FAE2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98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199146-4038-E2E6-8F87-9B78A9E2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CEE5B5-CEE0-AF73-949E-70CA2C8A9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A11680-D1EF-A403-D6B5-529A487F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10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55722-BD85-3F3E-7A70-CD850CE1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77C62A-0AA2-2030-8253-9DC662495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A7419-D2A4-BF4E-6920-D5ECEE2D2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1ECA5A-EA6E-09C3-0440-39776BF1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CF2382-5E15-8C91-2E79-B5EB6E31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6CC2E9-DD22-67D8-B0C3-0029E0E1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20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849B1-565D-276E-2D16-CFB7F53B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CA590E-5D3B-C5DC-B2D8-7B81F8614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5FDAF2-4CBC-66C7-F426-31B19529F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7D8AAC-720F-5813-B10D-604656A6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BD0C88-05D8-87CF-5F69-39DBE1A8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899B09-9687-35FB-76B3-2DD8F7EE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14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4BC18-78C1-B3DD-05EA-0C17D915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2EE63A-78CD-3320-3EEE-E493A9BD5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3BC63-E91A-CB31-755C-5E8809F3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695953-CA79-C55C-F111-60C6D888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5C3DB5-D000-2905-C254-E38E96B8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87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38E742-09C5-C6BE-D89E-8A3D7DBA6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CCB6DD-C537-C0E3-57BE-3A06D3D02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346643-4672-BF7B-3422-3997C205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3183A-FDC3-A89D-6C24-3BE2B6A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408DB-979A-A0D7-7ED5-A00DCBFFE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0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486983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CC5945-31EB-0330-D3B3-4F7CE902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D92BB3-F308-E046-57E5-6105D4843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DCC63-E017-2793-5EDA-8128D5526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EF85B-AD69-4594-A51C-3BA94401DC9B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011CB9-6611-7B22-B096-B9195215B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CC9046-2FB9-965C-77AB-A05A7E628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2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0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svg"/><Relationship Id="rId15" Type="http://schemas.openxmlformats.org/officeDocument/2006/relationships/image" Target="../media/image33.png"/><Relationship Id="rId16" Type="http://schemas.openxmlformats.org/officeDocument/2006/relationships/image" Target="../media/image34.svg"/><Relationship Id="rId17" Type="http://schemas.openxmlformats.org/officeDocument/2006/relationships/image" Target="../media/image35.png"/><Relationship Id="rId18" Type="http://schemas.openxmlformats.org/officeDocument/2006/relationships/image" Target="../media/image36.svg"/><Relationship Id="rId19" Type="http://schemas.openxmlformats.org/officeDocument/2006/relationships/image" Target="../media/image37.png"/><Relationship Id="rId20" Type="http://schemas.openxmlformats.org/officeDocument/2006/relationships/image" Target="../media/image38.svg"/><Relationship Id="rId21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9.png"/><Relationship Id="rId5" Type="http://schemas.openxmlformats.org/officeDocument/2006/relationships/image" Target="../media/image10.png"/><Relationship Id="rId6" Type="http://schemas.openxmlformats.org/officeDocument/2006/relationships/image" Target="../media/image40.jp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0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svg"/><Relationship Id="rId8" Type="http://schemas.openxmlformats.org/officeDocument/2006/relationships/image" Target="../media/image56.png"/><Relationship Id="rId9" Type="http://schemas.openxmlformats.org/officeDocument/2006/relationships/image" Target="../media/image57.svg"/><Relationship Id="rId10" Type="http://schemas.openxmlformats.org/officeDocument/2006/relationships/image" Target="../media/image58.png"/><Relationship Id="rId11" Type="http://schemas.openxmlformats.org/officeDocument/2006/relationships/image" Target="../media/image59.svg"/><Relationship Id="rId12" Type="http://schemas.openxmlformats.org/officeDocument/2006/relationships/image" Target="../media/image60.png"/><Relationship Id="rId13" Type="http://schemas.openxmlformats.org/officeDocument/2006/relationships/image" Target="../media/image61.svg"/><Relationship Id="rId14" Type="http://schemas.openxmlformats.org/officeDocument/2006/relationships/image" Target="../media/image62.png"/><Relationship Id="rId15" Type="http://schemas.openxmlformats.org/officeDocument/2006/relationships/image" Target="../media/image63.svg"/><Relationship Id="rId16" Type="http://schemas.openxmlformats.org/officeDocument/2006/relationships/image" Target="../media/image64.png"/><Relationship Id="rId17" Type="http://schemas.openxmlformats.org/officeDocument/2006/relationships/image" Target="../media/image65.svg"/><Relationship Id="rId18" Type="http://schemas.openxmlformats.org/officeDocument/2006/relationships/image" Target="../media/image66.png"/><Relationship Id="rId19" Type="http://schemas.openxmlformats.org/officeDocument/2006/relationships/image" Target="../media/image67.svg"/><Relationship Id="rId20" Type="http://schemas.openxmlformats.org/officeDocument/2006/relationships/image" Target="../media/image68.svg"/><Relationship Id="rId21" Type="http://schemas.openxmlformats.org/officeDocument/2006/relationships/image" Target="../media/image69.png"/><Relationship Id="rId22" Type="http://schemas.openxmlformats.org/officeDocument/2006/relationships/image" Target="../media/image70.svg"/><Relationship Id="rId23" Type="http://schemas.openxmlformats.org/officeDocument/2006/relationships/image" Target="../media/image71.svg"/><Relationship Id="rId24" Type="http://schemas.openxmlformats.org/officeDocument/2006/relationships/image" Target="../media/image72.png"/><Relationship Id="rId25" Type="http://schemas.openxmlformats.org/officeDocument/2006/relationships/image" Target="../media/image73.svg"/><Relationship Id="rId26" Type="http://schemas.openxmlformats.org/officeDocument/2006/relationships/image" Target="../media/image74.png"/><Relationship Id="rId27" Type="http://schemas.openxmlformats.org/officeDocument/2006/relationships/image" Target="../media/image75.svg"/><Relationship Id="rId28" Type="http://schemas.openxmlformats.org/officeDocument/2006/relationships/image" Target="../media/image76.png"/><Relationship Id="rId29" Type="http://schemas.openxmlformats.org/officeDocument/2006/relationships/image" Target="../media/image77.svg"/><Relationship Id="rId30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10.png"/><Relationship Id="rId6" Type="http://schemas.openxmlformats.org/officeDocument/2006/relationships/image" Target="../media/image93.png"/><Relationship Id="rId7" Type="http://schemas.openxmlformats.org/officeDocument/2006/relationships/image" Target="../media/image43.png"/><Relationship Id="rId8" Type="http://schemas.openxmlformats.org/officeDocument/2006/relationships/image" Target="../media/image94.png"/><Relationship Id="rId9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d4f14a91110eed80d95e9ee835151177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26" y="1736370"/>
            <a:ext cx="10993549" cy="227683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68fe1269-8cc2-4116-97e6-2e27b97da75f_image_a64c0d0e401139dc71eb9cf1168afb74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27" y="1736371"/>
            <a:ext cx="821803" cy="867934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68fe1269-8cc2-4116-97e6-2e27b97da75f_image_a378cef172703a1f795be372f0b9f638_141235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1778" y="3429000"/>
            <a:ext cx="1430995" cy="2106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38537" y="4526254"/>
            <a:ext cx="10114925" cy="24434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22"/>
              </a:lnSpc>
            </a:pPr>
            <a:r>
              <a:t>姓名：孟帅</a:t>
            </a:r>
            <a:endParaRPr lang="en-US" sz="1568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/>
            <a:r>
              <a:t>学号：2021010910</a:t>
            </a:r>
          </a:p>
          <a:p>
            <a:pPr/>
            <a:r>
              <a:t>导师：邬东璠</a:t>
            </a:r>
          </a:p>
          <a:p>
            <a:pPr/>
            <a:r>
              <a:t>时间：2026.03</a:t>
            </a:r>
          </a:p>
        </p:txBody>
      </p:sp>
      <p:sp>
        <p:nvSpPr>
          <p:cNvPr id="7" name="Text 1"/>
          <p:cNvSpPr/>
          <p:nvPr/>
        </p:nvSpPr>
        <p:spPr>
          <a:xfrm>
            <a:off x="1053166" y="2070373"/>
            <a:ext cx="10114925" cy="17592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680"/>
              </a:lnSpc>
            </a:pPr>
            <a:r>
              <a:t>基于多元大数据</a:t>
            </a:r>
            <a:endParaRPr lang="en-US" sz="3120" dirty="0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DejaVu Sans"/>
            </a:endParaRPr>
          </a:p>
          <a:p>
            <a:pPr/>
            <a:r>
              <a:t>佛山市南海区文旅融合调研</a:t>
            </a:r>
          </a:p>
          <a:p>
            <a:pPr/>
            <a:r>
              <a:t>—— 中期汇报</a:t>
            </a:r>
          </a:p>
        </p:txBody>
      </p:sp>
      <p:pic>
        <p:nvPicPr>
          <p:cNvPr id="8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DC0CF87B-110F-CA56-D8DD-317E3E92DF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b0d84d28a4a112fb7b7c16311608c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2114985"/>
            <a:ext cx="534653" cy="576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5193" y="2203596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/>
          </a:p>
        </p:txBody>
      </p:sp>
      <p:pic>
        <p:nvPicPr>
          <p:cNvPr id="4" name="Image 1" descr="https://test.web.static.jianzeppt.com/ppt-temp-img3/1ed02f10db7c5635c754129181281a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81" y="2114985"/>
            <a:ext cx="4483299" cy="576064"/>
          </a:xfrm>
          <a:prstGeom prst="rect">
            <a:avLst/>
          </a:prstGeom>
        </p:spPr>
      </p:pic>
      <p:pic>
        <p:nvPicPr>
          <p:cNvPr id="5" name="Image 2" descr="https://test.web.static.jianzeppt.com/ppt-temp-img3/7998ecc2377d4e3d854d57a76ae707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2955078"/>
            <a:ext cx="534653" cy="5760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335193" y="3043688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/>
          </a:p>
        </p:txBody>
      </p:sp>
      <p:pic>
        <p:nvPicPr>
          <p:cNvPr id="7" name="Image 3" descr="https://test.web.static.jianzeppt.com/ppt-temp-img3/c6d7efe6c1925dff1fa8f004888308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81" y="2955078"/>
            <a:ext cx="4483299" cy="576064"/>
          </a:xfrm>
          <a:prstGeom prst="rect">
            <a:avLst/>
          </a:prstGeom>
        </p:spPr>
      </p:pic>
      <p:pic>
        <p:nvPicPr>
          <p:cNvPr id="8" name="Image 4" descr="https://test.web.static.jianzeppt.com/ppt-temp-img3/923d9c88c34eaa9820eb238fda5fcf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3795171"/>
            <a:ext cx="534653" cy="57606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335193" y="3883783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/>
          </a:p>
        </p:txBody>
      </p:sp>
      <p:pic>
        <p:nvPicPr>
          <p:cNvPr id="10" name="Image 5" descr="https://test.web.static.jianzeppt.com/ppt-temp-img3/7081aec65b7f50102d1d3db6f7085b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581" y="3795171"/>
            <a:ext cx="4483299" cy="576064"/>
          </a:xfrm>
          <a:prstGeom prst="rect">
            <a:avLst/>
          </a:prstGeom>
        </p:spPr>
      </p:pic>
      <p:pic>
        <p:nvPicPr>
          <p:cNvPr id="11" name="Image 6" descr="https://test.web.static.jianzeppt.com/ppt-temp-img3/4356689923ec96610cc104135acfe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4635264"/>
            <a:ext cx="534653" cy="57606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5335193" y="4723876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/>
          </a:p>
        </p:txBody>
      </p:sp>
      <p:pic>
        <p:nvPicPr>
          <p:cNvPr id="13" name="Image 7" descr="https://test.web.static.jianzeppt.com/ppt-temp-img3/ff02c804c53fd622aec5f74405d267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9581" y="4635264"/>
            <a:ext cx="4483299" cy="576064"/>
          </a:xfrm>
          <a:prstGeom prst="rect">
            <a:avLst/>
          </a:prstGeom>
        </p:spPr>
      </p:pic>
      <p:pic>
        <p:nvPicPr>
          <p:cNvPr id="14" name="Image 8" descr="https://test.web.static.jianzeppt.com/ppt-temp-img3/edefb43071be60f0476eeabe42b3c28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257605"/>
            <a:ext cx="498190" cy="576064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741661" y="478098"/>
            <a:ext cx="1282402" cy="475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68"/>
              </a:lnSpc>
            </a:pPr>
            <a:r>
              <a:rPr lang="en-US" sz="5000" b="1" dirty="0" err="1">
                <a:solidFill>
                  <a:srgbClr val="483018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5000" dirty="0"/>
          </a:p>
        </p:txBody>
      </p:sp>
      <p:sp>
        <p:nvSpPr>
          <p:cNvPr id="16" name="Text 5"/>
          <p:cNvSpPr/>
          <p:nvPr/>
        </p:nvSpPr>
        <p:spPr>
          <a:xfrm>
            <a:off x="5915657" y="3064209"/>
            <a:ext cx="43774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第一部分：研究背景与目标回顾</a:t>
            </a:r>
          </a:p>
        </p:txBody>
      </p:sp>
      <p:sp>
        <p:nvSpPr>
          <p:cNvPr id="17" name="Text 6"/>
          <p:cNvSpPr/>
          <p:nvPr/>
        </p:nvSpPr>
        <p:spPr>
          <a:xfrm>
            <a:off x="5906459" y="2224114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第二部分：数据采集与处理成果</a:t>
            </a:r>
          </a:p>
        </p:txBody>
      </p:sp>
      <p:sp>
        <p:nvSpPr>
          <p:cNvPr id="18" name="Text 7"/>
          <p:cNvSpPr/>
          <p:nvPr/>
        </p:nvSpPr>
        <p:spPr>
          <a:xfrm>
            <a:off x="5906459" y="3904301"/>
            <a:ext cx="441421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第三部分：双谱系构建方法与结果</a:t>
            </a:r>
          </a:p>
        </p:txBody>
      </p:sp>
      <p:sp>
        <p:nvSpPr>
          <p:cNvPr id="19" name="Text 8"/>
          <p:cNvSpPr/>
          <p:nvPr/>
        </p:nvSpPr>
        <p:spPr>
          <a:xfrm>
            <a:off x="5906459" y="4744394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第四部分：文旅知识图谱可视化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BD04B63-3983-D778-E336-DA2A6117A6C9}"/>
              </a:ext>
            </a:extLst>
          </p:cNvPr>
          <p:cNvSpPr/>
          <p:nvPr/>
        </p:nvSpPr>
        <p:spPr>
          <a:xfrm>
            <a:off x="1169862" y="3429299"/>
            <a:ext cx="3202352" cy="475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68"/>
              </a:lnSpc>
            </a:pPr>
            <a:r>
              <a:t>第五部分：空间分布特征分析</a:t>
            </a:r>
            <a:endParaRPr lang="en-US" sz="5000" dirty="0"/>
          </a:p>
          <a:p>
            <a:pPr/>
            <a:r>
              <a:t>第六部分：耦合分析与核心发现</a:t>
            </a:r>
          </a:p>
          <a:p>
            <a:pPr/>
            <a:r>
              <a:t>第七部分：优化建议与后续计划</a:t>
            </a:r>
          </a:p>
        </p:txBody>
      </p:sp>
      <p:pic>
        <p:nvPicPr>
          <p:cNvPr id="22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9DDB04B-ED2B-7DF8-3217-14B4D99D06F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4321d5a3e8a84806f897afd139112f8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313" y="1709538"/>
            <a:ext cx="4524698" cy="2019267"/>
          </a:xfrm>
          <a:prstGeom prst="rect">
            <a:avLst/>
          </a:prstGeom>
        </p:spPr>
      </p:pic>
      <p:pic>
        <p:nvPicPr>
          <p:cNvPr id="4" name="Image 2" descr="https://test.web.static.jianzeppt.com/ppt-temp-img3/513cba68b37698d1d66d42926c382b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940" y="1709538"/>
            <a:ext cx="4524696" cy="2019267"/>
          </a:xfrm>
          <a:prstGeom prst="rect">
            <a:avLst/>
          </a:prstGeom>
        </p:spPr>
      </p:pic>
      <p:pic>
        <p:nvPicPr>
          <p:cNvPr id="5" name="Image 3" descr="https://test.web.static.jianzeppt.com/ppt-temp-img3/1343869ba28abf747dfa3b10c1ebd85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313" y="4212895"/>
            <a:ext cx="4524698" cy="2019267"/>
          </a:xfrm>
          <a:prstGeom prst="rect">
            <a:avLst/>
          </a:prstGeom>
        </p:spPr>
      </p:pic>
      <p:pic>
        <p:nvPicPr>
          <p:cNvPr id="6" name="Image 4" descr="https://test.web.static.jianzeppt.com/ppt-temp-img3/1123a888d07919b413e7be8ee51040a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4940" y="4212895"/>
            <a:ext cx="4524696" cy="2019267"/>
          </a:xfrm>
          <a:prstGeom prst="rect">
            <a:avLst/>
          </a:prstGeom>
        </p:spPr>
      </p:pic>
      <p:pic>
        <p:nvPicPr>
          <p:cNvPr id="7" name="Image 5" descr="https://test.web.static.jianzeppt.com/ppt-temp-img3/85ebf1081f52aac87e59c810fd43838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8957" y="1390483"/>
            <a:ext cx="638106" cy="638106"/>
          </a:xfrm>
          <a:prstGeom prst="rect">
            <a:avLst/>
          </a:prstGeom>
        </p:spPr>
      </p:pic>
      <p:pic>
        <p:nvPicPr>
          <p:cNvPr id="8" name="Image 6" descr="https://test.web.static.jianzeppt.com/ppt-temp-img3/22ef9c736cdf66f5bac6016c3f63088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1463" y="1533245"/>
            <a:ext cx="353430" cy="353430"/>
          </a:xfrm>
          <a:prstGeom prst="rect">
            <a:avLst/>
          </a:prstGeom>
        </p:spPr>
      </p:pic>
      <p:pic>
        <p:nvPicPr>
          <p:cNvPr id="9" name="Image 7" descr="https://test.web.static.jianzeppt.com/ppt-temp-img3/ca92f2216cebdbed48f7d1611c72da9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8957" y="3891888"/>
            <a:ext cx="638106" cy="638106"/>
          </a:xfrm>
          <a:prstGeom prst="rect">
            <a:avLst/>
          </a:prstGeom>
        </p:spPr>
      </p:pic>
      <p:pic>
        <p:nvPicPr>
          <p:cNvPr id="10" name="Image 8" descr="https://test.web.static.jianzeppt.com/ppt-temp-img3/ad45051fc724f3096a868ead8847f43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1463" y="4034648"/>
            <a:ext cx="353430" cy="353430"/>
          </a:xfrm>
          <a:prstGeom prst="rect">
            <a:avLst/>
          </a:prstGeom>
        </p:spPr>
      </p:pic>
      <p:pic>
        <p:nvPicPr>
          <p:cNvPr id="11" name="Image 9" descr="https://test.web.static.jianzeppt.com/ppt-temp-img3/82a7b87e0ecc668c3bd47d5802c72a2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45747" y="3891888"/>
            <a:ext cx="638106" cy="638106"/>
          </a:xfrm>
          <a:prstGeom prst="rect">
            <a:avLst/>
          </a:prstGeom>
        </p:spPr>
      </p:pic>
      <p:pic>
        <p:nvPicPr>
          <p:cNvPr id="12" name="Image 10" descr="https://test.web.static.jianzeppt.com/ppt-temp-img3/f81d2d27e14d0dd60a2e9f074ad334f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78231" y="4034648"/>
            <a:ext cx="353430" cy="353430"/>
          </a:xfrm>
          <a:prstGeom prst="rect">
            <a:avLst/>
          </a:prstGeom>
        </p:spPr>
      </p:pic>
      <p:pic>
        <p:nvPicPr>
          <p:cNvPr id="13" name="Image 11" descr="https://test.web.static.jianzeppt.com/ppt-temp-img3/1671603415db4b8d108769f6a60016f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47334" y="1388529"/>
            <a:ext cx="638106" cy="638106"/>
          </a:xfrm>
          <a:prstGeom prst="rect">
            <a:avLst/>
          </a:prstGeom>
        </p:spPr>
      </p:pic>
      <p:pic>
        <p:nvPicPr>
          <p:cNvPr id="14" name="Image 12" descr="https://test.web.static.jianzeppt.com/ppt-temp-img3/debd7ed8f88c226e123047632f3b979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9755" y="1531291"/>
            <a:ext cx="353430" cy="35343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1356653" y="2275473"/>
            <a:ext cx="3896211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文旅融合已成为区域高质量发展的重要方向，国家及地方政策大力支持。</a:t>
            </a:r>
          </a:p>
        </p:txBody>
      </p:sp>
      <p:sp>
        <p:nvSpPr>
          <p:cNvPr id="16" name="Text 1"/>
          <p:cNvSpPr/>
          <p:nvPr/>
        </p:nvSpPr>
        <p:spPr>
          <a:xfrm>
            <a:off x="6498279" y="4778829"/>
            <a:ext cx="3896211" cy="8320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大数据、大模型与知识图谱等方法日趋成熟，为典籍文本结构化与文旅空间分析提供支撑。</a:t>
            </a:r>
          </a:p>
        </p:txBody>
      </p:sp>
      <p:sp>
        <p:nvSpPr>
          <p:cNvPr id="17" name="Text 2"/>
          <p:cNvSpPr/>
          <p:nvPr/>
        </p:nvSpPr>
        <p:spPr>
          <a:xfrm>
            <a:off x="1355212" y="1874287"/>
            <a:ext cx="381607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政策导向</a:t>
            </a:r>
          </a:p>
        </p:txBody>
      </p:sp>
      <p:sp>
        <p:nvSpPr>
          <p:cNvPr id="18" name="Text 3"/>
          <p:cNvSpPr/>
          <p:nvPr/>
        </p:nvSpPr>
        <p:spPr>
          <a:xfrm>
            <a:off x="1355212" y="4377644"/>
            <a:ext cx="381607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区域现状</a:t>
            </a:r>
          </a:p>
        </p:txBody>
      </p:sp>
      <p:sp>
        <p:nvSpPr>
          <p:cNvPr id="19" name="Text 4"/>
          <p:cNvSpPr/>
          <p:nvPr/>
        </p:nvSpPr>
        <p:spPr>
          <a:xfrm>
            <a:off x="6496838" y="4377644"/>
            <a:ext cx="381607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技术驱动</a:t>
            </a:r>
          </a:p>
        </p:txBody>
      </p:sp>
      <p:sp>
        <p:nvSpPr>
          <p:cNvPr id="20" name="Text 5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1.1 研究背景（中期）</a:t>
            </a:r>
          </a:p>
        </p:txBody>
      </p:sp>
      <p:sp>
        <p:nvSpPr>
          <p:cNvPr id="21" name="Text 6"/>
          <p:cNvSpPr/>
          <p:nvPr/>
        </p:nvSpPr>
        <p:spPr>
          <a:xfrm>
            <a:off x="6496838" y="1874287"/>
            <a:ext cx="381607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核心问题</a:t>
            </a:r>
          </a:p>
        </p:txBody>
      </p:sp>
      <p:sp>
        <p:nvSpPr>
          <p:cNvPr id="22" name="Text 7"/>
          <p:cNvSpPr/>
          <p:nvPr/>
        </p:nvSpPr>
        <p:spPr>
          <a:xfrm>
            <a:off x="1356653" y="4778829"/>
            <a:ext cx="3896211" cy="8320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南海区文化资源丰富（非遗等），但文化资源与旅游产品在空间与叙事上仍存在错位。</a:t>
            </a:r>
          </a:p>
        </p:txBody>
      </p:sp>
      <p:sp>
        <p:nvSpPr>
          <p:cNvPr id="23" name="Text 8"/>
          <p:cNvSpPr/>
          <p:nvPr/>
        </p:nvSpPr>
        <p:spPr>
          <a:xfrm>
            <a:off x="6498279" y="2275473"/>
            <a:ext cx="3896211" cy="8375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文化侧偏“文本与谱系沉淀”，旅游侧偏“设施与流量”，二者需通过数据与图谱对齐评估融合度。</a:t>
            </a:r>
          </a:p>
        </p:txBody>
      </p:sp>
      <p:pic>
        <p:nvPicPr>
          <p:cNvPr id="25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71D8F95E-AA25-6748-BB00-60D63313D90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8082212247695ff33319cef715f6393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46" y="3429001"/>
            <a:ext cx="2788411" cy="2788411"/>
          </a:xfrm>
          <a:prstGeom prst="rect">
            <a:avLst/>
          </a:prstGeom>
        </p:spPr>
      </p:pic>
      <p:pic>
        <p:nvPicPr>
          <p:cNvPr id="4" name="Image 2" descr="https://test.web.static.jianzeppt.com/ppt-temp-img3/2e5b536bd9711e18a9a0100ef8b4f6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2483" y="1364978"/>
            <a:ext cx="2788411" cy="2788413"/>
          </a:xfrm>
          <a:prstGeom prst="rect">
            <a:avLst/>
          </a:prstGeom>
        </p:spPr>
      </p:pic>
      <p:pic>
        <p:nvPicPr>
          <p:cNvPr id="5" name="Image 3" descr="https://test.web.static.jianzeppt.com/ppt-temp-img3/b0b401b65cfb38cafbfbdb132c08157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3523" y="3429001"/>
            <a:ext cx="2788411" cy="2788411"/>
          </a:xfrm>
          <a:prstGeom prst="rect">
            <a:avLst/>
          </a:prstGeom>
        </p:spPr>
      </p:pic>
      <p:pic>
        <p:nvPicPr>
          <p:cNvPr id="6" name="Image 4" descr="https://test.web.static.jianzeppt.com/ppt-temp-img3/266f419fe1dc4d9cdb657b3b16aca90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5599" y="3429001"/>
            <a:ext cx="2788411" cy="2788411"/>
          </a:xfrm>
          <a:prstGeom prst="rect">
            <a:avLst/>
          </a:prstGeom>
        </p:spPr>
      </p:pic>
      <p:pic>
        <p:nvPicPr>
          <p:cNvPr id="7" name="Image 5" descr="https://test.web.static.jianzeppt.com/ppt-temp-img3/3dcb8e4d69d0cdfcd5637fb8b465644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4562" y="1364978"/>
            <a:ext cx="2788413" cy="2788413"/>
          </a:xfrm>
          <a:prstGeom prst="rect">
            <a:avLst/>
          </a:prstGeom>
        </p:spPr>
      </p:pic>
      <p:pic>
        <p:nvPicPr>
          <p:cNvPr id="8" name="Image 6" descr="https://test.web.static.jianzeppt.com/ppt-temp-img3/5923dd63ecc61dbeb57d9dc37ab3e65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6638" y="1364978"/>
            <a:ext cx="2788411" cy="2788413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310170" y="3904616"/>
            <a:ext cx="20080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研究目标</a:t>
            </a:r>
          </a:p>
        </p:txBody>
      </p:sp>
      <p:sp>
        <p:nvSpPr>
          <p:cNvPr id="10" name="Text 1"/>
          <p:cNvSpPr/>
          <p:nvPr/>
        </p:nvSpPr>
        <p:spPr>
          <a:xfrm>
            <a:off x="9183153" y="2115771"/>
            <a:ext cx="2005026" cy="11141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构建南海区文旅融合分析框架：文化谱系 vs 景点谱系，识别特征、错位与潜力。</a:t>
            </a:r>
          </a:p>
        </p:txBody>
      </p:sp>
      <p:sp>
        <p:nvSpPr>
          <p:cNvPr id="11" name="Text 2"/>
          <p:cNvSpPr/>
          <p:nvPr/>
        </p:nvSpPr>
        <p:spPr>
          <a:xfrm>
            <a:off x="5927535" y="1765148"/>
            <a:ext cx="20079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数据基础</a:t>
            </a:r>
          </a:p>
        </p:txBody>
      </p:sp>
      <p:sp>
        <p:nvSpPr>
          <p:cNvPr id="12" name="Text 3"/>
          <p:cNvSpPr/>
          <p:nvPr/>
        </p:nvSpPr>
        <p:spPr>
          <a:xfrm>
            <a:off x="9181711" y="1765148"/>
            <a:ext cx="20079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语料库 53 个文本文件；全文约 899 万字符；汉字约 508 万（以 data/corpus 实测为准）。</a:t>
            </a:r>
          </a:p>
        </p:txBody>
      </p:sp>
      <p:sp>
        <p:nvSpPr>
          <p:cNvPr id="13" name="Text 4"/>
          <p:cNvSpPr/>
          <p:nvPr/>
        </p:nvSpPr>
        <p:spPr>
          <a:xfrm>
            <a:off x="1030348" y="4255239"/>
            <a:ext cx="2005026" cy="11068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抽取成果</a:t>
            </a:r>
          </a:p>
        </p:txBody>
      </p:sp>
      <p:sp>
        <p:nvSpPr>
          <p:cNvPr id="14" name="Text 5"/>
          <p:cNvSpPr/>
          <p:nvPr/>
        </p:nvSpPr>
        <p:spPr>
          <a:xfrm>
            <a:off x="2661604" y="2115770"/>
            <a:ext cx="2005026" cy="1111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大模型抽取合并：实体 8,048；关系 19,382（merged_entities / merged_relations）。</a:t>
            </a:r>
          </a:p>
        </p:txBody>
      </p:sp>
      <p:sp>
        <p:nvSpPr>
          <p:cNvPr id="15" name="Text 6"/>
          <p:cNvSpPr/>
          <p:nvPr/>
        </p:nvSpPr>
        <p:spPr>
          <a:xfrm>
            <a:off x="7579181" y="4255239"/>
            <a:ext cx="2005026" cy="11141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为后续图谱、空间与耦合分析提供可计算、可溯源的结构化知识。</a:t>
            </a:r>
          </a:p>
        </p:txBody>
      </p:sp>
      <p:sp>
        <p:nvSpPr>
          <p:cNvPr id="16" name="Text 7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1.2 研究目标与数据口径（中期）</a:t>
            </a:r>
          </a:p>
        </p:txBody>
      </p:sp>
      <p:sp>
        <p:nvSpPr>
          <p:cNvPr id="17" name="Text 8"/>
          <p:cNvSpPr/>
          <p:nvPr/>
        </p:nvSpPr>
        <p:spPr>
          <a:xfrm>
            <a:off x="4311610" y="4255239"/>
            <a:ext cx="2005126" cy="13962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POI 13,113 条；评论融合表 26,315 条；支撑体验与空间侧分析。</a:t>
            </a:r>
          </a:p>
        </p:txBody>
      </p:sp>
      <p:sp>
        <p:nvSpPr>
          <p:cNvPr id="18" name="Text 9"/>
          <p:cNvSpPr/>
          <p:nvPr/>
        </p:nvSpPr>
        <p:spPr>
          <a:xfrm>
            <a:off x="1028906" y="3904616"/>
            <a:ext cx="20079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旅游与评论</a:t>
            </a:r>
          </a:p>
        </p:txBody>
      </p:sp>
      <p:sp>
        <p:nvSpPr>
          <p:cNvPr id="19" name="Text 10"/>
          <p:cNvSpPr/>
          <p:nvPr/>
        </p:nvSpPr>
        <p:spPr>
          <a:xfrm>
            <a:off x="5928975" y="2115771"/>
            <a:ext cx="2005026" cy="11141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技术路线：语料 → 抽取合并 → 双谱系 → 图谱/空间/耦合 → 对策与论文。</a:t>
            </a:r>
          </a:p>
        </p:txBody>
      </p:sp>
      <p:sp>
        <p:nvSpPr>
          <p:cNvPr id="20" name="Text 11"/>
          <p:cNvSpPr/>
          <p:nvPr/>
        </p:nvSpPr>
        <p:spPr>
          <a:xfrm>
            <a:off x="2660162" y="1765148"/>
            <a:ext cx="20079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技术路线</a:t>
            </a:r>
          </a:p>
        </p:txBody>
      </p:sp>
      <p:sp>
        <p:nvSpPr>
          <p:cNvPr id="21" name="Text 12"/>
          <p:cNvSpPr/>
          <p:nvPr/>
        </p:nvSpPr>
        <p:spPr>
          <a:xfrm>
            <a:off x="7577741" y="3904616"/>
            <a:ext cx="20079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口径说明</a:t>
            </a:r>
          </a:p>
        </p:txBody>
      </p:sp>
      <p:pic>
        <p:nvPicPr>
          <p:cNvPr id="22" name="Image 1" descr="https://test.web.static.jianzeppt.com/ppt-temp-img3/9d5d092227daf7e17b5dbbc99f4ce1a8.png">
            <a:extLst>
              <a:ext uri="{FF2B5EF4-FFF2-40B4-BE49-F238E27FC236}">
                <a16:creationId xmlns:a16="http://schemas.microsoft.com/office/drawing/2014/main" id="{A24129CA-D73A-8F6C-B7D5-571E704454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98807" y="1402808"/>
            <a:ext cx="724680" cy="724680"/>
          </a:xfrm>
          <a:prstGeom prst="rect">
            <a:avLst/>
          </a:prstGeom>
        </p:spPr>
      </p:pic>
      <p:pic>
        <p:nvPicPr>
          <p:cNvPr id="23" name="Image 2" descr="https://test.web.static.jianzeppt.com/ppt-temp-img3/879729a3e40f6444c8259d8f7a10d1e3.png">
            <a:extLst>
              <a:ext uri="{FF2B5EF4-FFF2-40B4-BE49-F238E27FC236}">
                <a16:creationId xmlns:a16="http://schemas.microsoft.com/office/drawing/2014/main" id="{78EF8B00-65A1-54D8-027B-DE6053ADF32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2147" y="1448502"/>
            <a:ext cx="724680" cy="724680"/>
          </a:xfrm>
          <a:prstGeom prst="rect">
            <a:avLst/>
          </a:prstGeom>
        </p:spPr>
      </p:pic>
      <p:pic>
        <p:nvPicPr>
          <p:cNvPr id="25" name="图形 24" descr="箭头循环 纯色填充">
            <a:extLst>
              <a:ext uri="{FF2B5EF4-FFF2-40B4-BE49-F238E27FC236}">
                <a16:creationId xmlns:a16="http://schemas.microsoft.com/office/drawing/2014/main" id="{54B2A5F3-6A74-3803-4F6B-D999C8A53D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1213" y="3142565"/>
            <a:ext cx="914400" cy="914400"/>
          </a:xfrm>
          <a:prstGeom prst="rect">
            <a:avLst/>
          </a:prstGeom>
        </p:spPr>
      </p:pic>
      <p:pic>
        <p:nvPicPr>
          <p:cNvPr id="27" name="图形 26" descr="条形图 纯色填充">
            <a:extLst>
              <a:ext uri="{FF2B5EF4-FFF2-40B4-BE49-F238E27FC236}">
                <a16:creationId xmlns:a16="http://schemas.microsoft.com/office/drawing/2014/main" id="{8280FC22-B20E-9939-2605-5A2383D04EC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48402" y="3428999"/>
            <a:ext cx="852635" cy="852635"/>
          </a:xfrm>
          <a:prstGeom prst="rect">
            <a:avLst/>
          </a:prstGeom>
        </p:spPr>
      </p:pic>
      <p:pic>
        <p:nvPicPr>
          <p:cNvPr id="29" name="图形 28" descr="教室 纯色填充">
            <a:extLst>
              <a:ext uri="{FF2B5EF4-FFF2-40B4-BE49-F238E27FC236}">
                <a16:creationId xmlns:a16="http://schemas.microsoft.com/office/drawing/2014/main" id="{C51E152B-EF7B-AACB-24DE-ED82F7CB238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78206" y="3525839"/>
            <a:ext cx="755795" cy="755795"/>
          </a:xfrm>
          <a:prstGeom prst="rect">
            <a:avLst/>
          </a:prstGeom>
        </p:spPr>
      </p:pic>
      <p:pic>
        <p:nvPicPr>
          <p:cNvPr id="31" name="图形 30" descr="头上的大脑 纯色填充">
            <a:extLst>
              <a:ext uri="{FF2B5EF4-FFF2-40B4-BE49-F238E27FC236}">
                <a16:creationId xmlns:a16="http://schemas.microsoft.com/office/drawing/2014/main" id="{5BBB0C83-1BF7-AFE8-A199-3A03A7EADED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09770" y="1428432"/>
            <a:ext cx="744749" cy="744749"/>
          </a:xfrm>
          <a:prstGeom prst="rect">
            <a:avLst/>
          </a:prstGeom>
        </p:spPr>
      </p:pic>
      <p:pic>
        <p:nvPicPr>
          <p:cNvPr id="2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AB4C0B3-60D1-8572-72EE-59CC3567579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02BF9CC8-28C5-FAC7-B222-64403C123F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6" t="4762" r="1707" b="2539"/>
          <a:stretch>
            <a:fillRect/>
          </a:stretch>
        </p:blipFill>
        <p:spPr>
          <a:xfrm>
            <a:off x="7034817" y="1887470"/>
            <a:ext cx="4800139" cy="4065368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5360" y="2997790"/>
            <a:ext cx="1083274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数据对象</a:t>
            </a:r>
          </a:p>
        </p:txBody>
      </p:sp>
      <p:sp>
        <p:nvSpPr>
          <p:cNvPr id="5" name="Text 1"/>
          <p:cNvSpPr/>
          <p:nvPr/>
        </p:nvSpPr>
        <p:spPr>
          <a:xfrm>
            <a:off x="487679" y="3429000"/>
            <a:ext cx="4885919" cy="8320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t>文化：典籍语料（data/corpus）+ LLM 抽取实体/关系；</a:t>
            </a:r>
          </a:p>
          <a:p>
            <a:pPr/>
            <a:r>
              <a:t>旅游：清洗 POI（poi_llm_cleaned.csv）+ 评论匹配（review_poi_matched.csv）。</a:t>
            </a:r>
          </a:p>
        </p:txBody>
      </p:sp>
      <p:sp>
        <p:nvSpPr>
          <p:cNvPr id="6" name="Text 2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2.1 数据规模概览</a:t>
            </a:r>
          </a:p>
        </p:txBody>
      </p:sp>
      <p:sp>
        <p:nvSpPr>
          <p:cNvPr id="7" name="Text 3"/>
          <p:cNvSpPr/>
          <p:nvPr/>
        </p:nvSpPr>
        <p:spPr>
          <a:xfrm>
            <a:off x="487679" y="1692103"/>
            <a:ext cx="4262477" cy="8320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t>实体 8,048｜关系 19,382｜多关系实体对 2,796；</a:t>
            </a:r>
            <a:endParaRPr lang="en-US" sz="1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/>
            <a:r>
              <a:t>POI 13,113｜评论记录 26,315｜语料文件 53。</a:t>
            </a:r>
          </a:p>
        </p:txBody>
      </p:sp>
      <p:sp>
        <p:nvSpPr>
          <p:cNvPr id="8" name="Text 4"/>
          <p:cNvSpPr/>
          <p:nvPr/>
        </p:nvSpPr>
        <p:spPr>
          <a:xfrm>
            <a:off x="487680" y="1188724"/>
            <a:ext cx="2332149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核心指标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DDE4349-144B-B6B0-090D-3FCC4E5AB861}"/>
              </a:ext>
            </a:extLst>
          </p:cNvPr>
          <p:cNvGrpSpPr/>
          <p:nvPr/>
        </p:nvGrpSpPr>
        <p:grpSpPr>
          <a:xfrm>
            <a:off x="4972721" y="191752"/>
            <a:ext cx="3667561" cy="3693754"/>
            <a:chOff x="123088" y="3721540"/>
            <a:chExt cx="5280952" cy="5149105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C1B87AA5-2AC0-B128-0E27-6AC61DA8B53D}"/>
                </a:ext>
              </a:extLst>
            </p:cNvPr>
            <p:cNvGrpSpPr/>
            <p:nvPr/>
          </p:nvGrpSpPr>
          <p:grpSpPr>
            <a:xfrm>
              <a:off x="123088" y="3721540"/>
              <a:ext cx="4262477" cy="3129642"/>
              <a:chOff x="123088" y="3721540"/>
              <a:chExt cx="4262477" cy="3129642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1677D152-06D7-09B6-6FB8-9071E7FA0E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007"/>
              <a:stretch>
                <a:fillRect/>
              </a:stretch>
            </p:blipFill>
            <p:spPr>
              <a:xfrm>
                <a:off x="123088" y="3721540"/>
                <a:ext cx="4262477" cy="3129642"/>
              </a:xfrm>
              <a:prstGeom prst="rect">
                <a:avLst/>
              </a:prstGeom>
            </p:spPr>
          </p:pic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EEE113FE-A368-E523-E5EB-0195B84365DA}"/>
                  </a:ext>
                </a:extLst>
              </p:cNvPr>
              <p:cNvSpPr/>
              <p:nvPr/>
            </p:nvSpPr>
            <p:spPr>
              <a:xfrm>
                <a:off x="2574472" y="6339632"/>
                <a:ext cx="180519" cy="160521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8453367-E55A-F908-1960-1415A336A94A}"/>
                </a:ext>
              </a:extLst>
            </p:cNvPr>
            <p:cNvGrpSpPr/>
            <p:nvPr/>
          </p:nvGrpSpPr>
          <p:grpSpPr>
            <a:xfrm>
              <a:off x="2473078" y="5406747"/>
              <a:ext cx="2930962" cy="3463898"/>
              <a:chOff x="2473078" y="5406747"/>
              <a:chExt cx="2930962" cy="3463898"/>
            </a:xfrm>
          </p:grpSpPr>
          <p:sp>
            <p:nvSpPr>
              <p:cNvPr id="13" name="弧形 12">
                <a:extLst>
                  <a:ext uri="{FF2B5EF4-FFF2-40B4-BE49-F238E27FC236}">
                    <a16:creationId xmlns:a16="http://schemas.microsoft.com/office/drawing/2014/main" id="{9BF282D5-CCB4-9C91-7045-642A1802C03A}"/>
                  </a:ext>
                </a:extLst>
              </p:cNvPr>
              <p:cNvSpPr/>
              <p:nvPr/>
            </p:nvSpPr>
            <p:spPr>
              <a:xfrm rot="18104465">
                <a:off x="2206610" y="5673215"/>
                <a:ext cx="3463898" cy="2930962"/>
              </a:xfrm>
              <a:prstGeom prst="arc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>
                <a:extLst>
                  <a:ext uri="{FF2B5EF4-FFF2-40B4-BE49-F238E27FC236}">
                    <a16:creationId xmlns:a16="http://schemas.microsoft.com/office/drawing/2014/main" id="{B90213A9-0068-88E3-066E-E9112A341984}"/>
                  </a:ext>
                </a:extLst>
              </p:cNvPr>
              <p:cNvSpPr/>
              <p:nvPr/>
            </p:nvSpPr>
            <p:spPr>
              <a:xfrm rot="7159736">
                <a:off x="4758460" y="5543577"/>
                <a:ext cx="115646" cy="20405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AutoShape 2" descr="佛山市西樵山景区 - 广东旅游景区 - LoongWander">
            <a:extLst>
              <a:ext uri="{FF2B5EF4-FFF2-40B4-BE49-F238E27FC236}">
                <a16:creationId xmlns:a16="http://schemas.microsoft.com/office/drawing/2014/main" id="{7B4A1A6A-3757-36CF-CF56-17725FD98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534229" cy="353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10F6992-E2C6-6FD1-0C42-53E860D916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2"/>
          <a:stretch>
            <a:fillRect/>
          </a:stretch>
        </p:blipFill>
        <p:spPr>
          <a:xfrm>
            <a:off x="257515" y="4672059"/>
            <a:ext cx="1533641" cy="206725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2D30A31-DE6F-45F9-EE8A-A364AA6458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98" y="4600551"/>
            <a:ext cx="1533641" cy="230932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08D66A2-31C0-C17B-D42B-F359A26C1B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803" y="4600551"/>
            <a:ext cx="1727276" cy="221027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E5D8D36-AD47-2B9B-D7C7-AD93B032BFB8}"/>
              </a:ext>
            </a:extLst>
          </p:cNvPr>
          <p:cNvSpPr txBox="1"/>
          <p:nvPr/>
        </p:nvSpPr>
        <p:spPr>
          <a:xfrm>
            <a:off x="7808686" y="6299200"/>
            <a:ext cx="244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可视化：output/figures 下谱系树、知识图谱、耦合与空间分析页面</a:t>
            </a:r>
          </a:p>
        </p:txBody>
      </p:sp>
      <p:pic>
        <p:nvPicPr>
          <p:cNvPr id="12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3A1C8A9E-2594-536A-1E06-177FDF058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c9a883d3c2c842954a715b6bebca4b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852" y="1679841"/>
            <a:ext cx="466491" cy="466491"/>
          </a:xfrm>
          <a:prstGeom prst="rect">
            <a:avLst/>
          </a:prstGeom>
        </p:spPr>
      </p:pic>
      <p:pic>
        <p:nvPicPr>
          <p:cNvPr id="4" name="Image 2" descr="https://test.web.static.jianzeppt.com/ppt-temp-img3/d0bf3517ecc378ea9357c39c46ed99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826" y="1679149"/>
            <a:ext cx="466491" cy="466491"/>
          </a:xfrm>
          <a:prstGeom prst="rect">
            <a:avLst/>
          </a:prstGeom>
        </p:spPr>
      </p:pic>
      <p:pic>
        <p:nvPicPr>
          <p:cNvPr id="5" name="Image 3" descr="https://test.web.static.jianzeppt.com/ppt-temp-img3/8f8dd65df2820c720d8f6818b3aa52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132" y="1686637"/>
            <a:ext cx="466491" cy="46649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626101" y="2390242"/>
            <a:ext cx="2476315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景点谱系（旅游侧）</a:t>
            </a:r>
          </a:p>
        </p:txBody>
      </p:sp>
      <p:sp>
        <p:nvSpPr>
          <p:cNvPr id="7" name="Text 1"/>
          <p:cNvSpPr/>
          <p:nvPr/>
        </p:nvSpPr>
        <p:spPr>
          <a:xfrm>
            <a:off x="570141" y="2878721"/>
            <a:ext cx="2795030" cy="13962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基于 POI 分类、评分与评论（及文化关联字段）构建层级结构，刻画“市场侧”供给与体验。</a:t>
            </a:r>
          </a:p>
        </p:txBody>
      </p:sp>
      <p:sp>
        <p:nvSpPr>
          <p:cNvPr id="8" name="Text 2"/>
          <p:cNvSpPr/>
          <p:nvPr/>
        </p:nvSpPr>
        <p:spPr>
          <a:xfrm>
            <a:off x="568700" y="2397038"/>
            <a:ext cx="2476315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文化谱系（典籍侧）</a:t>
            </a:r>
          </a:p>
        </p:txBody>
      </p:sp>
      <p:sp>
        <p:nvSpPr>
          <p:cNvPr id="9" name="Text 3"/>
          <p:cNvSpPr/>
          <p:nvPr/>
        </p:nvSpPr>
        <p:spPr>
          <a:xfrm>
            <a:off x="8627542" y="2871924"/>
            <a:ext cx="2795030" cy="11141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基于非遗与典籍主题，归纳武术、饮食、建筑、民俗、工艺、戏曲、学术、医药等门类。</a:t>
            </a:r>
          </a:p>
        </p:txBody>
      </p:sp>
      <p:sp>
        <p:nvSpPr>
          <p:cNvPr id="10" name="Text 4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2.2 双谱系概念（中期进展）</a:t>
            </a:r>
          </a:p>
        </p:txBody>
      </p:sp>
      <p:sp>
        <p:nvSpPr>
          <p:cNvPr id="11" name="Text 5"/>
          <p:cNvSpPr/>
          <p:nvPr/>
        </p:nvSpPr>
        <p:spPr>
          <a:xfrm>
            <a:off x="4394734" y="2880196"/>
            <a:ext cx="3238215" cy="13948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文化载体：文物、历史建筑、非遗场所等，可作为典籍叙事与 POI 之间的锚点层。</a:t>
            </a:r>
          </a:p>
        </p:txBody>
      </p:sp>
      <p:sp>
        <p:nvSpPr>
          <p:cNvPr id="12" name="Text 6"/>
          <p:cNvSpPr/>
          <p:nvPr/>
        </p:nvSpPr>
        <p:spPr>
          <a:xfrm>
            <a:off x="4394734" y="2372291"/>
            <a:ext cx="2476315" cy="62683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文化载体资源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078230-06E3-FAE4-829E-036A896C17FF}"/>
              </a:ext>
            </a:extLst>
          </p:cNvPr>
          <p:cNvSpPr txBox="1"/>
          <p:nvPr/>
        </p:nvSpPr>
        <p:spPr>
          <a:xfrm>
            <a:off x="533112" y="5265712"/>
            <a:ext cx="10889460" cy="925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知识图谱：整合抽取实体与关系，并与 POI/镇街等并表，用于融合与空间展示。</a:t>
            </a:r>
          </a:p>
        </p:txBody>
      </p:sp>
      <p:sp>
        <p:nvSpPr>
          <p:cNvPr id="13" name="箭头: 左右 12">
            <a:extLst>
              <a:ext uri="{FF2B5EF4-FFF2-40B4-BE49-F238E27FC236}">
                <a16:creationId xmlns:a16="http://schemas.microsoft.com/office/drawing/2014/main" id="{08D45A79-4F13-0F3C-1B94-9240D61470E9}"/>
              </a:ext>
            </a:extLst>
          </p:cNvPr>
          <p:cNvSpPr/>
          <p:nvPr/>
        </p:nvSpPr>
        <p:spPr>
          <a:xfrm>
            <a:off x="3642241" y="3322861"/>
            <a:ext cx="510394" cy="254000"/>
          </a:xfrm>
          <a:prstGeom prst="leftRightArrow">
            <a:avLst/>
          </a:prstGeom>
          <a:solidFill>
            <a:srgbClr val="5D0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右 13">
            <a:extLst>
              <a:ext uri="{FF2B5EF4-FFF2-40B4-BE49-F238E27FC236}">
                <a16:creationId xmlns:a16="http://schemas.microsoft.com/office/drawing/2014/main" id="{2DA7336A-8510-6B02-001C-00970BBC557A}"/>
              </a:ext>
            </a:extLst>
          </p:cNvPr>
          <p:cNvSpPr/>
          <p:nvPr/>
        </p:nvSpPr>
        <p:spPr>
          <a:xfrm>
            <a:off x="7817321" y="3322861"/>
            <a:ext cx="510394" cy="254000"/>
          </a:xfrm>
          <a:prstGeom prst="leftRightArrow">
            <a:avLst/>
          </a:prstGeom>
          <a:solidFill>
            <a:srgbClr val="5D0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31208D5-AB17-B476-D508-3078AE32F11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e85269381ac5a07856f413e0cab0cf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954" y="3970835"/>
            <a:ext cx="498960" cy="498960"/>
          </a:xfrm>
          <a:prstGeom prst="rect">
            <a:avLst/>
          </a:prstGeom>
        </p:spPr>
      </p:pic>
      <p:pic>
        <p:nvPicPr>
          <p:cNvPr id="4" name="Image 2" descr="https://test.web.static.jianzeppt.com/ppt-temp-img3/ec368f52d75145d565387057ddb587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62" y="3970835"/>
            <a:ext cx="498960" cy="498960"/>
          </a:xfrm>
          <a:prstGeom prst="rect">
            <a:avLst/>
          </a:prstGeom>
        </p:spPr>
      </p:pic>
      <p:pic>
        <p:nvPicPr>
          <p:cNvPr id="5" name="Image 3" descr="https://test.web.static.jianzeppt.com/ppt-temp-img3/260a7fad5795bbdddb6206aef89f92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907" y="1537352"/>
            <a:ext cx="498960" cy="498960"/>
          </a:xfrm>
          <a:prstGeom prst="rect">
            <a:avLst/>
          </a:prstGeom>
        </p:spPr>
      </p:pic>
      <p:pic>
        <p:nvPicPr>
          <p:cNvPr id="6" name="Image 4" descr="https://test.web.static.jianzeppt.com/ppt-temp-img3/6032e9ebeebae4d8f59ca8267af6f3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000" y="1537352"/>
            <a:ext cx="498960" cy="498960"/>
          </a:xfrm>
          <a:prstGeom prst="rect">
            <a:avLst/>
          </a:prstGeom>
        </p:spPr>
      </p:pic>
      <p:pic>
        <p:nvPicPr>
          <p:cNvPr id="7" name="Image 5" descr="https://test.web.static.jianzeppt.com/ppt-temp-img3/d10399beea9bc5ea74f19599c64f248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816" y="1537352"/>
            <a:ext cx="498960" cy="49896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847466" y="4621712"/>
            <a:ext cx="2959603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图谱与可视化</a:t>
            </a:r>
          </a:p>
        </p:txBody>
      </p:sp>
      <p:sp>
        <p:nvSpPr>
          <p:cNvPr id="9" name="Text 1"/>
          <p:cNvSpPr/>
          <p:nvPr/>
        </p:nvSpPr>
        <p:spPr>
          <a:xfrm>
            <a:off x="8175605" y="2188229"/>
            <a:ext cx="2959603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耦合与对策</a:t>
            </a:r>
          </a:p>
        </p:txBody>
      </p:sp>
      <p:sp>
        <p:nvSpPr>
          <p:cNvPr id="10" name="Text 2"/>
          <p:cNvSpPr/>
          <p:nvPr/>
        </p:nvSpPr>
        <p:spPr>
          <a:xfrm>
            <a:off x="4623512" y="2188229"/>
            <a:ext cx="2959603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空间分析</a:t>
            </a:r>
          </a:p>
        </p:txBody>
      </p:sp>
      <p:sp>
        <p:nvSpPr>
          <p:cNvPr id="11" name="Text 3"/>
          <p:cNvSpPr/>
          <p:nvPr/>
        </p:nvSpPr>
        <p:spPr>
          <a:xfrm>
            <a:off x="1071421" y="2188229"/>
            <a:ext cx="2959603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数据工程</a:t>
            </a:r>
          </a:p>
        </p:txBody>
      </p:sp>
      <p:sp>
        <p:nvSpPr>
          <p:cNvPr id="12" name="Text 4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2.3 已完成工作流</a:t>
            </a:r>
          </a:p>
        </p:txBody>
      </p:sp>
      <p:sp>
        <p:nvSpPr>
          <p:cNvPr id="13" name="Text 5"/>
          <p:cNvSpPr/>
          <p:nvPr/>
        </p:nvSpPr>
        <p:spPr>
          <a:xfrm>
            <a:off x="8177047" y="2641748"/>
            <a:ext cx="2956725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总结强耦合/错位/缺失等模式，形成可汇报的发现与优化建议条目。</a:t>
            </a:r>
          </a:p>
        </p:txBody>
      </p:sp>
      <p:sp>
        <p:nvSpPr>
          <p:cNvPr id="14" name="Text 6"/>
          <p:cNvSpPr/>
          <p:nvPr/>
        </p:nvSpPr>
        <p:spPr>
          <a:xfrm>
            <a:off x="2848908" y="5075233"/>
            <a:ext cx="2956725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构建/更新文化谱系树、景点谱系树、镇街分布等 ECharts 页面。</a:t>
            </a:r>
          </a:p>
        </p:txBody>
      </p:sp>
      <p:sp>
        <p:nvSpPr>
          <p:cNvPr id="15" name="Text 7"/>
          <p:cNvSpPr/>
          <p:nvPr/>
        </p:nvSpPr>
        <p:spPr>
          <a:xfrm>
            <a:off x="6400999" y="5075233"/>
            <a:ext cx="2956725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双谱系对比 + 关系映射：识别融合成功、挖掘不足、未转化、缺魂等类型。</a:t>
            </a:r>
          </a:p>
        </p:txBody>
      </p:sp>
      <p:sp>
        <p:nvSpPr>
          <p:cNvPr id="16" name="Text 8"/>
          <p:cNvSpPr/>
          <p:nvPr/>
        </p:nvSpPr>
        <p:spPr>
          <a:xfrm>
            <a:off x="1072862" y="2641748"/>
            <a:ext cx="2956725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语料整理、POI 清洗、评论与 POI 匹配、LLM 批量抽取与合并去重。</a:t>
            </a:r>
          </a:p>
        </p:txBody>
      </p:sp>
      <p:sp>
        <p:nvSpPr>
          <p:cNvPr id="17" name="Text 9"/>
          <p:cNvSpPr/>
          <p:nvPr/>
        </p:nvSpPr>
        <p:spPr>
          <a:xfrm>
            <a:off x="6399559" y="4621712"/>
            <a:ext cx="2959603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融合分析</a:t>
            </a:r>
          </a:p>
        </p:txBody>
      </p:sp>
      <p:sp>
        <p:nvSpPr>
          <p:cNvPr id="18" name="Text 10"/>
          <p:cNvSpPr/>
          <p:nvPr/>
        </p:nvSpPr>
        <p:spPr>
          <a:xfrm>
            <a:off x="4624954" y="2641748"/>
            <a:ext cx="2956725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核密度、聚类、镇街对比等，用于热点与“文化—旅游”空间错位讨论。</a:t>
            </a:r>
          </a:p>
        </p:txBody>
      </p:sp>
      <p:pic>
        <p:nvPicPr>
          <p:cNvPr id="20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1A604CD3-F33C-6C03-8605-AAB3D93F06F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3a45a124-c3cc-4c4f-b57e-10662729c491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1371600"/>
            <a:ext cx="4434840" cy="5181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3441" y="1661160"/>
            <a:ext cx="1857881" cy="344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1920">
                <a:solidFill>
                  <a:srgbClr val="1E293B"/>
                </a:solidFill>
              </a:rPr>
              <a:t>步骤1：实体对齐</a:t>
            </a:r>
            <a:endParaRPr lang="en-US" sz="1920"/>
          </a:p>
        </p:txBody>
      </p:sp>
      <p:sp>
        <p:nvSpPr>
          <p:cNvPr id="5" name="Text 1"/>
          <p:cNvSpPr/>
          <p:nvPr/>
        </p:nvSpPr>
        <p:spPr>
          <a:xfrm>
            <a:off x="853441" y="2087880"/>
            <a:ext cx="2696251" cy="286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475569"/>
                </a:solidFill>
              </a:rPr>
              <a:t>空间：文化场所 ↔ 景点位置</a:t>
            </a:r>
            <a:endParaRPr lang="en-US" sz="1680"/>
          </a:p>
        </p:txBody>
      </p:sp>
      <p:sp>
        <p:nvSpPr>
          <p:cNvPr id="6" name="Text 2"/>
          <p:cNvSpPr/>
          <p:nvPr/>
        </p:nvSpPr>
        <p:spPr>
          <a:xfrm>
            <a:off x="853441" y="2453640"/>
            <a:ext cx="2696251" cy="286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475569"/>
                </a:solidFill>
              </a:rPr>
              <a:t>名称：文化要素 ↔ 景点名称</a:t>
            </a:r>
            <a:endParaRPr lang="en-US" sz="1680"/>
          </a:p>
        </p:txBody>
      </p:sp>
      <p:sp>
        <p:nvSpPr>
          <p:cNvPr id="7" name="Text 3"/>
          <p:cNvSpPr/>
          <p:nvPr/>
        </p:nvSpPr>
        <p:spPr>
          <a:xfrm>
            <a:off x="853441" y="2819400"/>
            <a:ext cx="2696251" cy="286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475569"/>
                </a:solidFill>
              </a:rPr>
              <a:t>类型：文化门类 ↔ 景点类型</a:t>
            </a:r>
            <a:endParaRPr lang="en-US" sz="1680"/>
          </a:p>
        </p:txBody>
      </p:sp>
      <p:sp>
        <p:nvSpPr>
          <p:cNvPr id="8" name="Text 4"/>
          <p:cNvSpPr/>
          <p:nvPr/>
        </p:nvSpPr>
        <p:spPr>
          <a:xfrm>
            <a:off x="853441" y="3215640"/>
            <a:ext cx="1857881" cy="344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1920">
                <a:solidFill>
                  <a:srgbClr val="1E293B"/>
                </a:solidFill>
              </a:rPr>
              <a:t>步骤2：关系映射</a:t>
            </a:r>
            <a:endParaRPr lang="en-US" sz="1920"/>
          </a:p>
        </p:txBody>
      </p:sp>
      <p:sp>
        <p:nvSpPr>
          <p:cNvPr id="9" name="Text 5"/>
          <p:cNvSpPr/>
          <p:nvPr/>
        </p:nvSpPr>
        <p:spPr>
          <a:xfrm>
            <a:off x="853441" y="3642360"/>
            <a:ext cx="2696251" cy="286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475569"/>
                </a:solidFill>
              </a:rPr>
              <a:t>双层图谱：文化层 ↔ 景点层</a:t>
            </a:r>
            <a:endParaRPr lang="en-US" sz="1680"/>
          </a:p>
        </p:txBody>
      </p:sp>
      <p:sp>
        <p:nvSpPr>
          <p:cNvPr id="10" name="Text 6"/>
          <p:cNvSpPr/>
          <p:nvPr/>
        </p:nvSpPr>
        <p:spPr>
          <a:xfrm>
            <a:off x="853441" y="4008120"/>
            <a:ext cx="3961790" cy="5205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59"/>
              </a:lnSpc>
            </a:pPr>
            <a:r>
              <a:rPr lang="en-US" sz="1680">
                <a:solidFill>
                  <a:srgbClr val="475569"/>
                </a:solidFill>
              </a:rPr>
              <a:t>耦合关系：</a:t>
            </a:r>
            <a:r>
              <a:rPr lang="en-US" sz="1440">
                <a:solidFill>
                  <a:srgbClr val="334155"/>
                </a:solidFill>
              </a:rPr>
              <a:t>实体对应文化承载空间共存主题关联</a:t>
            </a:r>
            <a:endParaRPr lang="en-US" sz="1680"/>
          </a:p>
        </p:txBody>
      </p:sp>
      <p:sp>
        <p:nvSpPr>
          <p:cNvPr id="11" name="Text 7"/>
          <p:cNvSpPr/>
          <p:nvPr/>
        </p:nvSpPr>
        <p:spPr>
          <a:xfrm>
            <a:off x="853441" y="4709160"/>
            <a:ext cx="1857881" cy="344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1920">
                <a:solidFill>
                  <a:srgbClr val="1E293B"/>
                </a:solidFill>
              </a:rPr>
              <a:t>步骤3：差异识别</a:t>
            </a:r>
            <a:endParaRPr lang="en-US" sz="1920"/>
          </a:p>
        </p:txBody>
      </p:sp>
      <p:sp>
        <p:nvSpPr>
          <p:cNvPr id="12" name="Text 8"/>
          <p:cNvSpPr/>
          <p:nvPr/>
        </p:nvSpPr>
        <p:spPr>
          <a:xfrm>
            <a:off x="853441" y="5166361"/>
            <a:ext cx="3961790" cy="2864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✓ 强耦合：16（文化—景点融合成功）</a:t>
            </a:r>
          </a:p>
        </p:txBody>
      </p:sp>
      <p:sp>
        <p:nvSpPr>
          <p:cNvPr id="13" name="Text 9"/>
          <p:cNvSpPr/>
          <p:nvPr/>
        </p:nvSpPr>
        <p:spPr>
          <a:xfrm>
            <a:off x="853441" y="5562601"/>
            <a:ext cx="3961790" cy="2864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⚠ 错位：9（关联弱、体验浅）</a:t>
            </a:r>
          </a:p>
        </p:txBody>
      </p:sp>
      <p:sp>
        <p:nvSpPr>
          <p:cNvPr id="14" name="Text 10"/>
          <p:cNvSpPr/>
          <p:nvPr/>
        </p:nvSpPr>
        <p:spPr>
          <a:xfrm>
            <a:off x="853441" y="5958841"/>
            <a:ext cx="3961790" cy="2864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✗ 缺失A：14（未转化） / 缺失B：6（有形无魂）</a:t>
            </a: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8280" y="1341742"/>
            <a:ext cx="6309360" cy="2499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64546" y="1838595"/>
            <a:ext cx="662040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 dirty="0">
                <a:solidFill>
                  <a:srgbClr val="9CA3AF"/>
                </a:solidFill>
              </a:rPr>
              <a:t>[</a:t>
            </a:r>
            <a:r>
              <a:rPr lang="en-US" sz="1440" dirty="0" err="1">
                <a:solidFill>
                  <a:srgbClr val="9CA3AF"/>
                </a:solidFill>
              </a:rPr>
              <a:t>文化层</a:t>
            </a:r>
            <a:r>
              <a:rPr lang="en-US" sz="1440" dirty="0">
                <a:solidFill>
                  <a:srgbClr val="9CA3AF"/>
                </a:solidFill>
              </a:rPr>
              <a:t>]</a:t>
            </a:r>
            <a:endParaRPr lang="en-US" sz="144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2761" y="1752600"/>
            <a:ext cx="12954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2326" y="1859281"/>
            <a:ext cx="918521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5B21B6"/>
                </a:solidFill>
              </a:rPr>
              <a:t>● 黄飞鸿</a:t>
            </a:r>
            <a:endParaRPr lang="en-US" sz="168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38161" y="1752600"/>
            <a:ext cx="150876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37004" y="1859281"/>
            <a:ext cx="1133323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5B21B6"/>
                </a:solidFill>
              </a:rPr>
              <a:t>● 武术文化</a:t>
            </a:r>
            <a:endParaRPr lang="en-US" sz="168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46921" y="1752600"/>
            <a:ext cx="108204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847208" y="1859281"/>
            <a:ext cx="703718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5B21B6"/>
                </a:solidFill>
              </a:rPr>
              <a:t>● 佛山</a:t>
            </a:r>
            <a:endParaRPr lang="en-US" sz="1680"/>
          </a:p>
        </p:txBody>
      </p:sp>
      <p:sp>
        <p:nvSpPr>
          <p:cNvPr id="23" name="Text 15"/>
          <p:cNvSpPr/>
          <p:nvPr/>
        </p:nvSpPr>
        <p:spPr>
          <a:xfrm>
            <a:off x="6141721" y="2392680"/>
            <a:ext cx="4601870" cy="464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830"/>
              </a:lnSpc>
            </a:pPr>
            <a:r>
              <a:rPr lang="en-US" sz="2880">
                <a:solidFill>
                  <a:srgbClr val="A78BFA"/>
                </a:solidFill>
              </a:rPr>
              <a:t>↓↙↓↓</a:t>
            </a:r>
            <a:endParaRPr lang="en-US" sz="2880"/>
          </a:p>
        </p:txBody>
      </p:sp>
      <p:sp>
        <p:nvSpPr>
          <p:cNvPr id="24" name="Text 16"/>
          <p:cNvSpPr/>
          <p:nvPr/>
        </p:nvSpPr>
        <p:spPr>
          <a:xfrm>
            <a:off x="5964546" y="3146407"/>
            <a:ext cx="662040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 dirty="0">
                <a:solidFill>
                  <a:srgbClr val="9CA3AF"/>
                </a:solidFill>
              </a:rPr>
              <a:t>[</a:t>
            </a:r>
            <a:r>
              <a:rPr lang="en-US" sz="1440" dirty="0" err="1">
                <a:solidFill>
                  <a:srgbClr val="9CA3AF"/>
                </a:solidFill>
              </a:rPr>
              <a:t>景点层</a:t>
            </a:r>
            <a:r>
              <a:rPr lang="en-US" sz="1440" dirty="0">
                <a:solidFill>
                  <a:srgbClr val="9CA3AF"/>
                </a:solidFill>
              </a:rPr>
              <a:t>]</a:t>
            </a:r>
            <a:endParaRPr lang="en-US" sz="144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56120" y="3063240"/>
            <a:ext cx="1249680" cy="4267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40446" y="3154681"/>
            <a:ext cx="918521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1F2937"/>
                </a:solidFill>
              </a:rPr>
              <a:t>● 纪念馆</a:t>
            </a:r>
            <a:endParaRPr lang="en-US" sz="168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42960" y="3063240"/>
            <a:ext cx="1036320" cy="4267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628008" y="3154681"/>
            <a:ext cx="703718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1F2937"/>
                </a:solidFill>
              </a:rPr>
              <a:t>● 武馆</a:t>
            </a:r>
            <a:endParaRPr lang="en-US" sz="168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16440" y="3063240"/>
            <a:ext cx="1036320" cy="4267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801488" y="3154681"/>
            <a:ext cx="703718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1F2937"/>
                </a:solidFill>
              </a:rPr>
              <a:t>● 景区</a:t>
            </a:r>
            <a:endParaRPr lang="en-US" sz="168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8280" y="4053840"/>
            <a:ext cx="6309360" cy="24993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856545" y="4343401"/>
            <a:ext cx="73738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374151"/>
                </a:solidFill>
              </a:rPr>
              <a:t>耦合状态</a:t>
            </a:r>
            <a:endParaRPr lang="en-US" sz="144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81219" y="4666336"/>
            <a:ext cx="1475690" cy="304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519171" y="4343401"/>
            <a:ext cx="36869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374151"/>
                </a:solidFill>
              </a:rPr>
              <a:t>文化</a:t>
            </a:r>
            <a:endParaRPr lang="en-US" sz="144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56756" y="4666336"/>
            <a:ext cx="1475842" cy="304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997451" y="4343401"/>
            <a:ext cx="36869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374151"/>
                </a:solidFill>
              </a:rPr>
              <a:t>景点</a:t>
            </a:r>
            <a:endParaRPr lang="en-US" sz="144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32749" y="4666336"/>
            <a:ext cx="1475690" cy="30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10475731" y="4343401"/>
            <a:ext cx="36869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374151"/>
                </a:solidFill>
              </a:rPr>
              <a:t>判定</a:t>
            </a:r>
            <a:endParaRPr lang="en-US" sz="144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908439" y="4666336"/>
            <a:ext cx="1475842" cy="304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486401" y="4709160"/>
            <a:ext cx="1492910" cy="2304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16A34A"/>
                </a:solidFill>
              </a:rPr>
              <a:t>✓</a:t>
            </a:r>
            <a:r>
              <a:rPr lang="en-US" sz="1440">
                <a:solidFill>
                  <a:srgbClr val="4B5563"/>
                </a:solidFill>
              </a:rPr>
              <a:t>强耦合</a:t>
            </a:r>
            <a:endParaRPr lang="en-US" sz="1440"/>
          </a:p>
        </p:txBody>
      </p:sp>
      <p:sp>
        <p:nvSpPr>
          <p:cNvPr id="41" name="Text 25"/>
          <p:cNvSpPr/>
          <p:nvPr/>
        </p:nvSpPr>
        <p:spPr>
          <a:xfrm>
            <a:off x="7611342" y="480060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</a:t>
            </a:r>
            <a:endParaRPr lang="en-US" sz="144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56756" y="4687519"/>
            <a:ext cx="1475842" cy="1524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9089622" y="480060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</a:t>
            </a:r>
            <a:endParaRPr lang="en-US" sz="144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2749" y="4687519"/>
            <a:ext cx="1475690" cy="15240"/>
          </a:xfrm>
          <a:prstGeom prst="rect">
            <a:avLst/>
          </a:prstGeom>
        </p:spPr>
      </p:pic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06001" y="4709161"/>
            <a:ext cx="1478280" cy="38100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10291385" y="4800601"/>
            <a:ext cx="73738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15803D"/>
                </a:solidFill>
              </a:rPr>
              <a:t>融合成功</a:t>
            </a:r>
            <a:endParaRPr lang="en-US" sz="1440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08439" y="4687519"/>
            <a:ext cx="1475842" cy="1524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5486401" y="5120640"/>
            <a:ext cx="1492910" cy="2304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F97316"/>
                </a:solidFill>
              </a:rPr>
              <a:t>⚠</a:t>
            </a:r>
            <a:r>
              <a:rPr lang="en-US" sz="1440">
                <a:solidFill>
                  <a:srgbClr val="4B5563"/>
                </a:solidFill>
              </a:rPr>
              <a:t>错位</a:t>
            </a:r>
            <a:endParaRPr lang="en-US" sz="1440"/>
          </a:p>
        </p:txBody>
      </p:sp>
      <p:sp>
        <p:nvSpPr>
          <p:cNvPr id="49" name="Text 29"/>
          <p:cNvSpPr/>
          <p:nvPr/>
        </p:nvSpPr>
        <p:spPr>
          <a:xfrm>
            <a:off x="7519171" y="5212081"/>
            <a:ext cx="36869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有弱</a:t>
            </a:r>
            <a:endParaRPr lang="en-US" sz="1440"/>
          </a:p>
        </p:txBody>
      </p:sp>
      <p:pic>
        <p:nvPicPr>
          <p:cNvPr id="50" name="Image 18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56756" y="5105097"/>
            <a:ext cx="1475842" cy="15240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8997451" y="5212081"/>
            <a:ext cx="36869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有浅</a:t>
            </a:r>
            <a:endParaRPr lang="en-US" sz="1440"/>
          </a:p>
        </p:txBody>
      </p:sp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2749" y="5105097"/>
            <a:ext cx="1475690" cy="15240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06001" y="5120641"/>
            <a:ext cx="1478280" cy="38100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10291385" y="5212081"/>
            <a:ext cx="73738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C2410C"/>
                </a:solidFill>
              </a:rPr>
              <a:t>挖掘不足</a:t>
            </a:r>
            <a:endParaRPr lang="en-US" sz="1440"/>
          </a:p>
        </p:txBody>
      </p:sp>
      <p:pic>
        <p:nvPicPr>
          <p:cNvPr id="55" name="Image 21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08439" y="5105097"/>
            <a:ext cx="1475842" cy="1524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5486401" y="5532120"/>
            <a:ext cx="1492910" cy="2304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DC2626"/>
                </a:solidFill>
              </a:rPr>
              <a:t>✗</a:t>
            </a:r>
            <a:r>
              <a:rPr lang="en-US" sz="1440">
                <a:solidFill>
                  <a:srgbClr val="4B5563"/>
                </a:solidFill>
              </a:rPr>
              <a:t>缺失A</a:t>
            </a:r>
            <a:endParaRPr lang="en-US" sz="1440"/>
          </a:p>
        </p:txBody>
      </p:sp>
      <p:sp>
        <p:nvSpPr>
          <p:cNvPr id="57" name="Text 33"/>
          <p:cNvSpPr/>
          <p:nvPr/>
        </p:nvSpPr>
        <p:spPr>
          <a:xfrm>
            <a:off x="7611342" y="562356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</a:t>
            </a:r>
            <a:endParaRPr lang="en-US" sz="1440"/>
          </a:p>
        </p:txBody>
      </p:sp>
      <p:pic>
        <p:nvPicPr>
          <p:cNvPr id="58" name="Image 22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56756" y="5522825"/>
            <a:ext cx="1475842" cy="15240"/>
          </a:xfrm>
          <a:prstGeom prst="rect">
            <a:avLst/>
          </a:prstGeom>
        </p:spPr>
      </p:pic>
      <p:sp>
        <p:nvSpPr>
          <p:cNvPr id="59" name="Text 34"/>
          <p:cNvSpPr/>
          <p:nvPr/>
        </p:nvSpPr>
        <p:spPr>
          <a:xfrm>
            <a:off x="9089622" y="562356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无</a:t>
            </a:r>
            <a:endParaRPr lang="en-US" sz="1440"/>
          </a:p>
        </p:txBody>
      </p:sp>
      <p:pic>
        <p:nvPicPr>
          <p:cNvPr id="60" name="Image 23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2749" y="5522825"/>
            <a:ext cx="1475690" cy="15240"/>
          </a:xfrm>
          <a:prstGeom prst="rect">
            <a:avLst/>
          </a:prstGeom>
        </p:spPr>
      </p:pic>
      <p:pic>
        <p:nvPicPr>
          <p:cNvPr id="61" name="Image 24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906001" y="5532121"/>
            <a:ext cx="1478280" cy="38100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10383558" y="5623561"/>
            <a:ext cx="553037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B91C1C"/>
                </a:solidFill>
              </a:rPr>
              <a:t>未转化</a:t>
            </a:r>
            <a:endParaRPr lang="en-US" sz="1440"/>
          </a:p>
        </p:txBody>
      </p:sp>
      <p:pic>
        <p:nvPicPr>
          <p:cNvPr id="63" name="Image 25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08439" y="5522825"/>
            <a:ext cx="1475842" cy="1524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5486401" y="5958840"/>
            <a:ext cx="1492910" cy="2304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DC2626"/>
                </a:solidFill>
              </a:rPr>
              <a:t>✗</a:t>
            </a:r>
            <a:r>
              <a:rPr lang="en-US" sz="1440">
                <a:solidFill>
                  <a:srgbClr val="4B5563"/>
                </a:solidFill>
              </a:rPr>
              <a:t>缺失B</a:t>
            </a:r>
            <a:endParaRPr lang="en-US" sz="1440"/>
          </a:p>
        </p:txBody>
      </p:sp>
      <p:sp>
        <p:nvSpPr>
          <p:cNvPr id="65" name="Text 37"/>
          <p:cNvSpPr/>
          <p:nvPr/>
        </p:nvSpPr>
        <p:spPr>
          <a:xfrm>
            <a:off x="7611342" y="605028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无</a:t>
            </a:r>
            <a:endParaRPr lang="en-US" sz="1440"/>
          </a:p>
        </p:txBody>
      </p:sp>
      <p:pic>
        <p:nvPicPr>
          <p:cNvPr id="66" name="Image 26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56756" y="5940553"/>
            <a:ext cx="1475842" cy="15240"/>
          </a:xfrm>
          <a:prstGeom prst="rect">
            <a:avLst/>
          </a:prstGeom>
        </p:spPr>
      </p:pic>
      <p:sp>
        <p:nvSpPr>
          <p:cNvPr id="67" name="Text 38"/>
          <p:cNvSpPr/>
          <p:nvPr/>
        </p:nvSpPr>
        <p:spPr>
          <a:xfrm>
            <a:off x="9089622" y="605028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</a:t>
            </a:r>
            <a:endParaRPr lang="en-US" sz="1440"/>
          </a:p>
        </p:txBody>
      </p:sp>
      <p:pic>
        <p:nvPicPr>
          <p:cNvPr id="68" name="Image 27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2749" y="5940553"/>
            <a:ext cx="1475690" cy="15240"/>
          </a:xfrm>
          <a:prstGeom prst="rect">
            <a:avLst/>
          </a:prstGeom>
        </p:spPr>
      </p:pic>
      <p:pic>
        <p:nvPicPr>
          <p:cNvPr id="69" name="Image 28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906001" y="5958841"/>
            <a:ext cx="1478280" cy="38100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10291385" y="6050281"/>
            <a:ext cx="73738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B91C1C"/>
                </a:solidFill>
              </a:rPr>
              <a:t>有形无魂</a:t>
            </a:r>
            <a:endParaRPr lang="en-US" sz="1440"/>
          </a:p>
        </p:txBody>
      </p:sp>
      <p:pic>
        <p:nvPicPr>
          <p:cNvPr id="71" name="Image 2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08439" y="5940553"/>
            <a:ext cx="1475842" cy="15240"/>
          </a:xfrm>
          <a:prstGeom prst="rect">
            <a:avLst/>
          </a:prstGeom>
        </p:spPr>
      </p:pic>
      <p:sp>
        <p:nvSpPr>
          <p:cNvPr id="73" name="Text 7">
            <a:extLst>
              <a:ext uri="{FF2B5EF4-FFF2-40B4-BE49-F238E27FC236}">
                <a16:creationId xmlns:a16="http://schemas.microsoft.com/office/drawing/2014/main" id="{3B120617-C188-9EF9-48D0-A2FAD21D78B2}"/>
              </a:ext>
            </a:extLst>
          </p:cNvPr>
          <p:cNvSpPr/>
          <p:nvPr/>
        </p:nvSpPr>
        <p:spPr>
          <a:xfrm>
            <a:off x="473049" y="455737"/>
            <a:ext cx="11245901" cy="425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3.1 双谱系耦合（统计口径与开题框架一致）</a:t>
            </a:r>
          </a:p>
        </p:txBody>
      </p:sp>
      <p:pic>
        <p:nvPicPr>
          <p:cNvPr id="74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8C42BA92-100C-BBAA-0DF5-9FC47137E34B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A1AE74E0-A51A-F6B3-BA37-3C6948C72F6F}"/>
              </a:ext>
            </a:extLst>
          </p:cNvPr>
          <p:cNvGrpSpPr/>
          <p:nvPr/>
        </p:nvGrpSpPr>
        <p:grpSpPr>
          <a:xfrm>
            <a:off x="361815" y="1986643"/>
            <a:ext cx="2331720" cy="762000"/>
            <a:chOff x="524993" y="2617754"/>
            <a:chExt cx="2331720" cy="762000"/>
          </a:xfrm>
        </p:grpSpPr>
        <p:pic>
          <p:nvPicPr>
            <p:cNvPr id="39" name="Image 8" descr="https://test.web.static.jianzeppt.com/ppt-temp-img3/a7e01bfa645bb34c7368e883c4e093de.png">
              <a:extLst>
                <a:ext uri="{FF2B5EF4-FFF2-40B4-BE49-F238E27FC236}">
                  <a16:creationId xmlns:a16="http://schemas.microsoft.com/office/drawing/2014/main" id="{C1996A57-594C-C9AC-6C0D-D93BBA41B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993" y="2617754"/>
              <a:ext cx="2331720" cy="762000"/>
            </a:xfrm>
            <a:prstGeom prst="rect">
              <a:avLst/>
            </a:prstGeom>
          </p:spPr>
        </p:pic>
        <p:sp>
          <p:nvSpPr>
            <p:cNvPr id="4" name="Text 0"/>
            <p:cNvSpPr/>
            <p:nvPr/>
          </p:nvSpPr>
          <p:spPr>
            <a:xfrm>
              <a:off x="930251" y="2791168"/>
              <a:ext cx="1508150" cy="4757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915"/>
                </a:lnSpc>
              </a:pPr>
              <a:r>
                <a:rPr lang="en-US" sz="1440" dirty="0" err="1">
                  <a:solidFill>
                    <a:srgbClr val="000000"/>
                  </a:solidFill>
                </a:rPr>
                <a:t>数据采集</a:t>
              </a:r>
              <a:r>
                <a:rPr lang="en-US" sz="1440" dirty="0">
                  <a:solidFill>
                    <a:srgbClr val="000000"/>
                  </a:solidFill>
                </a:rPr>
                <a:t> (OCR/</a:t>
              </a:r>
              <a:r>
                <a:rPr lang="en-US" sz="1440" dirty="0" err="1">
                  <a:solidFill>
                    <a:srgbClr val="000000"/>
                  </a:solidFill>
                </a:rPr>
                <a:t>爬虫</a:t>
              </a:r>
              <a:r>
                <a:rPr lang="en-US" sz="1440" dirty="0">
                  <a:solidFill>
                    <a:srgbClr val="000000"/>
                  </a:solidFill>
                </a:rPr>
                <a:t>/API)</a:t>
              </a:r>
              <a:endParaRPr lang="en-US" sz="1440" dirty="0"/>
            </a:p>
          </p:txBody>
        </p:sp>
      </p:grpSp>
      <p:sp>
        <p:nvSpPr>
          <p:cNvPr id="5" name="Text 1"/>
          <p:cNvSpPr/>
          <p:nvPr/>
        </p:nvSpPr>
        <p:spPr>
          <a:xfrm>
            <a:off x="2853957" y="2165828"/>
            <a:ext cx="489672" cy="464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pic>
        <p:nvPicPr>
          <p:cNvPr id="6" name="Image 2" descr="https://test.web.static.jianzeppt.com/ppt-temp-img3/af3e34d07c1100c7734ac5a514c3e5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9961" y="1981200"/>
            <a:ext cx="2331720" cy="762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72841" y="2133600"/>
            <a:ext cx="1980590" cy="4757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语料规范化（corpus_index） → POI/评论清洗匹配 → LLM 抽取 → 合并 JSON</a:t>
            </a:r>
          </a:p>
        </p:txBody>
      </p:sp>
      <p:sp>
        <p:nvSpPr>
          <p:cNvPr id="8" name="Text 3"/>
          <p:cNvSpPr/>
          <p:nvPr/>
        </p:nvSpPr>
        <p:spPr>
          <a:xfrm>
            <a:off x="5836311" y="1981200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pic>
        <p:nvPicPr>
          <p:cNvPr id="9" name="Image 3" descr="https://test.web.static.jianzeppt.com/ppt-temp-img3/af3e34d07c1100c7734ac5a514c3e5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321" y="1981200"/>
            <a:ext cx="2331720" cy="762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69075" y="3579694"/>
            <a:ext cx="2041550" cy="4757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文化谱系树（典籍+非遗逻辑）+ 关键人物/地点节点</a:t>
            </a:r>
          </a:p>
        </p:txBody>
      </p:sp>
      <p:sp>
        <p:nvSpPr>
          <p:cNvPr id="11" name="Text 5"/>
          <p:cNvSpPr/>
          <p:nvPr/>
        </p:nvSpPr>
        <p:spPr>
          <a:xfrm>
            <a:off x="8823961" y="1981200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pic>
        <p:nvPicPr>
          <p:cNvPr id="12" name="Image 4" descr="https://test.web.static.jianzeppt.com/ppt-temp-img3/af3e34d07c1100c7734ac5a514c3e5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0681" y="1981200"/>
            <a:ext cx="2331720" cy="76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433561" y="2133600"/>
            <a:ext cx="2148838" cy="232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景点谱系（POI 分类 + 体验/评论维度）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05627FD-0223-61E7-4B86-0EF998BC937F}"/>
              </a:ext>
            </a:extLst>
          </p:cNvPr>
          <p:cNvGrpSpPr/>
          <p:nvPr/>
        </p:nvGrpSpPr>
        <p:grpSpPr>
          <a:xfrm>
            <a:off x="9592665" y="3478203"/>
            <a:ext cx="2331720" cy="762000"/>
            <a:chOff x="609601" y="3657600"/>
            <a:chExt cx="2331720" cy="762000"/>
          </a:xfrm>
        </p:grpSpPr>
        <p:pic>
          <p:nvPicPr>
            <p:cNvPr id="15" name="Image 5" descr="https://test.web.static.jianzeppt.com/ppt-temp-img3/a7e01bfa645bb34c7368e883c4e093d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1" y="3657600"/>
              <a:ext cx="2331720" cy="762000"/>
            </a:xfrm>
            <a:prstGeom prst="rect">
              <a:avLst/>
            </a:prstGeom>
          </p:spPr>
        </p:pic>
        <p:sp>
          <p:nvSpPr>
            <p:cNvPr id="16" name="Text 8"/>
            <p:cNvSpPr/>
            <p:nvPr/>
          </p:nvSpPr>
          <p:spPr>
            <a:xfrm>
              <a:off x="792481" y="3810000"/>
              <a:ext cx="1980590" cy="4757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915"/>
                </a:lnSpc>
              </a:pPr>
              <a:r>
                <a:rPr lang="zh-CN" altLang="en-US" sz="1440" dirty="0">
                  <a:solidFill>
                    <a:srgbClr val="581C87"/>
                  </a:solidFill>
                </a:rPr>
                <a:t>谱系</a:t>
              </a:r>
              <a:r>
                <a:rPr lang="en-US" sz="1440" dirty="0" err="1">
                  <a:solidFill>
                    <a:srgbClr val="581C87"/>
                  </a:solidFill>
                </a:rPr>
                <a:t>对比</a:t>
              </a:r>
              <a:r>
                <a:rPr lang="en-US" sz="1440" dirty="0">
                  <a:solidFill>
                    <a:srgbClr val="581C87"/>
                  </a:solidFill>
                </a:rPr>
                <a:t> (</a:t>
              </a:r>
              <a:r>
                <a:rPr lang="en-US" sz="1440" dirty="0" err="1">
                  <a:solidFill>
                    <a:srgbClr val="581C87"/>
                  </a:solidFill>
                </a:rPr>
                <a:t>谱系对比</a:t>
              </a:r>
              <a:r>
                <a:rPr lang="en-US" sz="1440" dirty="0">
                  <a:solidFill>
                    <a:srgbClr val="581C87"/>
                  </a:solidFill>
                </a:rPr>
                <a:t>/</a:t>
              </a:r>
              <a:r>
                <a:rPr lang="en-US" sz="1440" dirty="0" err="1">
                  <a:solidFill>
                    <a:srgbClr val="581C87"/>
                  </a:solidFill>
                </a:rPr>
                <a:t>关联分析</a:t>
              </a:r>
              <a:r>
                <a:rPr lang="en-US" sz="1440" dirty="0">
                  <a:solidFill>
                    <a:srgbClr val="581C87"/>
                  </a:solidFill>
                </a:rPr>
                <a:t>/</a:t>
              </a:r>
              <a:r>
                <a:rPr lang="zh-CN" altLang="en-US" sz="1440" dirty="0">
                  <a:solidFill>
                    <a:srgbClr val="581C87"/>
                  </a:solidFill>
                </a:rPr>
                <a:t>错位分析</a:t>
              </a:r>
              <a:r>
                <a:rPr lang="en-US" sz="1440" dirty="0">
                  <a:solidFill>
                    <a:srgbClr val="581C87"/>
                  </a:solidFill>
                </a:rPr>
                <a:t>)</a:t>
              </a:r>
              <a:endParaRPr lang="en-US" sz="1440"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E92A31E-C9EA-D8CF-D6BA-F4874CABAA59}"/>
              </a:ext>
            </a:extLst>
          </p:cNvPr>
          <p:cNvGrpSpPr/>
          <p:nvPr/>
        </p:nvGrpSpPr>
        <p:grpSpPr>
          <a:xfrm>
            <a:off x="6323991" y="1981200"/>
            <a:ext cx="2331720" cy="762000"/>
            <a:chOff x="3489961" y="3657600"/>
            <a:chExt cx="2331720" cy="762000"/>
          </a:xfrm>
        </p:grpSpPr>
        <p:pic>
          <p:nvPicPr>
            <p:cNvPr id="18" name="Image 6" descr="https://test.web.static.jianzeppt.com/ppt-temp-img3/a7e01bfa645bb34c7368e883c4e093d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89961" y="3657600"/>
              <a:ext cx="2331720" cy="762000"/>
            </a:xfrm>
            <a:prstGeom prst="rect">
              <a:avLst/>
            </a:prstGeom>
          </p:spPr>
        </p:pic>
        <p:sp>
          <p:nvSpPr>
            <p:cNvPr id="19" name="Text 10"/>
            <p:cNvSpPr/>
            <p:nvPr/>
          </p:nvSpPr>
          <p:spPr>
            <a:xfrm>
              <a:off x="3642361" y="3810000"/>
              <a:ext cx="2041550" cy="4757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915"/>
                </a:lnSpc>
              </a:pPr>
              <a:r>
                <a:rPr lang="en-US" sz="1440" dirty="0" err="1">
                  <a:solidFill>
                    <a:srgbClr val="581C87"/>
                  </a:solidFill>
                </a:rPr>
                <a:t>知识图谱构建</a:t>
              </a:r>
              <a:r>
                <a:rPr lang="en-US" sz="1440" dirty="0">
                  <a:solidFill>
                    <a:srgbClr val="581C87"/>
                  </a:solidFill>
                </a:rPr>
                <a:t> (</a:t>
              </a:r>
              <a:r>
                <a:rPr lang="en-US" sz="1440" dirty="0" err="1">
                  <a:solidFill>
                    <a:srgbClr val="581C87"/>
                  </a:solidFill>
                </a:rPr>
                <a:t>实体</a:t>
              </a:r>
              <a:r>
                <a:rPr lang="en-US" sz="1440" dirty="0">
                  <a:solidFill>
                    <a:srgbClr val="581C87"/>
                  </a:solidFill>
                </a:rPr>
                <a:t>/</a:t>
              </a:r>
              <a:r>
                <a:rPr lang="en-US" sz="1440" dirty="0" err="1">
                  <a:solidFill>
                    <a:srgbClr val="581C87"/>
                  </a:solidFill>
                </a:rPr>
                <a:t>关系抽取</a:t>
              </a:r>
              <a:r>
                <a:rPr lang="en-US" sz="1440" dirty="0">
                  <a:solidFill>
                    <a:srgbClr val="581C87"/>
                  </a:solidFill>
                </a:rPr>
                <a:t>)</a:t>
              </a:r>
              <a:endParaRPr lang="en-US" sz="1440" dirty="0"/>
            </a:p>
          </p:txBody>
        </p:sp>
      </p:grpSp>
      <p:sp>
        <p:nvSpPr>
          <p:cNvPr id="20" name="Text 11"/>
          <p:cNvSpPr/>
          <p:nvPr/>
        </p:nvSpPr>
        <p:spPr>
          <a:xfrm rot="10800000">
            <a:off x="9008306" y="5738640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sp>
        <p:nvSpPr>
          <p:cNvPr id="23" name="Text 13"/>
          <p:cNvSpPr/>
          <p:nvPr/>
        </p:nvSpPr>
        <p:spPr>
          <a:xfrm>
            <a:off x="8823961" y="3657600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>
                <a:solidFill>
                  <a:srgbClr val="C084FC"/>
                </a:solidFill>
              </a:rPr>
              <a:t>→</a:t>
            </a:r>
            <a:endParaRPr lang="en-US" sz="288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B97EF21-814C-4016-8E66-9F4B5AA66037}"/>
              </a:ext>
            </a:extLst>
          </p:cNvPr>
          <p:cNvGrpSpPr/>
          <p:nvPr/>
        </p:nvGrpSpPr>
        <p:grpSpPr>
          <a:xfrm>
            <a:off x="6370321" y="5622615"/>
            <a:ext cx="2331720" cy="762000"/>
            <a:chOff x="9250681" y="3657600"/>
            <a:chExt cx="2331720" cy="762000"/>
          </a:xfrm>
        </p:grpSpPr>
        <p:pic>
          <p:nvPicPr>
            <p:cNvPr id="24" name="Image 8" descr="https://test.web.static.jianzeppt.com/ppt-temp-img3/a7e01bfa645bb34c7368e883c4e093d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50681" y="3657600"/>
              <a:ext cx="2331720" cy="762000"/>
            </a:xfrm>
            <a:prstGeom prst="rect">
              <a:avLst/>
            </a:prstGeom>
          </p:spPr>
        </p:pic>
        <p:sp>
          <p:nvSpPr>
            <p:cNvPr id="25" name="Text 14"/>
            <p:cNvSpPr/>
            <p:nvPr/>
          </p:nvSpPr>
          <p:spPr>
            <a:xfrm>
              <a:off x="9403081" y="3810000"/>
              <a:ext cx="2041550" cy="2320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915"/>
                </a:lnSpc>
              </a:pPr>
              <a:r>
                <a:rPr lang="en-US" sz="1440" dirty="0" err="1">
                  <a:solidFill>
                    <a:srgbClr val="581C87"/>
                  </a:solidFill>
                </a:rPr>
                <a:t>方案输出</a:t>
              </a:r>
              <a:r>
                <a:rPr lang="en-US" sz="1440" dirty="0">
                  <a:solidFill>
                    <a:srgbClr val="581C87"/>
                  </a:solidFill>
                </a:rPr>
                <a:t> (</a:t>
              </a:r>
              <a:r>
                <a:rPr lang="en-US" sz="1440" dirty="0" err="1">
                  <a:solidFill>
                    <a:srgbClr val="581C87"/>
                  </a:solidFill>
                </a:rPr>
                <a:t>潜力点识别</a:t>
              </a:r>
              <a:r>
                <a:rPr lang="en-US" sz="1440" dirty="0">
                  <a:solidFill>
                    <a:srgbClr val="581C87"/>
                  </a:solidFill>
                </a:rPr>
                <a:t>)</a:t>
              </a:r>
              <a:endParaRPr lang="en-US" sz="1440" dirty="0"/>
            </a:p>
          </p:txBody>
        </p:sp>
      </p:grpSp>
      <p:pic>
        <p:nvPicPr>
          <p:cNvPr id="26" name="Image 9" descr="https://test.web.static.jianzeppt.com/ppt-temp-img3/e26b50fee6fccb8e1616fc8965a907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79" y="3778249"/>
            <a:ext cx="4630057" cy="265303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95918" y="4131475"/>
            <a:ext cx="1074012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Python / Pandas；高德等空间数据；ECharts 交互可视化；可选 Neo4j 导入</a:t>
            </a:r>
          </a:p>
        </p:txBody>
      </p:sp>
      <p:sp>
        <p:nvSpPr>
          <p:cNvPr id="28" name="Text 16"/>
          <p:cNvSpPr/>
          <p:nvPr/>
        </p:nvSpPr>
        <p:spPr>
          <a:xfrm>
            <a:off x="515375" y="4713996"/>
            <a:ext cx="3397910" cy="4757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15"/>
              </a:lnSpc>
            </a:pPr>
            <a:r>
              <a:t>数据处理：Python 生态</a:t>
            </a:r>
            <a:endParaRPr lang="en-US" sz="1440" dirty="0"/>
          </a:p>
          <a:p>
            <a:pPr/>
            <a:r>
              <a:t>空间数据：高德等</a:t>
            </a:r>
          </a:p>
          <a:p>
            <a:pPr/>
            <a:r>
              <a:t>可视化：ECharts / 浏览器预览</a:t>
            </a:r>
          </a:p>
        </p:txBody>
      </p:sp>
      <p:sp>
        <p:nvSpPr>
          <p:cNvPr id="29" name="Text 17"/>
          <p:cNvSpPr/>
          <p:nvPr/>
        </p:nvSpPr>
        <p:spPr>
          <a:xfrm>
            <a:off x="495918" y="5483876"/>
            <a:ext cx="3397910" cy="232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抽取：Qwen 大模型批量调用 + 合并脚本（output/qwen_extraction）</a:t>
            </a:r>
          </a:p>
        </p:txBody>
      </p:sp>
      <p:sp>
        <p:nvSpPr>
          <p:cNvPr id="30" name="Text 18"/>
          <p:cNvSpPr/>
          <p:nvPr/>
        </p:nvSpPr>
        <p:spPr>
          <a:xfrm>
            <a:off x="495918" y="6036619"/>
            <a:ext cx="3397910" cy="232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3.2 技术路线（中期实现）</a:t>
            </a:r>
          </a:p>
        </p:txBody>
      </p:sp>
      <p:sp>
        <p:nvSpPr>
          <p:cNvPr id="31" name="Text 19"/>
          <p:cNvSpPr/>
          <p:nvPr/>
        </p:nvSpPr>
        <p:spPr>
          <a:xfrm>
            <a:off x="489615" y="468074"/>
            <a:ext cx="2063065" cy="4231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图谱融合展示 + 耦合分析页 + 空间分析页（output/figures）</a:t>
            </a: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753DE125-25BC-A65E-3B31-42D7BC14E78F}"/>
              </a:ext>
            </a:extLst>
          </p:cNvPr>
          <p:cNvSpPr/>
          <p:nvPr/>
        </p:nvSpPr>
        <p:spPr>
          <a:xfrm rot="5400000">
            <a:off x="7305505" y="2893555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81DEDA01-78DC-310D-3F78-F39971899002}"/>
              </a:ext>
            </a:extLst>
          </p:cNvPr>
          <p:cNvSpPr/>
          <p:nvPr/>
        </p:nvSpPr>
        <p:spPr>
          <a:xfrm rot="5400000">
            <a:off x="10471595" y="2843190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232F5910-D3D0-8E63-69C5-3A4020E82BB3}"/>
              </a:ext>
            </a:extLst>
          </p:cNvPr>
          <p:cNvGrpSpPr/>
          <p:nvPr/>
        </p:nvGrpSpPr>
        <p:grpSpPr>
          <a:xfrm>
            <a:off x="9592601" y="5622615"/>
            <a:ext cx="2331720" cy="762000"/>
            <a:chOff x="9250681" y="3657600"/>
            <a:chExt cx="2331720" cy="762000"/>
          </a:xfrm>
        </p:grpSpPr>
        <p:pic>
          <p:nvPicPr>
            <p:cNvPr id="43" name="Image 8" descr="https://test.web.static.jianzeppt.com/ppt-temp-img3/a7e01bfa645bb34c7368e883c4e093de.png">
              <a:extLst>
                <a:ext uri="{FF2B5EF4-FFF2-40B4-BE49-F238E27FC236}">
                  <a16:creationId xmlns:a16="http://schemas.microsoft.com/office/drawing/2014/main" id="{FD72DA4F-6149-FAA0-33AC-E073C01ED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50681" y="3657600"/>
              <a:ext cx="2331720" cy="762000"/>
            </a:xfrm>
            <a:prstGeom prst="rect">
              <a:avLst/>
            </a:prstGeom>
          </p:spPr>
        </p:pic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E2D30785-ADD0-1199-312E-A4ACD88AEF73}"/>
                </a:ext>
              </a:extLst>
            </p:cNvPr>
            <p:cNvSpPr/>
            <p:nvPr/>
          </p:nvSpPr>
          <p:spPr>
            <a:xfrm>
              <a:off x="9403081" y="3810000"/>
              <a:ext cx="2041550" cy="2320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915"/>
                </a:lnSpc>
              </a:pPr>
              <a:r>
                <a:rPr lang="zh-CN" altLang="en-US" sz="1440" dirty="0">
                  <a:solidFill>
                    <a:srgbClr val="581C87"/>
                  </a:solidFill>
                </a:rPr>
                <a:t>原因分析</a:t>
              </a:r>
              <a:r>
                <a:rPr lang="en-US" sz="1440" dirty="0">
                  <a:solidFill>
                    <a:srgbClr val="581C87"/>
                  </a:solidFill>
                </a:rPr>
                <a:t> (</a:t>
              </a:r>
              <a:r>
                <a:rPr lang="zh-CN" altLang="en-US" sz="1440" dirty="0">
                  <a:solidFill>
                    <a:srgbClr val="581C87"/>
                  </a:solidFill>
                </a:rPr>
                <a:t>结合现实情况</a:t>
              </a:r>
              <a:r>
                <a:rPr lang="en-US" sz="1440" dirty="0">
                  <a:solidFill>
                    <a:srgbClr val="581C87"/>
                  </a:solidFill>
                </a:rPr>
                <a:t>)</a:t>
              </a:r>
              <a:endParaRPr lang="en-US" sz="1440" dirty="0"/>
            </a:p>
          </p:txBody>
        </p:sp>
      </p:grpSp>
      <p:sp>
        <p:nvSpPr>
          <p:cNvPr id="48" name="Text 11">
            <a:extLst>
              <a:ext uri="{FF2B5EF4-FFF2-40B4-BE49-F238E27FC236}">
                <a16:creationId xmlns:a16="http://schemas.microsoft.com/office/drawing/2014/main" id="{F1765CF1-60F6-FBBC-E4C6-478126937493}"/>
              </a:ext>
            </a:extLst>
          </p:cNvPr>
          <p:cNvSpPr/>
          <p:nvPr/>
        </p:nvSpPr>
        <p:spPr>
          <a:xfrm rot="5400000">
            <a:off x="10476849" y="4743123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pic>
        <p:nvPicPr>
          <p:cNvPr id="14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E3D829D3-4D67-BC7D-FA6E-83BB8ED9A2E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dc14a6cd57f07efe0ce27a9f07a649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271" y="3209684"/>
            <a:ext cx="579150" cy="579150"/>
          </a:xfrm>
          <a:prstGeom prst="rect">
            <a:avLst/>
          </a:prstGeom>
        </p:spPr>
      </p:pic>
      <p:pic>
        <p:nvPicPr>
          <p:cNvPr id="4" name="Image 2" descr="https://test.web.static.jianzeppt.com/ppt-temp-img3/b673e1698256611c4283e0bc2c2cf8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841" y="4713364"/>
            <a:ext cx="579150" cy="579150"/>
          </a:xfrm>
          <a:prstGeom prst="rect">
            <a:avLst/>
          </a:prstGeom>
        </p:spPr>
      </p:pic>
      <p:pic>
        <p:nvPicPr>
          <p:cNvPr id="5" name="Image 3" descr="https://test.web.static.jianzeppt.com/ppt-temp-img3/9dad981d45fe39183494eef3f52fd5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5841" y="1704947"/>
            <a:ext cx="579150" cy="5791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3.3 中期核心结论（摘要）</a:t>
            </a:r>
          </a:p>
        </p:txBody>
      </p:sp>
      <p:sp>
        <p:nvSpPr>
          <p:cNvPr id="7" name="Text 1"/>
          <p:cNvSpPr/>
          <p:nvPr/>
        </p:nvSpPr>
        <p:spPr>
          <a:xfrm>
            <a:off x="3121317" y="3676751"/>
            <a:ext cx="7461187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现代公园类设施可补充非遗叙事与活动植入，提升“有形亦有魂”。</a:t>
            </a:r>
          </a:p>
        </p:txBody>
      </p:sp>
      <p:sp>
        <p:nvSpPr>
          <p:cNvPr id="8" name="Text 2"/>
          <p:cNvSpPr/>
          <p:nvPr/>
        </p:nvSpPr>
        <p:spPr>
          <a:xfrm>
            <a:off x="2153130" y="2172015"/>
            <a:ext cx="7461187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双谱系 + 耦合框架可量化“融合成功 / 挖掘不足 / 未转化 / 缺魂”等状态。</a:t>
            </a:r>
          </a:p>
        </p:txBody>
      </p:sp>
      <p:sp>
        <p:nvSpPr>
          <p:cNvPr id="9" name="Text 3"/>
          <p:cNvSpPr/>
          <p:nvPr/>
        </p:nvSpPr>
        <p:spPr>
          <a:xfrm>
            <a:off x="2151690" y="4727970"/>
            <a:ext cx="746406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空间与产品</a:t>
            </a:r>
          </a:p>
        </p:txBody>
      </p:sp>
      <p:sp>
        <p:nvSpPr>
          <p:cNvPr id="10" name="Text 4"/>
          <p:cNvSpPr/>
          <p:nvPr/>
        </p:nvSpPr>
        <p:spPr>
          <a:xfrm>
            <a:off x="2151690" y="1718495"/>
            <a:ext cx="746406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方法框架</a:t>
            </a:r>
          </a:p>
        </p:txBody>
      </p:sp>
      <p:sp>
        <p:nvSpPr>
          <p:cNvPr id="11" name="Text 5"/>
          <p:cNvSpPr/>
          <p:nvPr/>
        </p:nvSpPr>
        <p:spPr>
          <a:xfrm>
            <a:off x="2153130" y="5181490"/>
            <a:ext cx="7461187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大规模语料 + LLM 抽取得到可合并的实体/关系，支撑后续图谱与论文写作。</a:t>
            </a:r>
          </a:p>
        </p:txBody>
      </p:sp>
      <p:sp>
        <p:nvSpPr>
          <p:cNvPr id="12" name="Text 6"/>
          <p:cNvSpPr/>
          <p:nvPr/>
        </p:nvSpPr>
        <p:spPr>
          <a:xfrm>
            <a:off x="3119879" y="3223232"/>
            <a:ext cx="746406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数据与抽取</a:t>
            </a:r>
          </a:p>
        </p:txBody>
      </p:sp>
      <p:pic>
        <p:nvPicPr>
          <p:cNvPr id="14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95ADADB4-78EC-B67F-1C79-3E056DD3C6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70da9e0f22b9eba07f032322da50f4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490" y="2074603"/>
            <a:ext cx="2767330" cy="3115194"/>
          </a:xfrm>
          <a:prstGeom prst="rect">
            <a:avLst/>
          </a:prstGeom>
        </p:spPr>
      </p:pic>
      <p:pic>
        <p:nvPicPr>
          <p:cNvPr id="4" name="Image 2" descr="https://test.web.static.jianzeppt.com/ppt-temp-img3/782bc462aca213f3e307162adf37ed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597" y="2577352"/>
            <a:ext cx="476726" cy="476426"/>
          </a:xfrm>
          <a:prstGeom prst="rect">
            <a:avLst/>
          </a:prstGeom>
        </p:spPr>
      </p:pic>
      <p:pic>
        <p:nvPicPr>
          <p:cNvPr id="5" name="Image 3" descr="https://test.web.static.jianzeppt.com/ppt-temp-img3/e4d24223dad5f59a0f5ce4f86ce1766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397" y="2577352"/>
            <a:ext cx="476726" cy="476426"/>
          </a:xfrm>
          <a:prstGeom prst="rect">
            <a:avLst/>
          </a:prstGeom>
        </p:spPr>
      </p:pic>
      <p:pic>
        <p:nvPicPr>
          <p:cNvPr id="6" name="Image 4" descr="https://test.web.static.jianzeppt.com/ppt-temp-img3/62abade972d2ae60bdd8057f38c4daf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8387" y="2577352"/>
            <a:ext cx="476726" cy="47642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701165" y="3481320"/>
            <a:ext cx="211072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数据覆盖</a:t>
            </a:r>
          </a:p>
        </p:txBody>
      </p:sp>
      <p:sp>
        <p:nvSpPr>
          <p:cNvPr id="8" name="Text 1"/>
          <p:cNvSpPr/>
          <p:nvPr/>
        </p:nvSpPr>
        <p:spPr>
          <a:xfrm>
            <a:off x="8405216" y="3935574"/>
            <a:ext cx="2110723" cy="9618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语料、POI、评论、抽取结果已形成闭环文件，支撑中期检查材料。</a:t>
            </a:r>
          </a:p>
        </p:txBody>
      </p:sp>
      <p:sp>
        <p:nvSpPr>
          <p:cNvPr id="9" name="Text 2"/>
          <p:cNvSpPr/>
          <p:nvPr/>
        </p:nvSpPr>
        <p:spPr>
          <a:xfrm>
            <a:off x="5018049" y="3481320"/>
            <a:ext cx="211072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方法可行性</a:t>
            </a:r>
          </a:p>
        </p:txBody>
      </p:sp>
      <p:sp>
        <p:nvSpPr>
          <p:cNvPr id="10" name="Text 3"/>
          <p:cNvSpPr/>
          <p:nvPr/>
        </p:nvSpPr>
        <p:spPr>
          <a:xfrm>
            <a:off x="1701165" y="3935573"/>
            <a:ext cx="2110723" cy="861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典籍全文约 899 万字符；POI 13,113；评论 26,315；实体 8,048；关系 19,382。</a:t>
            </a:r>
          </a:p>
        </p:txBody>
      </p:sp>
      <p:sp>
        <p:nvSpPr>
          <p:cNvPr id="11" name="Text 4"/>
          <p:cNvSpPr/>
          <p:nvPr/>
        </p:nvSpPr>
        <p:spPr>
          <a:xfrm>
            <a:off x="5029544" y="3935573"/>
            <a:ext cx="2110723" cy="861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抽取与清洗流程可复现：脚本与配置在仓库内，结果位于 output/ 与 data/corpus。</a:t>
            </a:r>
          </a:p>
        </p:txBody>
      </p:sp>
      <p:sp>
        <p:nvSpPr>
          <p:cNvPr id="12" name="Text 5"/>
          <p:cNvSpPr/>
          <p:nvPr/>
        </p:nvSpPr>
        <p:spPr>
          <a:xfrm>
            <a:off x="8382060" y="3481320"/>
            <a:ext cx="211072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工作量</a:t>
            </a:r>
          </a:p>
        </p:txBody>
      </p:sp>
      <p:sp>
        <p:nvSpPr>
          <p:cNvPr id="13" name="Text 6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4.1 可行性（中期核对）</a:t>
            </a:r>
          </a:p>
        </p:txBody>
      </p:sp>
      <p:pic>
        <p:nvPicPr>
          <p:cNvPr id="15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62CAF191-4736-E819-032B-A0949569B37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https://test.web.static.jianzeppt.com/ppt-temp-img3/ce7421b5e1cf78edb5402ddae9294d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1136"/>
            <a:ext cx="12446000" cy="321437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4666CA0-5EC8-EABB-884C-89B5C8C9F4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502" y="589569"/>
            <a:ext cx="9563837" cy="3106321"/>
          </a:xfrm>
          <a:prstGeom prst="rect">
            <a:avLst/>
          </a:prstGeom>
        </p:spPr>
      </p:pic>
      <p:pic>
        <p:nvPicPr>
          <p:cNvPr id="5" name="Image 3" descr="https://test.web.static.jianzeppt.com/ppt-temp-img3/c3afa5a22bf1ba28eee95e86dd81bb8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2" y="3038418"/>
            <a:ext cx="742718" cy="74271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312894" y="5287998"/>
            <a:ext cx="413624" cy="425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5D076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04</a:t>
            </a:r>
            <a:endParaRPr lang="en-US" sz="2768" dirty="0"/>
          </a:p>
        </p:txBody>
      </p:sp>
      <p:sp>
        <p:nvSpPr>
          <p:cNvPr id="8" name="Text 2"/>
          <p:cNvSpPr/>
          <p:nvPr/>
        </p:nvSpPr>
        <p:spPr>
          <a:xfrm>
            <a:off x="1534912" y="5445059"/>
            <a:ext cx="413624" cy="425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5D076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02</a:t>
            </a:r>
            <a:endParaRPr lang="en-US" sz="2768" dirty="0"/>
          </a:p>
        </p:txBody>
      </p:sp>
      <p:sp>
        <p:nvSpPr>
          <p:cNvPr id="9" name="Text 3"/>
          <p:cNvSpPr/>
          <p:nvPr/>
        </p:nvSpPr>
        <p:spPr>
          <a:xfrm>
            <a:off x="238634" y="4093149"/>
            <a:ext cx="413624" cy="425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5D076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01</a:t>
            </a:r>
            <a:endParaRPr lang="en-US" sz="2768" dirty="0"/>
          </a:p>
        </p:txBody>
      </p:sp>
      <p:sp>
        <p:nvSpPr>
          <p:cNvPr id="11" name="Text 5"/>
          <p:cNvSpPr/>
          <p:nvPr/>
        </p:nvSpPr>
        <p:spPr>
          <a:xfrm>
            <a:off x="506206" y="4481400"/>
            <a:ext cx="1935702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文献与方案：开题报告与答辩（已完成）。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FBDC0E-A9F2-7E1E-E897-EEE0C284CB5E}"/>
              </a:ext>
            </a:extLst>
          </p:cNvPr>
          <p:cNvGrpSpPr/>
          <p:nvPr/>
        </p:nvGrpSpPr>
        <p:grpSpPr>
          <a:xfrm>
            <a:off x="3461444" y="3842708"/>
            <a:ext cx="2804742" cy="1328048"/>
            <a:chOff x="3596058" y="4023633"/>
            <a:chExt cx="2804742" cy="1328048"/>
          </a:xfrm>
        </p:grpSpPr>
        <p:sp>
          <p:nvSpPr>
            <p:cNvPr id="6" name="Text 0"/>
            <p:cNvSpPr/>
            <p:nvPr/>
          </p:nvSpPr>
          <p:spPr>
            <a:xfrm>
              <a:off x="3596058" y="4023633"/>
              <a:ext cx="413624" cy="42507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322"/>
                </a:lnSpc>
              </a:pPr>
              <a:r>
                <a:rPr lang="en-US" sz="2768" b="1" dirty="0">
                  <a:solidFill>
                    <a:srgbClr val="5D0769"/>
                  </a:solidFill>
                  <a:latin typeface="Arial" pitchFamily="34" charset="0"/>
                  <a:ea typeface="Arial" pitchFamily="34" charset="0"/>
                  <a:cs typeface="Arial" pitchFamily="34" charset="0"/>
                </a:rPr>
                <a:t>03</a:t>
              </a:r>
              <a:endParaRPr lang="en-US" sz="2768" dirty="0"/>
            </a:p>
          </p:txBody>
        </p:sp>
        <p:sp>
          <p:nvSpPr>
            <p:cNvPr id="10" name="Text 4"/>
            <p:cNvSpPr/>
            <p:nvPr/>
          </p:nvSpPr>
          <p:spPr>
            <a:xfrm>
              <a:off x="4175099" y="4139516"/>
              <a:ext cx="1938483" cy="2180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726"/>
                </a:lnSpc>
              </a:pPr>
              <a:r>
                <a:rPr lang="zh-CN" altLang="en-US" sz="1600" b="1" dirty="0">
                  <a:solidFill>
                    <a:srgbClr val="5D0769"/>
                  </a:solidFill>
                  <a:latin typeface="OPPOSans"/>
                  <a:ea typeface="OPPOSans"/>
                  <a:cs typeface="OPPOSans"/>
                </a:rPr>
                <a:t>数据清洗</a:t>
              </a:r>
              <a:endParaRPr lang="en-US" sz="1600" dirty="0"/>
            </a:p>
          </p:txBody>
        </p:sp>
        <p:sp>
          <p:nvSpPr>
            <p:cNvPr id="12" name="Text 6"/>
            <p:cNvSpPr/>
            <p:nvPr/>
          </p:nvSpPr>
          <p:spPr>
            <a:xfrm>
              <a:off x="4176539" y="4529468"/>
              <a:ext cx="2224261" cy="8222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184"/>
                </a:lnSpc>
              </a:pPr>
              <a:r>
                <a:rPr lang="en-US" altLang="zh-CN" sz="1400" dirty="0" err="1">
                  <a:solidFill>
                    <a:srgbClr val="1E1E1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Normal"/>
                </a:rPr>
                <a:t>文本清洗与标准化、地理数据统一、文化要素提取、关联关系建立</a:t>
              </a:r>
              <a:endParaRPr lang="en-US" altLang="zh-CN" sz="14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endParaRPr>
            </a:p>
          </p:txBody>
        </p:sp>
      </p:grpSp>
      <p:sp>
        <p:nvSpPr>
          <p:cNvPr id="13" name="Text 7"/>
          <p:cNvSpPr/>
          <p:nvPr/>
        </p:nvSpPr>
        <p:spPr>
          <a:xfrm>
            <a:off x="2239496" y="5869677"/>
            <a:ext cx="1935603" cy="822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数据工程：语料库、POI 清洗、评论—POI 匹配、LLM 抽取与合并（已完成）。</a:t>
            </a:r>
          </a:p>
        </p:txBody>
      </p:sp>
      <p:sp>
        <p:nvSpPr>
          <p:cNvPr id="14" name="Text 8"/>
          <p:cNvSpPr/>
          <p:nvPr/>
        </p:nvSpPr>
        <p:spPr>
          <a:xfrm>
            <a:off x="5953009" y="5340528"/>
            <a:ext cx="1906403" cy="24474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分析深化</a:t>
            </a:r>
          </a:p>
        </p:txBody>
      </p:sp>
      <p:sp>
        <p:nvSpPr>
          <p:cNvPr id="15" name="Text 9"/>
          <p:cNvSpPr/>
          <p:nvPr/>
        </p:nvSpPr>
        <p:spPr>
          <a:xfrm>
            <a:off x="2160570" y="5532076"/>
            <a:ext cx="1906403" cy="24474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图谱/谱系/空间/耦合与可视化页面（已完成，持续微调）。</a:t>
            </a:r>
          </a:p>
        </p:txBody>
      </p:sp>
      <p:sp>
        <p:nvSpPr>
          <p:cNvPr id="17" name="Text 11"/>
          <p:cNvSpPr/>
          <p:nvPr/>
        </p:nvSpPr>
        <p:spPr>
          <a:xfrm>
            <a:off x="5793319" y="4229257"/>
            <a:ext cx="1924579" cy="24474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38"/>
              </a:lnSpc>
            </a:pPr>
            <a:endParaRPr lang="en-US" sz="1568" dirty="0"/>
          </a:p>
        </p:txBody>
      </p:sp>
      <p:sp>
        <p:nvSpPr>
          <p:cNvPr id="18" name="Text 12"/>
          <p:cNvSpPr/>
          <p:nvPr/>
        </p:nvSpPr>
        <p:spPr>
          <a:xfrm>
            <a:off x="5954449" y="5743849"/>
            <a:ext cx="1935603" cy="11141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论文撰写：按章节组织方法与结果，补充图表与讨论。</a:t>
            </a: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984BB54F-D468-59B5-5615-E3015320651E}"/>
              </a:ext>
            </a:extLst>
          </p:cNvPr>
          <p:cNvSpPr/>
          <p:nvPr/>
        </p:nvSpPr>
        <p:spPr>
          <a:xfrm>
            <a:off x="9355677" y="5516902"/>
            <a:ext cx="413624" cy="425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5D076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06</a:t>
            </a:r>
            <a:endParaRPr lang="en-US" sz="2768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C91FE2-4252-D052-79B4-2806E534F613}"/>
              </a:ext>
            </a:extLst>
          </p:cNvPr>
          <p:cNvSpPr txBox="1"/>
          <p:nvPr/>
        </p:nvSpPr>
        <p:spPr>
          <a:xfrm>
            <a:off x="9251488" y="5941980"/>
            <a:ext cx="2209800" cy="91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查重、修改、答辩与材料归档。</a:t>
            </a: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01696C7C-A815-12D8-2B31-C4846BB34D70}"/>
              </a:ext>
            </a:extLst>
          </p:cNvPr>
          <p:cNvSpPr/>
          <p:nvPr/>
        </p:nvSpPr>
        <p:spPr>
          <a:xfrm>
            <a:off x="728060" y="4164064"/>
            <a:ext cx="1906403" cy="24474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开题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D6EFBCD-CC18-D07E-6FD6-CE99A087F25B}"/>
              </a:ext>
            </a:extLst>
          </p:cNvPr>
          <p:cNvGrpSpPr/>
          <p:nvPr/>
        </p:nvGrpSpPr>
        <p:grpSpPr>
          <a:xfrm>
            <a:off x="7374018" y="4093149"/>
            <a:ext cx="2895878" cy="944257"/>
            <a:chOff x="7641493" y="3953643"/>
            <a:chExt cx="2895878" cy="944257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83AE512-EFEF-4BE8-75C8-2BFDF0D23880}"/>
                </a:ext>
              </a:extLst>
            </p:cNvPr>
            <p:cNvSpPr txBox="1"/>
            <p:nvPr/>
          </p:nvSpPr>
          <p:spPr>
            <a:xfrm>
              <a:off x="8039077" y="4264009"/>
              <a:ext cx="2498294" cy="633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184"/>
                </a:lnSpc>
              </a:pPr>
              <a:r>
                <a:rPr lang="en-US" altLang="zh-CN" sz="1400" dirty="0" err="1">
                  <a:solidFill>
                    <a:srgbClr val="1E1E1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深化对比分析、完善可视化图表、设计方案、撰写论文初稿</a:t>
              </a:r>
              <a:endParaRPr lang="en-US" altLang="zh-CN" sz="14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1">
              <a:extLst>
                <a:ext uri="{FF2B5EF4-FFF2-40B4-BE49-F238E27FC236}">
                  <a16:creationId xmlns:a16="http://schemas.microsoft.com/office/drawing/2014/main" id="{3E9FDA1F-F863-AD95-6414-FA28110E783C}"/>
                </a:ext>
              </a:extLst>
            </p:cNvPr>
            <p:cNvSpPr/>
            <p:nvPr/>
          </p:nvSpPr>
          <p:spPr>
            <a:xfrm>
              <a:off x="7641493" y="3953643"/>
              <a:ext cx="413624" cy="42507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322"/>
                </a:lnSpc>
              </a:pPr>
              <a:r>
                <a:rPr lang="en-US" sz="2768" b="1" dirty="0">
                  <a:solidFill>
                    <a:srgbClr val="5D0769"/>
                  </a:solidFill>
                  <a:latin typeface="Arial" pitchFamily="34" charset="0"/>
                  <a:ea typeface="Arial" pitchFamily="34" charset="0"/>
                  <a:cs typeface="Arial" pitchFamily="34" charset="0"/>
                </a:rPr>
                <a:t>05</a:t>
              </a:r>
              <a:endParaRPr lang="en-US" sz="2768" dirty="0"/>
            </a:p>
          </p:txBody>
        </p:sp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E1760DC9-D335-FF97-C69E-F21A0331B514}"/>
                </a:ext>
              </a:extLst>
            </p:cNvPr>
            <p:cNvSpPr/>
            <p:nvPr/>
          </p:nvSpPr>
          <p:spPr>
            <a:xfrm>
              <a:off x="8207722" y="4011130"/>
              <a:ext cx="1906403" cy="24474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038"/>
                </a:lnSpc>
              </a:pPr>
              <a:r>
                <a:rPr lang="zh-CN" altLang="en-US" sz="1600" b="1" dirty="0">
                  <a:solidFill>
                    <a:srgbClr val="5D0769"/>
                  </a:solidFill>
                  <a:latin typeface="OPPOSans"/>
                  <a:ea typeface="OPPOSans"/>
                  <a:cs typeface="OPPOSans"/>
                </a:rPr>
                <a:t>论文撰写</a:t>
              </a:r>
              <a:endParaRPr lang="en-US" sz="1600" dirty="0"/>
            </a:p>
          </p:txBody>
        </p:sp>
      </p:grpSp>
      <p:sp>
        <p:nvSpPr>
          <p:cNvPr id="27" name="Text 8">
            <a:extLst>
              <a:ext uri="{FF2B5EF4-FFF2-40B4-BE49-F238E27FC236}">
                <a16:creationId xmlns:a16="http://schemas.microsoft.com/office/drawing/2014/main" id="{76CBE6D5-7648-64EC-05C1-8A29C4388119}"/>
              </a:ext>
            </a:extLst>
          </p:cNvPr>
          <p:cNvSpPr/>
          <p:nvPr/>
        </p:nvSpPr>
        <p:spPr>
          <a:xfrm>
            <a:off x="9873490" y="5613239"/>
            <a:ext cx="1906403" cy="24474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毕设后期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6B0CB6C-E9C1-057E-563B-5EC906706E9E}"/>
              </a:ext>
            </a:extLst>
          </p:cNvPr>
          <p:cNvCxnSpPr>
            <a:cxnSpLocks/>
          </p:cNvCxnSpPr>
          <p:nvPr/>
        </p:nvCxnSpPr>
        <p:spPr>
          <a:xfrm flipV="1">
            <a:off x="31612" y="5209913"/>
            <a:ext cx="11218450" cy="10805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 0" descr="https://oss.jianzeppt.com/editablePptPic/isIllustration_2_isShadow_0/68fe1269-8cc2-4116-97e6-2e27b97da75f_image_024f533a16df894d6710d6aaad9f47c2_14123563.png">
            <a:extLst>
              <a:ext uri="{FF2B5EF4-FFF2-40B4-BE49-F238E27FC236}">
                <a16:creationId xmlns:a16="http://schemas.microsoft.com/office/drawing/2014/main" id="{FAC59FFD-4565-5A50-05F4-4783ABEFD1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30" name="Text 6">
            <a:extLst>
              <a:ext uri="{FF2B5EF4-FFF2-40B4-BE49-F238E27FC236}">
                <a16:creationId xmlns:a16="http://schemas.microsoft.com/office/drawing/2014/main" id="{444D2A9A-8324-7F45-C0D1-68D686E16423}"/>
              </a:ext>
            </a:extLst>
          </p:cNvPr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4.2 后续计划（中期后）</a:t>
            </a:r>
          </a:p>
        </p:txBody>
      </p:sp>
      <p:pic>
        <p:nvPicPr>
          <p:cNvPr id="1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25239E92-7C96-1BDD-297A-6445CEF33B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5FEC-B1E4-7DCE-1B06-4DBFE655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17ABB24-DF7A-9914-880F-A02FEFD7F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534" y="3062760"/>
            <a:ext cx="6534227" cy="376868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5F1B4FB-CFCF-920E-DCFE-43BEE882A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5" t="13863" r="12537" b="9537"/>
          <a:stretch>
            <a:fillRect/>
          </a:stretch>
        </p:blipFill>
        <p:spPr>
          <a:xfrm>
            <a:off x="5739782" y="535794"/>
            <a:ext cx="4646807" cy="2683431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68fe1269-8cc2-4116-97e6-2e27b97da75f_image_024f533a16df894d6710d6aaad9f47c2_14123563.png">
            <a:extLst>
              <a:ext uri="{FF2B5EF4-FFF2-40B4-BE49-F238E27FC236}">
                <a16:creationId xmlns:a16="http://schemas.microsoft.com/office/drawing/2014/main" id="{83E90E11-27B6-406C-3755-9910A35C2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B5576B14-683B-E9E5-67EF-3988D8676218}"/>
              </a:ext>
            </a:extLst>
          </p:cNvPr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中期阶段主要产出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450845-B492-4C4F-1574-5A36AD937B33}"/>
              </a:ext>
            </a:extLst>
          </p:cNvPr>
          <p:cNvSpPr txBox="1"/>
          <p:nvPr/>
        </p:nvSpPr>
        <p:spPr>
          <a:xfrm>
            <a:off x="3134049" y="1198980"/>
            <a:ext cx="2096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data/corpus：53 文件，约 899 万字符（索引合计 8,991,098）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1471693-BBB6-5FC6-1D96-2B32835EB5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06" b="28363"/>
          <a:stretch>
            <a:fillRect/>
          </a:stretch>
        </p:blipFill>
        <p:spPr>
          <a:xfrm>
            <a:off x="137458" y="2243650"/>
            <a:ext cx="1885406" cy="206709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C65D3FE-615B-E9C4-FF72-E6CF770D0B4F}"/>
              </a:ext>
            </a:extLst>
          </p:cNvPr>
          <p:cNvSpPr txBox="1"/>
          <p:nvPr/>
        </p:nvSpPr>
        <p:spPr>
          <a:xfrm>
            <a:off x="79022" y="1209881"/>
            <a:ext cx="20964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output/tables：poi_llm_cleaned.csv；review_poi_matched.csv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B202C7-179F-6A73-8F87-EC3B472A8251}"/>
              </a:ext>
            </a:extLst>
          </p:cNvPr>
          <p:cNvSpPr txBox="1"/>
          <p:nvPr/>
        </p:nvSpPr>
        <p:spPr>
          <a:xfrm>
            <a:off x="5422018" y="280371"/>
            <a:ext cx="209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output/qwen_extraction：merged_entities.json（8048）/ merged_relations.json（19382）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9BA818-DD76-8E50-925B-19C102DC39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321" y="2243650"/>
            <a:ext cx="1727276" cy="22102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1AD0A8-A73F-76C7-E197-55395B5AB0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4947100"/>
            <a:ext cx="3932397" cy="1491986"/>
          </a:xfrm>
          <a:prstGeom prst="rect">
            <a:avLst/>
          </a:prstGeom>
        </p:spPr>
      </p:pic>
      <p:pic>
        <p:nvPicPr>
          <p:cNvPr id="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6C8D9A2-6E6D-BEF8-106B-22FDADFAA0C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8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d893cf6e0c69a5aebb895e452fea6df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9226" y="1736370"/>
            <a:ext cx="10993549" cy="1903302"/>
          </a:xfrm>
          <a:prstGeom prst="rect">
            <a:avLst/>
          </a:prstGeom>
        </p:spPr>
      </p:pic>
      <p:pic>
        <p:nvPicPr>
          <p:cNvPr id="3" name="Image 1" descr="https://test.web.static.jianzeppt.com/ppt-temp-img3/d0534efa41b1f51160faca16017f442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9227" y="1736371"/>
            <a:ext cx="821803" cy="867934"/>
          </a:xfrm>
          <a:prstGeom prst="rect">
            <a:avLst/>
          </a:prstGeom>
        </p:spPr>
      </p:pic>
      <p:pic>
        <p:nvPicPr>
          <p:cNvPr id="4" name="Image 2" descr="https://test.web.static.jianzeppt.com/ppt-temp-img3/ea10a1b4d492c6cee0342316e7515b25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1778" y="3429000"/>
            <a:ext cx="1430995" cy="210672"/>
          </a:xfrm>
          <a:prstGeom prst="rect">
            <a:avLst/>
          </a:prstGeom>
        </p:spPr>
      </p:pic>
      <p:pic>
        <p:nvPicPr>
          <p:cNvPr id="5" name="Image 3" descr="https://oss.jianzeppt.com/editablePptPic/isIllustration_1_isShadow_0/18102cb5-5882-4151-ac19-4286f52a0323_image_90819cb7d4a6a1eecbd1ae23dec6207e_14123563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073617" y="399619"/>
            <a:ext cx="2519157" cy="99186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45853" y="2451374"/>
            <a:ext cx="10100294" cy="12319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t>感谢各位老师指导，敬请批评指正</a:t>
            </a:r>
          </a:p>
        </p:txBody>
      </p:sp>
      <p:sp>
        <p:nvSpPr>
          <p:cNvPr id="7" name="Text 1"/>
          <p:cNvSpPr/>
          <p:nvPr/>
        </p:nvSpPr>
        <p:spPr>
          <a:xfrm>
            <a:off x="1053168" y="3865855"/>
            <a:ext cx="10100294" cy="12473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>
              <a:lnSpc>
                <a:spcPts val="2458"/>
              </a:lnSpc>
            </a:pPr>
            <a:endParaRPr lang="en-US" sz="2048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:mc1="http://schemas.openxmlformats.org/markup-compatibility/2006" xmlns="">
      <p:transition spd="slow">
        <p:fade/>
      </p:transition>
    </mc1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</TotalTime>
  <Words>718</Words>
  <Application>Microsoft Office PowerPoint</Application>
  <PresentationFormat>宽屏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OPPOSans</vt:lpstr>
      <vt:lpstr>Source Han Sans CN Normal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93</cp:revision>
  <dcterms:created xsi:type="dcterms:W3CDTF">2026-01-04T14:20:42Z</dcterms:created>
  <dcterms:modified xsi:type="dcterms:W3CDTF">2026-01-06T10:41:20Z</dcterms:modified>
</cp:coreProperties>
</file>