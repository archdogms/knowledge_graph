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封面：题目、中期汇报、答辩人信息。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目录：七章内容导航。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章节：中期定位（文件名保留兼容笔记拆分）。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极简开题衔接 + 中期主线。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章节：数据建设。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中期数据工程。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章节：抽取结构化（文件名保留）。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抽取合并成果 + 与开题分工说明。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章节：分析产出。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分析产物清单 + 路径。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章节：发现与后续。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发现 + 中期增量 + 后续。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致谢页。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287000" y="238125"/>
            <a:ext cx="1524000" cy="476250"/>
          </a:xfrm>
          <a:prstGeom prst="rect">
            <a:avLst/>
          </a:pr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617803" y="4067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8177" y="2785110"/>
            <a:ext cx="783564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佛山市南海区文旅融合调研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55920" y="3678555"/>
            <a:ext cx="12801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中期汇报</a:t>
            </a:r>
          </a:p>
        </p:txBody>
      </p:sp>
      <p:sp>
        <p:nvSpPr>
          <p:cNvPr id="9" name="Line 9"/>
          <p:cNvSpPr/>
          <p:nvPr/>
        </p:nvSpPr>
        <p:spPr>
          <a:xfrm>
            <a:off x="4000500" y="4286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6048375" y="4238625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84470" y="4758690"/>
            <a:ext cx="16230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答辩人：孟帅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00650" y="517207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指导老师：邬东璠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38796" y="5569268"/>
            <a:ext cx="21144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北京林业大学·园林学院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18453" y="6535102"/>
            <a:ext cx="755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2026年3月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940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847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952500"/>
            <a:ext cx="10668000" cy="4953000"/>
          </a:xfrm>
          <a:prstGeom prst="rect">
            <a:avLst/>
          </a:prstGeom>
          <a:noFill/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08710" y="123253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9265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中期定位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1677352"/>
            <a:ext cx="2411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与开题衔接·本期汇报范围（从简）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865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33210" y="12325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63765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数据建设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4165" y="1677352"/>
            <a:ext cx="16675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语料扩容·POI·评论匹配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7620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087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9265" y="242506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抽取与合并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9665" y="2772728"/>
            <a:ext cx="19895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大模型抽取·实体/关系 JSON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865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332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63765" y="2425065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分析与可视化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4165" y="2772728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谱系·图谱·空间·耦合成果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286125"/>
            <a:ext cx="5143500" cy="857250"/>
          </a:xfrm>
          <a:prstGeom prst="rect">
            <a:avLst/>
          </a:prstGeom>
          <a:noFill/>
          <a:ln w="9525">
            <a:solidFill>
              <a:srgbClr val="D0D7E0"/>
            </a:solidFill>
            <a:prstDash val="dash"/>
          </a:ln>
        </p:spPr>
      </p:sp>
      <p:sp>
        <p:nvSpPr>
          <p:cNvPr id="29" name="TextBox 29"/>
          <p:cNvSpPr txBox="1"/>
          <p:nvPr/>
        </p:nvSpPr>
        <p:spPr>
          <a:xfrm>
            <a:off x="2880360" y="366141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迭代与后续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3286125"/>
            <a:ext cx="5143500" cy="857250"/>
          </a:xfrm>
          <a:prstGeom prst="rect">
            <a:avLst/>
          </a:prstGeom>
          <a:noFill/>
          <a:ln w="9525">
            <a:solidFill>
              <a:srgbClr val="D0D7E0"/>
            </a:solidFill>
            <a:prstDash val="dash"/>
          </a:ln>
        </p:spPr>
      </p:sp>
      <p:sp>
        <p:nvSpPr>
          <p:cNvPr id="31" name="TextBox 31"/>
          <p:cNvSpPr txBox="1"/>
          <p:nvPr/>
        </p:nvSpPr>
        <p:spPr>
          <a:xfrm>
            <a:off x="8667750" y="36614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1522821" y="65351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327074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7851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中期汇报范围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640" y="3710940"/>
            <a:ext cx="40285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开题已定 · 本期只报开题之后落实</a:t>
            </a:r>
          </a:p>
        </p:txBody>
      </p:sp>
      <p:sp>
        <p:nvSpPr>
          <p:cNvPr id="9" name="Line 9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27845" y="63312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佛山市南海区文旅融合调研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1449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 与开题衔接（从简）</a:t>
            </a:r>
          </a:p>
        </p:txBody>
      </p:sp>
      <p:sp>
        <p:nvSpPr>
          <p:cNvPr id="6" name="Rectangle 6"/>
          <p:cNvSpPr/>
          <p:nvPr/>
        </p:nvSpPr>
        <p:spPr>
          <a:xfrm>
            <a:off x="10477500" y="190500"/>
            <a:ext cx="1333500" cy="28575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毕业设计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3855" y="825818"/>
            <a:ext cx="4569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背景与框架见开题材料；此处只交代中期汇报边界。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noFill/>
          <a:ln w="9525">
            <a:solidFill>
              <a:srgbClr val="D0D7E0"/>
            </a:solidFill>
            <a:prstDash val="lgDash"/>
          </a:ln>
        </p:spPr>
      </p:sp>
      <p:sp>
        <p:nvSpPr>
          <p:cNvPr id="13" name="TextBox 13"/>
          <p:cNvSpPr txBox="1"/>
          <p:nvPr/>
        </p:nvSpPr>
        <p:spPr>
          <a:xfrm>
            <a:off x="552450" y="1409700"/>
            <a:ext cx="93159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开题已通过：区域、双谱系+耦合思路、技术路线——**本稿不重复论证**，详见开题 PPT/报告。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450" y="1714500"/>
            <a:ext cx="11210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中期核心工作：语料扩容与入库、POI/评论清洗与匹配、大模型抽取合并、谱系/图谱/空间/耦合**可演示成果**。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2450" y="2019300"/>
            <a:ext cx="62707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以下按「数据建设 → 抽取合并 → 分析产出 → 反思与后续」汇报。</a:t>
            </a:r>
          </a:p>
        </p:txBody>
      </p:sp>
      <p:sp>
        <p:nvSpPr>
          <p:cNvPr id="16" name="Line 1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69570" y="6522720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数据来源：自研语料与开放数据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中期定位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22821" y="65065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7851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数据建设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640" y="3710940"/>
            <a:ext cx="44885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开题后语料 · POI · 评论（落地成果）</a:t>
            </a:r>
          </a:p>
        </p:txBody>
      </p:sp>
      <p:sp>
        <p:nvSpPr>
          <p:cNvPr id="9" name="Line 9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27845" y="63312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佛山市南海区文旅融合调研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22543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 开题之后：数据落地</a:t>
            </a:r>
          </a:p>
        </p:txBody>
      </p:sp>
      <p:sp>
        <p:nvSpPr>
          <p:cNvPr id="6" name="Rectangle 6"/>
          <p:cNvSpPr/>
          <p:nvPr/>
        </p:nvSpPr>
        <p:spPr>
          <a:xfrm>
            <a:off x="10477500" y="190500"/>
            <a:ext cx="1333500" cy="28575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毕业设计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3855" y="825818"/>
            <a:ext cx="30213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规模数字 + 你实际做完的工程项。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noFill/>
          <a:ln w="9525">
            <a:solidFill>
              <a:srgbClr val="D0D7E0"/>
            </a:solidFill>
            <a:prstDash val="lgDash"/>
          </a:ln>
        </p:spPr>
      </p:sp>
      <p:sp>
        <p:nvSpPr>
          <p:cNvPr id="13" name="TextBox 13"/>
          <p:cNvSpPr txBox="1"/>
          <p:nvPr/>
        </p:nvSpPr>
        <p:spPr>
          <a:xfrm>
            <a:off x="552450" y="1409700"/>
            <a:ext cx="129197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语料：53 个 md（data/corpus）；全文约 899 万字符（索引合计 8,991,098）、汉字约 508 万——**OCR/合并/索引为中期增量**。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450" y="1714500"/>
            <a:ext cx="99621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POI：13,113 条（poi_llm_cleaned.csv）；**双源融合 + LLM/规则清洗 + 分类与文旅字段** 已跑通。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2450" y="2019300"/>
            <a:ext cx="96883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评论：26,315 条与 POI 对齐（review_poi_matched.csv）；**多平台采集与匹配** 为中期新增。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450" y="2324100"/>
            <a:ext cx="79357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产出位置：data/corpus、output/tables/…，可复现、可写进论文「数据」节。</a:t>
            </a:r>
          </a:p>
        </p:txBody>
      </p:sp>
      <p:sp>
        <p:nvSpPr>
          <p:cNvPr id="17" name="Line 1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69570" y="6522720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数据来源：自研语料与开放数据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数据建设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22821" y="65065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785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抽取与合并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640" y="3710940"/>
            <a:ext cx="39496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大模型批量抽取 · 去重合并 JSON</a:t>
            </a:r>
          </a:p>
        </p:txBody>
      </p:sp>
      <p:sp>
        <p:nvSpPr>
          <p:cNvPr id="9" name="Line 9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27845" y="63312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佛山市南海区文旅融合调研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22543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 结构化知识（中期）</a:t>
            </a:r>
          </a:p>
        </p:txBody>
      </p:sp>
      <p:sp>
        <p:nvSpPr>
          <p:cNvPr id="6" name="Rectangle 6"/>
          <p:cNvSpPr/>
          <p:nvPr/>
        </p:nvSpPr>
        <p:spPr>
          <a:xfrm>
            <a:off x="10477500" y="190500"/>
            <a:ext cx="1333500" cy="28575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毕业设计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3855" y="825818"/>
            <a:ext cx="34058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从「示意」到可引用 merged 数据集。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noFill/>
          <a:ln w="9525">
            <a:solidFill>
              <a:srgbClr val="D0D7E0"/>
            </a:solidFill>
            <a:prstDash val="lgDash"/>
          </a:ln>
        </p:spPr>
      </p:sp>
      <p:sp>
        <p:nvSpPr>
          <p:cNvPr id="13" name="TextBox 13"/>
          <p:cNvSpPr txBox="1"/>
          <p:nvPr/>
        </p:nvSpPr>
        <p:spPr>
          <a:xfrm>
            <a:off x="552450" y="1409700"/>
            <a:ext cx="97650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53 文本源批量调用 Qwen 抽取 → **合并去重**：实体 8,048、关系 19,382、多关系实体对 2,796。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450" y="1714500"/>
            <a:ext cx="109808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汇报口径：output/qwen_extraction/merged_entities.json、merged_relations.json（**勿与 progress.…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2450" y="2019300"/>
            <a:ext cx="84724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类型与关系分布：见 merged 内 ai_type_stats、relation_stats（支撑论文图表）。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450" y="2324100"/>
            <a:ext cx="743188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双谱系「概念」开题已述；**中期完成的是能喂给谱系/图谱的数据底座。**</a:t>
            </a:r>
          </a:p>
        </p:txBody>
      </p:sp>
      <p:sp>
        <p:nvSpPr>
          <p:cNvPr id="17" name="Line 1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69570" y="6522720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数据来源：自研语料与开放数据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抽取与合并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22821" y="65065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7851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分析与可视化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640" y="3710940"/>
            <a:ext cx="46331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谱系树 · 图谱 · 空间 · 耦合（已出件）</a:t>
            </a:r>
          </a:p>
        </p:txBody>
      </p:sp>
      <p:sp>
        <p:nvSpPr>
          <p:cNvPr id="9" name="Line 9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27845" y="63312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佛山市南海区文旅融合调研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98055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可演示产出（output/figures）</a:t>
            </a:r>
          </a:p>
        </p:txBody>
      </p:sp>
      <p:sp>
        <p:nvSpPr>
          <p:cNvPr id="6" name="Rectangle 6"/>
          <p:cNvSpPr/>
          <p:nvPr/>
        </p:nvSpPr>
        <p:spPr>
          <a:xfrm>
            <a:off x="10477500" y="190500"/>
            <a:ext cx="1333500" cy="28575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毕业设计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3855" y="82581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少讲定义，多讲「生成了什么文件」。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noFill/>
          <a:ln w="9525">
            <a:solidFill>
              <a:srgbClr val="D0D7E0"/>
            </a:solidFill>
            <a:prstDash val="lgDash"/>
          </a:ln>
        </p:spPr>
      </p:sp>
      <p:sp>
        <p:nvSpPr>
          <p:cNvPr id="13" name="TextBox 13"/>
          <p:cNvSpPr txBox="1"/>
          <p:nvPr/>
        </p:nvSpPr>
        <p:spPr>
          <a:xfrm>
            <a:off x="552450" y="1409700"/>
            <a:ext cx="113314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双谱系页：culture_genealogy_tree.html；景点/镇街：scenic_genealogy_tree.html、scenic_town_tree.ht…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450" y="1714500"/>
            <a:ext cx="81657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知识图谱：knowledge_graph.html（及同目录变体若有）；**交互浏览已可用**。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2450" y="2019300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空间：spatial_analysis.html；核密度、聚类、镇街对比等 **中期已跑通出图**。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450" y="2324100"/>
            <a:ext cx="86039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耦合：coupling_analysis.html；强16/错9/缺A14/缺B6 **与页面一致，可现场打开**。</a:t>
            </a:r>
          </a:p>
        </p:txBody>
      </p:sp>
      <p:sp>
        <p:nvSpPr>
          <p:cNvPr id="17" name="Line 1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69570" y="6522720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数据来源：自研语料与开放数据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分析与可视化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785110"/>
            <a:ext cx="467965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发现·迭代·后续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640" y="3710940"/>
            <a:ext cx="38050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耦合结论摘要 · 不足 · 毕设后期</a:t>
            </a:r>
          </a:p>
        </p:txBody>
      </p:sp>
      <p:sp>
        <p:nvSpPr>
          <p:cNvPr id="9" name="Line 9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27845" y="63312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佛山市南海区文旅融合调研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58135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 结果摘要与后续</a:t>
            </a:r>
          </a:p>
        </p:txBody>
      </p:sp>
      <p:sp>
        <p:nvSpPr>
          <p:cNvPr id="6" name="Rectangle 6"/>
          <p:cNvSpPr/>
          <p:nvPr/>
        </p:nvSpPr>
        <p:spPr>
          <a:xfrm>
            <a:off x="10477500" y="190500"/>
            <a:ext cx="1333500" cy="28575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毕业设计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3855" y="82581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耦合数字一句话；重点写中期增量与未完项。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noFill/>
          <a:ln w="9525">
            <a:solidFill>
              <a:srgbClr val="D0D7E0"/>
            </a:solidFill>
            <a:prstDash val="lgDash"/>
          </a:ln>
        </p:spPr>
      </p:sp>
      <p:sp>
        <p:nvSpPr>
          <p:cNvPr id="13" name="TextBox 13"/>
          <p:cNvSpPr txBox="1"/>
          <p:nvPr/>
        </p:nvSpPr>
        <p:spPr>
          <a:xfrm>
            <a:off x="552450" y="1409700"/>
            <a:ext cx="112547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耦合量化：强16、错9、缺A14、缺B6；非遗基地多强耦合、部分公园「有形无魂」、片区冷热不均——**细节见图**。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450" y="1714500"/>
            <a:ext cx="97431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相对开题：语料与表规模、merged 数据集、多套 HTML 可视化从 0 到可演示 = **中期主要增量**。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2450" y="2019300"/>
            <a:ext cx="70923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仍不足：如可达性、部分评论源、论文正文深度等——**各列 1 点即可**。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450" y="2324100"/>
            <a:ext cx="77604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后续：可达性/线路、2～3 个体验方案、论文定稿与答辩——**毕设后期排期**。</a:t>
            </a:r>
          </a:p>
        </p:txBody>
      </p:sp>
      <p:sp>
        <p:nvSpPr>
          <p:cNvPr id="17" name="Line 1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69570" y="6522720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数据来源：自研语料与开放数据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迭代与后续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584752" y="4067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10418" y="24041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感谢各位老师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84470" y="3282315"/>
            <a:ext cx="16230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恳请批评指正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487352" y="4521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答辩人：孟帅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01628" y="4871085"/>
            <a:ext cx="13887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学号：2021010910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56264" y="5156835"/>
            <a:ext cx="18794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北京林业大学·园林学院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67667" y="6535102"/>
            <a:ext cx="26566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佛山市南海区文旅融合调研 · 中期汇报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6815" y="65351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