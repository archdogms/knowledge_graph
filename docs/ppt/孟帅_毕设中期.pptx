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2" r:id="rId3"/>
    <p:sldId id="313" r:id="rId4"/>
    <p:sldId id="308" r:id="rId5"/>
    <p:sldId id="274" r:id="rId6"/>
    <p:sldId id="280" r:id="rId7"/>
    <p:sldId id="283" r:id="rId8"/>
    <p:sldId id="312" r:id="rId9"/>
    <p:sldId id="292" r:id="rId10"/>
    <p:sldId id="298" r:id="rId11"/>
    <p:sldId id="301" r:id="rId12"/>
    <p:sldId id="307" r:id="rId13"/>
    <p:sldId id="27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07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C8FE-0176-40C5-9514-1F7F7A4E530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1F074-169E-48FA-9618-D02516D61B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928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62CD-35A6-93E6-F8C9-6C57659A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C70C6-6718-C91E-B902-6FB8EF6EC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8916D-9397-5221-FC90-EEB111AB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73C0F-80B8-0745-ACD8-7D7D50263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38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A393E-FA8E-A2D4-617E-710BA29C2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85A1D9-CDC9-E834-4CA6-E6B9837D8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C1C34D-4CCB-CE36-A934-2C10D854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C5DD7-2A59-C0CF-E9AE-44952AB0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9C40A-95F3-63C2-C562-CE52F12F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88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A75D1-2246-AD7B-03CD-F52F0864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A3541C-DE90-0333-9F73-AF78FDA4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47A69-B25B-FF3E-51E9-E6320C23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F8FC69-3888-E16B-BDB8-7C921791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F21FD-D394-2453-D401-81B90DAE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51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C1910-8882-3B03-28E3-09DD9FC6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24A8F4-9B0D-CA87-ADB3-613CBD134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6F971E-BD60-69BB-7506-0AA0EC39B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37564-AF16-2250-99E4-CD674164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07163-B4EB-64C5-63B2-C8DA771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86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FDB55-B7CC-688F-5236-3D5EEBFF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F8266-1EEB-B706-D5F0-8A3ECE67D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E4F197-0CBF-B5FD-D980-849F05A4A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73C345-608C-32B3-7FF2-2CEED284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5A6A96-076E-B129-3CE4-4C867FB8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779F6-88A7-4BED-DE6C-94E52F8B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3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1EA30-6A6D-E5F6-207E-BE7AF720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7DD48-4D92-7525-7051-300508B58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18FF08-8A3A-C635-9254-A1B39C9A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1A13EB-1404-95AA-5180-DEF023C2A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2FD481-4F52-5E97-1ACA-15C9BF272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3BF677-D36A-E51A-A501-7BEAB8E2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B19544-02AE-3EAD-01D3-0012632F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AFB802-735D-4BE8-D6E1-4419B603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30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07B02-E67A-25F5-1BD8-218F1BF7E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BB0E0C-C024-65BF-8CE9-4B25F809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238AE0-C8B9-72AF-595F-7298BACE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EFFB0-29F4-F514-967A-8453FAE2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8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199146-4038-E2E6-8F87-9B78A9E2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CEE5B5-CEE0-AF73-949E-70CA2C8A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11680-D1EF-A403-D6B5-529A487F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0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55722-BD85-3F3E-7A70-CD850CE1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C62A-0AA2-2030-8253-9DC66249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A7419-D2A4-BF4E-6920-D5ECEE2D2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1ECA5A-EA6E-09C3-0440-39776BF1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CF2382-5E15-8C91-2E79-B5EB6E31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6CC2E9-DD22-67D8-B0C3-0029E0E1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20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849B1-565D-276E-2D16-CFB7F53B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CA590E-5D3B-C5DC-B2D8-7B81F8614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5FDAF2-4CBC-66C7-F426-31B19529F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7D8AAC-720F-5813-B10D-604656A6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BD0C88-05D8-87CF-5F69-39DBE1A8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899B09-9687-35FB-76B3-2DD8F7EE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14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4BC18-78C1-B3DD-05EA-0C17D915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2EE63A-78CD-3320-3EEE-E493A9BD5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3BC63-E91A-CB31-755C-5E8809F3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95953-CA79-C55C-F111-60C6D888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5C3DB5-D000-2905-C254-E38E96B8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7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38E742-09C5-C6BE-D89E-8A3D7DBA6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CCB6DD-C537-C0E3-57BE-3A06D3D02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46643-4672-BF7B-3422-3997C205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3183A-FDC3-A89D-6C24-3BE2B6A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408DB-979A-A0D7-7ED5-A00DCBFF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0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48698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CC5945-31EB-0330-D3B3-4F7CE902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D92BB3-F308-E046-57E5-6105D4843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DCC63-E017-2793-5EDA-8128D5526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11CB9-6611-7B22-B096-B9195215B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CC9046-2FB9-965C-77AB-A05A7E628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2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d4f14a91110eed80d95e9ee835151177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26" y="1736370"/>
            <a:ext cx="10993549" cy="227683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68fe1269-8cc2-4116-97e6-2e27b97da75f_image_a64c0d0e401139dc71eb9cf1168afb74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68fe1269-8cc2-4116-97e6-2e27b97da75f_image_a378cef172703a1f795be372f0b9f638_14123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38537" y="4526254"/>
            <a:ext cx="10114925" cy="2443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22"/>
              </a:lnSpc>
            </a:pP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姓名：孟帅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学号：2021010910
</a:t>
            </a: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导师：邬东璠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时间：2026.04.01</a:t>
            </a:r>
            <a:endParaRPr lang="en-US" sz="15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1053166" y="2070373"/>
            <a:ext cx="10114925" cy="17592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680"/>
              </a:lnSpc>
            </a:pPr>
            <a:r>
              <a:rPr lang="en-US" sz="240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基于多元大数据</a:t>
            </a:r>
            <a:r>
              <a:rPr lang="en-US" sz="24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 
</a:t>
            </a:r>
            <a:r>
              <a:rPr lang="en-US" sz="312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佛山市南海区文旅融合调研</a:t>
            </a:r>
            <a:endParaRPr lang="en-US" sz="3120" dirty="0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ejaVu Sans"/>
            </a:endParaRPr>
          </a:p>
          <a:p>
            <a:pPr>
              <a:lnSpc>
                <a:spcPts val="4680"/>
              </a:lnSpc>
            </a:pPr>
            <a:r>
              <a:rPr lang="en-US" sz="312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</a:t>
            </a:r>
            <a:r>
              <a:rPr lang="en-US" altLang="zh-CN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中期汇报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DC0CF87B-110F-CA56-D8DD-317E3E92DF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b0d84d28a4a112fb7b7c16311608c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114985"/>
            <a:ext cx="534653" cy="576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5193" y="220359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pic>
        <p:nvPicPr>
          <p:cNvPr id="4" name="Image 1" descr="https://test.web.static.jianzeppt.com/ppt-temp-img3/1ed02f10db7c5635c754129181281a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114985"/>
            <a:ext cx="4483299" cy="576064"/>
          </a:xfrm>
          <a:prstGeom prst="rect">
            <a:avLst/>
          </a:prstGeom>
        </p:spPr>
      </p:pic>
      <p:pic>
        <p:nvPicPr>
          <p:cNvPr id="5" name="Image 2" descr="https://test.web.static.jianzeppt.com/ppt-temp-img3/7998ecc2377d4e3d854d57a76ae707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955078"/>
            <a:ext cx="534653" cy="5760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35193" y="3043688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pic>
        <p:nvPicPr>
          <p:cNvPr id="7" name="Image 3" descr="https://test.web.static.jianzeppt.com/ppt-temp-img3/c6d7efe6c1925dff1fa8f004888308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955078"/>
            <a:ext cx="4483299" cy="576064"/>
          </a:xfrm>
          <a:prstGeom prst="rect">
            <a:avLst/>
          </a:prstGeom>
        </p:spPr>
      </p:pic>
      <p:pic>
        <p:nvPicPr>
          <p:cNvPr id="8" name="Image 4" descr="https://test.web.static.jianzeppt.com/ppt-temp-img3/923d9c88c34eaa9820eb238fda5fcf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3795171"/>
            <a:ext cx="534653" cy="57606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35193" y="3883783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pic>
        <p:nvPicPr>
          <p:cNvPr id="10" name="Image 5" descr="https://test.web.static.jianzeppt.com/ppt-temp-img3/7081aec65b7f50102d1d3db6f7085b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581" y="3795171"/>
            <a:ext cx="4483299" cy="576064"/>
          </a:xfrm>
          <a:prstGeom prst="rect">
            <a:avLst/>
          </a:prstGeom>
        </p:spPr>
      </p:pic>
      <p:pic>
        <p:nvPicPr>
          <p:cNvPr id="11" name="Image 6" descr="https://test.web.static.jianzeppt.com/ppt-temp-img3/4356689923ec96610cc104135acfe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4635264"/>
            <a:ext cx="534653" cy="57606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335193" y="472387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pic>
        <p:nvPicPr>
          <p:cNvPr id="13" name="Image 7" descr="https://test.web.static.jianzeppt.com/ppt-temp-img3/ff02c804c53fd622aec5f74405d26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581" y="4635264"/>
            <a:ext cx="4483299" cy="576064"/>
          </a:xfrm>
          <a:prstGeom prst="rect">
            <a:avLst/>
          </a:prstGeom>
        </p:spPr>
      </p:pic>
      <p:pic>
        <p:nvPicPr>
          <p:cNvPr id="14" name="Image 8" descr="https://test.web.static.jianzeppt.com/ppt-temp-img3/edefb43071be60f0476eeabe42b3c2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257605"/>
            <a:ext cx="498190" cy="57606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741661" y="478098"/>
            <a:ext cx="128240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sz="5000" b="1" dirty="0" err="1">
                <a:solidFill>
                  <a:srgbClr val="483018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5000" dirty="0"/>
          </a:p>
        </p:txBody>
      </p:sp>
      <p:sp>
        <p:nvSpPr>
          <p:cNvPr id="16" name="Text 5"/>
          <p:cNvSpPr/>
          <p:nvPr/>
        </p:nvSpPr>
        <p:spPr>
          <a:xfrm>
            <a:off x="5915657" y="3064209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</a:rPr>
              <a:t>数据与语料</a:t>
            </a:r>
          </a:p>
        </p:txBody>
      </p:sp>
      <p:sp>
        <p:nvSpPr>
          <p:cNvPr id="17" name="Text 6"/>
          <p:cNvSpPr/>
          <p:nvPr/>
        </p:nvSpPr>
        <p:spPr>
          <a:xfrm>
            <a:off x="5906459" y="222411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研究回顾</a:t>
            </a:r>
            <a:endParaRPr lang="en-US" sz="2016" dirty="0"/>
          </a:p>
        </p:txBody>
      </p:sp>
      <p:sp>
        <p:nvSpPr>
          <p:cNvPr id="18" name="Text 7"/>
          <p:cNvSpPr/>
          <p:nvPr/>
        </p:nvSpPr>
        <p:spPr>
          <a:xfrm>
            <a:off x="5906459" y="3904301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</a:rPr>
              <a:t>方法双谱</a:t>
            </a:r>
          </a:p>
        </p:txBody>
      </p:sp>
      <p:sp>
        <p:nvSpPr>
          <p:cNvPr id="19" name="Text 8"/>
          <p:cNvSpPr/>
          <p:nvPr/>
        </p:nvSpPr>
        <p:spPr>
          <a:xfrm>
            <a:off x="5906459" y="474439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第四部分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</a:rPr>
              <a:t>分析与结论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BD04B63-3983-D778-E336-DA2A6117A6C9}"/>
              </a:ext>
            </a:extLst>
          </p:cNvPr>
          <p:cNvSpPr/>
          <p:nvPr/>
        </p:nvSpPr>
        <p:spPr>
          <a:xfrm>
            <a:off x="1169862" y="3429299"/>
            <a:ext cx="320235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altLang="zh-CN" sz="5000" b="1" dirty="0">
                <a:solidFill>
                  <a:srgbClr val="483018"/>
                </a:solidFill>
                <a:latin typeface="微软雅黑"/>
                <a:ea typeface="微软雅黑"/>
              </a:rPr>
              <a:t>CONTENT</a:t>
            </a:r>
            <a:endParaRPr lang="en-US" sz="5000" dirty="0"/>
          </a:p>
        </p:txBody>
      </p:sp>
      <p:pic>
        <p:nvPicPr>
          <p:cNvPr id="2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9DDB04B-ED2B-7DF8-3217-14B4D99D06F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1364337-1926-757B-EE09-25C8B3DCE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>
            <a:extLst>
              <a:ext uri="{FF2B5EF4-FFF2-40B4-BE49-F238E27FC236}">
                <a16:creationId xmlns:a16="http://schemas.microsoft.com/office/drawing/2014/main" id="{3F4F4A3D-2C73-9305-E2B6-F88E53D92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CB6B3328-0B2A-2173-C7BA-81E71201FE60}"/>
              </a:ext>
            </a:extLst>
          </p:cNvPr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altLang="zh-CN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研究背景回顾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7291A024-02F2-1A5B-0AB1-656EE7B6A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BAE2B021-22DE-2E10-BBC0-82F575538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365485"/>
              </p:ext>
            </p:extLst>
          </p:nvPr>
        </p:nvGraphicFramePr>
        <p:xfrm>
          <a:off x="577807" y="1545222"/>
          <a:ext cx="10515600" cy="10134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395432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26369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826146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68689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政策导向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技术驱动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区域禀赋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现实矛盾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文旅融合列入国家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十四五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战略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大数据</a:t>
                      </a:r>
                      <a:r>
                        <a:rPr lang="en-US" altLang="zh-CN">
                          <a:effectLst/>
                        </a:rPr>
                        <a:t>+NLP+</a:t>
                      </a:r>
                      <a:r>
                        <a:rPr lang="zh-CN" altLang="en-US">
                          <a:effectLst/>
                        </a:rPr>
                        <a:t>知识图谱技术成熟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南海区：</a:t>
                      </a:r>
                      <a:r>
                        <a:rPr lang="en-US" altLang="zh-CN">
                          <a:effectLst/>
                        </a:rPr>
                        <a:t>90</a:t>
                      </a:r>
                      <a:r>
                        <a:rPr lang="zh-CN" altLang="en-US">
                          <a:effectLst/>
                        </a:rPr>
                        <a:t>项非遗、</a:t>
                      </a:r>
                      <a:r>
                        <a:rPr lang="en-US" altLang="zh-CN">
                          <a:effectLst/>
                        </a:rPr>
                        <a:t>80</a:t>
                      </a:r>
                      <a:r>
                        <a:rPr lang="zh-CN" altLang="en-US">
                          <a:effectLst/>
                        </a:rPr>
                        <a:t>处文物、</a:t>
                      </a:r>
                      <a:r>
                        <a:rPr lang="en-US" altLang="zh-CN">
                          <a:effectLst/>
                        </a:rPr>
                        <a:t>12</a:t>
                      </a:r>
                      <a:r>
                        <a:rPr lang="zh-CN" altLang="en-US">
                          <a:effectLst/>
                        </a:rPr>
                        <a:t>个名村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文化</a:t>
                      </a:r>
                      <a:r>
                        <a:rPr lang="en-US" altLang="zh-CN" dirty="0">
                          <a:effectLst/>
                        </a:rPr>
                        <a:t>"</a:t>
                      </a:r>
                      <a:r>
                        <a:rPr lang="zh-CN" altLang="en-US" dirty="0">
                          <a:effectLst/>
                        </a:rPr>
                        <a:t>文本沉淀</a:t>
                      </a:r>
                      <a:r>
                        <a:rPr lang="en-US" altLang="zh-CN" dirty="0">
                          <a:effectLst/>
                        </a:rPr>
                        <a:t>" vs </a:t>
                      </a:r>
                      <a:r>
                        <a:rPr lang="zh-CN" altLang="en-US" dirty="0">
                          <a:effectLst/>
                        </a:rPr>
                        <a:t>景点</a:t>
                      </a:r>
                      <a:r>
                        <a:rPr lang="en-US" altLang="zh-CN" dirty="0">
                          <a:effectLst/>
                        </a:rPr>
                        <a:t>"</a:t>
                      </a:r>
                      <a:r>
                        <a:rPr lang="zh-CN" altLang="en-US" dirty="0">
                          <a:effectLst/>
                        </a:rPr>
                        <a:t>空间市场化</a:t>
                      </a:r>
                      <a:r>
                        <a:rPr lang="en-US" altLang="zh-CN" dirty="0">
                          <a:effectLst/>
                        </a:rPr>
                        <a:t>"→</a:t>
                      </a:r>
                      <a:r>
                        <a:rPr lang="zh-CN" altLang="en-US" dirty="0">
                          <a:effectLst/>
                        </a:rPr>
                        <a:t>衔接错位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18151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62F0DE50-1BC6-90FB-D526-309A4F08CE34}"/>
              </a:ext>
            </a:extLst>
          </p:cNvPr>
          <p:cNvSpPr txBox="1"/>
          <p:nvPr/>
        </p:nvSpPr>
        <p:spPr>
          <a:xfrm>
            <a:off x="637354" y="3429000"/>
            <a:ext cx="6094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核心问题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：南海区文化遗产与旅游产品之间存在怎样的对应、错位和缺失？如何量化？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F4E3899-9FA9-DA95-C950-3EC329BACD5C}"/>
              </a:ext>
            </a:extLst>
          </p:cNvPr>
          <p:cNvSpPr txBox="1"/>
          <p:nvPr/>
        </p:nvSpPr>
        <p:spPr>
          <a:xfrm>
            <a:off x="637354" y="4945649"/>
            <a:ext cx="9468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数据采集层                    处理分析层                 成果输出层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典籍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份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·POI 13,113          NER·LLM·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分类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空间          文化谱系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景点谱系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评论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16,391·GIS·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锚点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165   →  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清洗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标准化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评估      →    知识图谱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耦合分析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                               空间分析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方案设计</a:t>
            </a:r>
            <a:endParaRPr lang="zh-CN" alt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8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中期成果总览</a:t>
            </a:r>
          </a:p>
        </p:txBody>
      </p:sp>
      <p:pic>
        <p:nvPicPr>
          <p:cNvPr id="2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AB4C0B3-60D1-8572-72EE-59CC356757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906DAE0-D978-2113-4A34-E3BAFFABB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854304"/>
              </p:ext>
            </p:extLst>
          </p:nvPr>
        </p:nvGraphicFramePr>
        <p:xfrm>
          <a:off x="929164" y="1693827"/>
          <a:ext cx="9740220" cy="4421154"/>
        </p:xfrm>
        <a:graphic>
          <a:graphicData uri="http://schemas.openxmlformats.org/drawingml/2006/table">
            <a:tbl>
              <a:tblPr/>
              <a:tblGrid>
                <a:gridCol w="3246740">
                  <a:extLst>
                    <a:ext uri="{9D8B030D-6E8A-4147-A177-3AD203B41FA5}">
                      <a16:colId xmlns:a16="http://schemas.microsoft.com/office/drawing/2014/main" val="233839858"/>
                    </a:ext>
                  </a:extLst>
                </a:gridCol>
                <a:gridCol w="3246740">
                  <a:extLst>
                    <a:ext uri="{9D8B030D-6E8A-4147-A177-3AD203B41FA5}">
                      <a16:colId xmlns:a16="http://schemas.microsoft.com/office/drawing/2014/main" val="2635087566"/>
                    </a:ext>
                  </a:extLst>
                </a:gridCol>
                <a:gridCol w="3246740">
                  <a:extLst>
                    <a:ext uri="{9D8B030D-6E8A-4147-A177-3AD203B41FA5}">
                      <a16:colId xmlns:a16="http://schemas.microsoft.com/office/drawing/2014/main" val="3239346247"/>
                    </a:ext>
                  </a:extLst>
                </a:gridCol>
              </a:tblGrid>
              <a:tr h="3423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700">
                          <a:effectLst/>
                        </a:rPr>
                        <a:t>卡片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700">
                          <a:effectLst/>
                        </a:rPr>
                        <a:t>大数字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700">
                          <a:effectLst/>
                        </a:rPr>
                        <a:t>说明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90639"/>
                  </a:ext>
                </a:extLst>
              </a:tr>
              <a:tr h="34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① 典籍文本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541</a:t>
                      </a:r>
                      <a:r>
                        <a:rPr lang="zh-CN" altLang="en-US" sz="1700" b="1">
                          <a:effectLst/>
                        </a:rPr>
                        <a:t>万</a:t>
                      </a:r>
                      <a:r>
                        <a:rPr lang="zh-CN" altLang="en-US" sz="1700">
                          <a:effectLst/>
                        </a:rPr>
                        <a:t>字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>
                          <a:effectLst/>
                        </a:rPr>
                        <a:t>54</a:t>
                      </a:r>
                      <a:r>
                        <a:rPr lang="zh-CN" altLang="en-US" sz="1700">
                          <a:effectLst/>
                        </a:rPr>
                        <a:t>个文件</a:t>
                      </a:r>
                      <a:r>
                        <a:rPr lang="en-US" altLang="zh-CN" sz="1700">
                          <a:effectLst/>
                        </a:rPr>
                        <a:t>·53</a:t>
                      </a:r>
                      <a:r>
                        <a:rPr lang="zh-CN" altLang="en-US" sz="1700">
                          <a:effectLst/>
                        </a:rPr>
                        <a:t>个有效文本源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436976"/>
                  </a:ext>
                </a:extLst>
              </a:tr>
              <a:tr h="59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② 景点</a:t>
                      </a:r>
                      <a:r>
                        <a:rPr lang="en-US" sz="1700">
                          <a:effectLst/>
                        </a:rPr>
                        <a:t>POI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13,113</a:t>
                      </a:r>
                      <a:r>
                        <a:rPr lang="zh-CN" altLang="en-US" sz="1700">
                          <a:effectLst/>
                        </a:rPr>
                        <a:t>条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高德</a:t>
                      </a:r>
                      <a:r>
                        <a:rPr lang="en-US" sz="1700">
                          <a:effectLst/>
                        </a:rPr>
                        <a:t>API 1,353 + Shapefile 12,906 </a:t>
                      </a:r>
                      <a:r>
                        <a:rPr lang="zh-CN" altLang="en-US" sz="1700">
                          <a:effectLst/>
                        </a:rPr>
                        <a:t>双源融合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478625"/>
                  </a:ext>
                </a:extLst>
              </a:tr>
              <a:tr h="59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③ 用户评论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16,391</a:t>
                      </a:r>
                      <a:r>
                        <a:rPr lang="zh-CN" altLang="en-US" sz="1700">
                          <a:effectLst/>
                        </a:rPr>
                        <a:t>条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高德</a:t>
                      </a:r>
                      <a:r>
                        <a:rPr lang="en-US" altLang="zh-CN" sz="1700">
                          <a:effectLst/>
                        </a:rPr>
                        <a:t>+</a:t>
                      </a:r>
                      <a:r>
                        <a:rPr lang="zh-CN" altLang="en-US" sz="1700">
                          <a:effectLst/>
                        </a:rPr>
                        <a:t>携程</a:t>
                      </a:r>
                      <a:r>
                        <a:rPr lang="en-US" altLang="zh-CN" sz="1700">
                          <a:effectLst/>
                        </a:rPr>
                        <a:t>+</a:t>
                      </a:r>
                      <a:r>
                        <a:rPr lang="zh-CN" altLang="en-US" sz="1700">
                          <a:effectLst/>
                        </a:rPr>
                        <a:t>去哪儿</a:t>
                      </a:r>
                      <a:r>
                        <a:rPr lang="en-US" altLang="zh-CN" sz="1700">
                          <a:effectLst/>
                        </a:rPr>
                        <a:t>+</a:t>
                      </a:r>
                      <a:r>
                        <a:rPr lang="zh-CN" altLang="en-US" sz="1700">
                          <a:effectLst/>
                        </a:rPr>
                        <a:t>马蜂窝 四平台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427227"/>
                  </a:ext>
                </a:extLst>
              </a:tr>
              <a:tr h="59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④ 文化锚点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165</a:t>
                      </a:r>
                      <a:r>
                        <a:rPr lang="zh-CN" altLang="en-US" sz="1700">
                          <a:effectLst/>
                        </a:rPr>
                        <a:t>条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政府普查级（文物</a:t>
                      </a:r>
                      <a:r>
                        <a:rPr lang="en-US" altLang="zh-CN" sz="1700">
                          <a:effectLst/>
                        </a:rPr>
                        <a:t>80+</a:t>
                      </a:r>
                      <a:r>
                        <a:rPr lang="zh-CN" altLang="en-US" sz="1700">
                          <a:effectLst/>
                        </a:rPr>
                        <a:t>景观</a:t>
                      </a:r>
                      <a:r>
                        <a:rPr lang="en-US" altLang="zh-CN" sz="1700">
                          <a:effectLst/>
                        </a:rPr>
                        <a:t>19+</a:t>
                      </a:r>
                      <a:r>
                        <a:rPr lang="zh-CN" altLang="en-US" sz="1700">
                          <a:effectLst/>
                        </a:rPr>
                        <a:t>名村</a:t>
                      </a:r>
                      <a:r>
                        <a:rPr lang="en-US" altLang="zh-CN" sz="1700">
                          <a:effectLst/>
                        </a:rPr>
                        <a:t>12+</a:t>
                      </a:r>
                      <a:r>
                        <a:rPr lang="zh-CN" altLang="en-US" sz="1700">
                          <a:effectLst/>
                        </a:rPr>
                        <a:t>圩市</a:t>
                      </a:r>
                      <a:r>
                        <a:rPr lang="en-US" altLang="zh-CN" sz="1700">
                          <a:effectLst/>
                        </a:rPr>
                        <a:t>18+</a:t>
                      </a:r>
                      <a:r>
                        <a:rPr lang="zh-CN" altLang="en-US" sz="1700">
                          <a:effectLst/>
                        </a:rPr>
                        <a:t>非遗</a:t>
                      </a:r>
                      <a:r>
                        <a:rPr lang="en-US" altLang="zh-CN" sz="1700">
                          <a:effectLst/>
                        </a:rPr>
                        <a:t>36</a:t>
                      </a:r>
                      <a:r>
                        <a:rPr lang="zh-CN" altLang="en-US" sz="1700">
                          <a:effectLst/>
                        </a:rPr>
                        <a:t>）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490595"/>
                  </a:ext>
                </a:extLst>
              </a:tr>
              <a:tr h="59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⑤ 规则</a:t>
                      </a:r>
                      <a:r>
                        <a:rPr lang="en-US" sz="1700">
                          <a:effectLst/>
                        </a:rPr>
                        <a:t>NER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626</a:t>
                      </a:r>
                      <a:r>
                        <a:rPr lang="zh-CN" altLang="en-US" sz="1700">
                          <a:effectLst/>
                        </a:rPr>
                        <a:t>个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纯文化实体</a:t>
                      </a:r>
                      <a:r>
                        <a:rPr lang="en-US" altLang="zh-CN" sz="1700">
                          <a:effectLst/>
                        </a:rPr>
                        <a:t>·</a:t>
                      </a:r>
                      <a:r>
                        <a:rPr lang="zh-CN" altLang="en-US" sz="1700">
                          <a:effectLst/>
                        </a:rPr>
                        <a:t>零</a:t>
                      </a:r>
                      <a:r>
                        <a:rPr lang="en-US" altLang="zh-CN" sz="1700">
                          <a:effectLst/>
                        </a:rPr>
                        <a:t>"</a:t>
                      </a:r>
                      <a:r>
                        <a:rPr lang="zh-CN" altLang="en-US" sz="1700">
                          <a:effectLst/>
                        </a:rPr>
                        <a:t>其他</a:t>
                      </a:r>
                      <a:r>
                        <a:rPr lang="en-US" altLang="zh-CN" sz="1700">
                          <a:effectLst/>
                        </a:rPr>
                        <a:t>"</a:t>
                      </a:r>
                      <a:r>
                        <a:rPr lang="zh-CN" altLang="en-US" sz="1700">
                          <a:effectLst/>
                        </a:rPr>
                        <a:t>类</a:t>
                      </a:r>
                      <a:r>
                        <a:rPr lang="en-US" altLang="zh-CN" sz="1700">
                          <a:effectLst/>
                        </a:rPr>
                        <a:t>·6</a:t>
                      </a:r>
                      <a:r>
                        <a:rPr lang="zh-CN" altLang="en-US" sz="1700">
                          <a:effectLst/>
                        </a:rPr>
                        <a:t>类</a:t>
                      </a:r>
                      <a:r>
                        <a:rPr lang="en-US" altLang="zh-CN" sz="1700">
                          <a:effectLst/>
                        </a:rPr>
                        <a:t>·5,000</a:t>
                      </a:r>
                      <a:r>
                        <a:rPr lang="zh-CN" altLang="en-US" sz="1700">
                          <a:effectLst/>
                        </a:rPr>
                        <a:t>条共现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63834"/>
                  </a:ext>
                </a:extLst>
              </a:tr>
              <a:tr h="34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⑥ LLM</a:t>
                      </a:r>
                      <a:r>
                        <a:rPr lang="zh-CN" altLang="en-US" sz="1700">
                          <a:effectLst/>
                        </a:rPr>
                        <a:t>抽取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8,048</a:t>
                      </a:r>
                      <a:r>
                        <a:rPr lang="zh-CN" altLang="en-US" sz="1700">
                          <a:effectLst/>
                        </a:rPr>
                        <a:t>实体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>
                          <a:effectLst/>
                        </a:rPr>
                        <a:t>Qwen</a:t>
                      </a:r>
                      <a:r>
                        <a:rPr lang="zh-CN" altLang="en-US" sz="1700">
                          <a:effectLst/>
                        </a:rPr>
                        <a:t>大模型</a:t>
                      </a:r>
                      <a:r>
                        <a:rPr lang="en-US" altLang="zh-CN" sz="1700">
                          <a:effectLst/>
                        </a:rPr>
                        <a:t>·6</a:t>
                      </a:r>
                      <a:r>
                        <a:rPr lang="zh-CN" altLang="en-US" sz="1700">
                          <a:effectLst/>
                        </a:rPr>
                        <a:t>大类</a:t>
                      </a:r>
                      <a:r>
                        <a:rPr lang="en-US" altLang="zh-CN" sz="1700">
                          <a:effectLst/>
                        </a:rPr>
                        <a:t>20+</a:t>
                      </a:r>
                      <a:r>
                        <a:rPr lang="zh-CN" altLang="en-US" sz="1700">
                          <a:effectLst/>
                        </a:rPr>
                        <a:t>小类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59243"/>
                  </a:ext>
                </a:extLst>
              </a:tr>
              <a:tr h="34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⑦ LLM</a:t>
                      </a:r>
                      <a:r>
                        <a:rPr lang="zh-CN" altLang="en-US" sz="1700">
                          <a:effectLst/>
                        </a:rPr>
                        <a:t>关系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19,382</a:t>
                      </a:r>
                      <a:r>
                        <a:rPr lang="zh-CN" altLang="en-US" sz="1700">
                          <a:effectLst/>
                        </a:rPr>
                        <a:t>条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开放式语义关系</a:t>
                      </a:r>
                      <a:r>
                        <a:rPr lang="en-US" altLang="zh-CN" sz="1700">
                          <a:effectLst/>
                        </a:rPr>
                        <a:t>·</a:t>
                      </a:r>
                      <a:r>
                        <a:rPr lang="zh-CN" altLang="en-US" sz="1700">
                          <a:effectLst/>
                        </a:rPr>
                        <a:t>附原文证据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174045"/>
                  </a:ext>
                </a:extLst>
              </a:tr>
              <a:tr h="59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⑧ 知识图谱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>
                          <a:effectLst/>
                        </a:rPr>
                        <a:t>387</a:t>
                      </a:r>
                      <a:r>
                        <a:rPr lang="zh-CN" altLang="en-US" sz="1700">
                          <a:effectLst/>
                        </a:rPr>
                        <a:t> </a:t>
                      </a:r>
                      <a:r>
                        <a:rPr lang="en-US" altLang="zh-CN" sz="1700">
                          <a:effectLst/>
                        </a:rPr>
                        <a:t>/ </a:t>
                      </a:r>
                      <a:r>
                        <a:rPr lang="en-US" altLang="zh-CN" sz="1700" b="1">
                          <a:effectLst/>
                        </a:rPr>
                        <a:t>8,048</a:t>
                      </a:r>
                      <a:r>
                        <a:rPr lang="zh-CN" altLang="en-US" sz="1700">
                          <a:effectLst/>
                        </a:rPr>
                        <a:t>节点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dirty="0" err="1">
                          <a:effectLst/>
                        </a:rPr>
                        <a:t>ECharts</a:t>
                      </a:r>
                      <a:r>
                        <a:rPr lang="zh-CN" altLang="en-US" sz="1700" dirty="0">
                          <a:effectLst/>
                        </a:rPr>
                        <a:t>三层结构 </a:t>
                      </a:r>
                      <a:r>
                        <a:rPr lang="en-US" altLang="zh-CN" sz="1700" dirty="0">
                          <a:effectLst/>
                        </a:rPr>
                        <a:t>/ Neo4j</a:t>
                      </a:r>
                      <a:r>
                        <a:rPr lang="zh-CN" altLang="en-US" sz="1700" dirty="0">
                          <a:effectLst/>
                        </a:rPr>
                        <a:t>全量图数据库</a:t>
                      </a:r>
                    </a:p>
                  </a:txBody>
                  <a:tcPr marL="88227" marR="88227" marT="44113" marB="441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028823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80" y="482222"/>
            <a:ext cx="11231270" cy="37907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altLang="zh-CN" b="1" dirty="0"/>
              <a:t>2.2 </a:t>
            </a:r>
            <a:r>
              <a:rPr lang="zh-CN" altLang="en-US" b="1" dirty="0"/>
              <a:t>多源数据采集全景</a:t>
            </a:r>
          </a:p>
        </p:txBody>
      </p:sp>
      <p:sp>
        <p:nvSpPr>
          <p:cNvPr id="18" name="AutoShape 2" descr="佛山市西樵山景区 - 广东旅游景区 - LoongWander">
            <a:extLst>
              <a:ext uri="{FF2B5EF4-FFF2-40B4-BE49-F238E27FC236}">
                <a16:creationId xmlns:a16="http://schemas.microsoft.com/office/drawing/2014/main" id="{7B4A1A6A-3757-36CF-CF56-17725FD98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534229" cy="353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3A1C8A9E-2594-536A-1E06-177FDF058D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DAE724C-8828-4F10-2462-C662ABB28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746808"/>
              </p:ext>
            </p:extLst>
          </p:nvPr>
        </p:nvGraphicFramePr>
        <p:xfrm>
          <a:off x="579521" y="2157955"/>
          <a:ext cx="10515600" cy="340995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9669626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68274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719397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00810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数据类型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来源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数量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处理方式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819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文化典籍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Z-Library·</a:t>
                      </a:r>
                      <a:r>
                        <a:rPr lang="zh-CN" altLang="en-US">
                          <a:effectLst/>
                        </a:rPr>
                        <a:t>看典古籍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22</a:t>
                      </a:r>
                      <a:r>
                        <a:rPr lang="zh-CN" altLang="en-US" dirty="0">
                          <a:effectLst/>
                        </a:rPr>
                        <a:t>份典籍 </a:t>
                      </a:r>
                      <a:r>
                        <a:rPr lang="en-US" altLang="zh-CN" dirty="0">
                          <a:effectLst/>
                        </a:rPr>
                        <a:t>+ 31</a:t>
                      </a:r>
                      <a:r>
                        <a:rPr lang="zh-CN" altLang="en-US" dirty="0">
                          <a:effectLst/>
                        </a:rPr>
                        <a:t>本文史资料</a:t>
                      </a:r>
                      <a:endParaRPr lang="en-US" altLang="zh-CN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OCR</a:t>
                      </a:r>
                      <a:r>
                        <a:rPr lang="en-US" dirty="0">
                          <a:effectLst/>
                        </a:rPr>
                        <a:t>+ LLM +neo4j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79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景点</a:t>
                      </a:r>
                      <a:r>
                        <a:rPr lang="en-US">
                          <a:effectLst/>
                        </a:rPr>
                        <a:t>POI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高德</a:t>
                      </a:r>
                      <a:r>
                        <a:rPr lang="en-US">
                          <a:effectLst/>
                        </a:rPr>
                        <a:t>API + </a:t>
                      </a:r>
                      <a:r>
                        <a:rPr lang="zh-CN" altLang="en-US">
                          <a:effectLst/>
                        </a:rPr>
                        <a:t>佛山</a:t>
                      </a:r>
                      <a:r>
                        <a:rPr lang="en-US">
                          <a:effectLst/>
                        </a:rPr>
                        <a:t>Shapefile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13,113</a:t>
                      </a:r>
                      <a:r>
                        <a:rPr lang="zh-CN" altLang="en-US" b="1">
                          <a:effectLst/>
                        </a:rPr>
                        <a:t>条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双源融合</a:t>
                      </a:r>
                      <a:r>
                        <a:rPr lang="en-US" altLang="zh-CN">
                          <a:effectLst/>
                        </a:rPr>
                        <a:t>·11</a:t>
                      </a:r>
                      <a:r>
                        <a:rPr lang="zh-CN" altLang="en-US">
                          <a:effectLst/>
                        </a:rPr>
                        <a:t>类自动分类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35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用户评论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高德</a:t>
                      </a:r>
                      <a:r>
                        <a:rPr lang="en-US" altLang="zh-CN">
                          <a:effectLst/>
                        </a:rPr>
                        <a:t>+</a:t>
                      </a:r>
                      <a:r>
                        <a:rPr lang="zh-CN" altLang="en-US">
                          <a:effectLst/>
                        </a:rPr>
                        <a:t>携程</a:t>
                      </a:r>
                      <a:r>
                        <a:rPr lang="en-US" altLang="zh-CN">
                          <a:effectLst/>
                        </a:rPr>
                        <a:t>+</a:t>
                      </a:r>
                      <a:r>
                        <a:rPr lang="zh-CN" altLang="en-US">
                          <a:effectLst/>
                        </a:rPr>
                        <a:t>去哪儿</a:t>
                      </a:r>
                      <a:r>
                        <a:rPr lang="en-US" altLang="zh-CN">
                          <a:effectLst/>
                        </a:rPr>
                        <a:t>+</a:t>
                      </a:r>
                      <a:r>
                        <a:rPr lang="zh-CN" altLang="en-US">
                          <a:effectLst/>
                        </a:rPr>
                        <a:t>马蜂窝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16,391</a:t>
                      </a:r>
                      <a:r>
                        <a:rPr lang="zh-CN" altLang="en-US" b="1">
                          <a:effectLst/>
                        </a:rPr>
                        <a:t>条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情感分析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858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非遗名录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南海博物馆</a:t>
                      </a:r>
                      <a:r>
                        <a:rPr lang="en-US" altLang="zh-CN">
                          <a:effectLst/>
                        </a:rPr>
                        <a:t>·</a:t>
                      </a:r>
                      <a:r>
                        <a:rPr lang="zh-CN" altLang="en-US">
                          <a:effectLst/>
                        </a:rPr>
                        <a:t>省文旅厅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37</a:t>
                      </a:r>
                      <a:r>
                        <a:rPr lang="zh-CN" altLang="en-US" b="1">
                          <a:effectLst/>
                        </a:rPr>
                        <a:t>项</a:t>
                      </a:r>
                      <a:r>
                        <a:rPr lang="zh-CN" altLang="en-US">
                          <a:effectLst/>
                        </a:rPr>
                        <a:t>（精确坐标）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高德地理编码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635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文化载体锚点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政府普查</a:t>
                      </a:r>
                      <a:r>
                        <a:rPr lang="en-US">
                          <a:effectLst/>
                        </a:rPr>
                        <a:t>Shapefile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165</a:t>
                      </a:r>
                      <a:r>
                        <a:rPr lang="zh-CN" altLang="en-US" b="1">
                          <a:effectLst/>
                        </a:rPr>
                        <a:t>条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坐标提取</a:t>
                      </a:r>
                      <a:r>
                        <a:rPr lang="en-US" altLang="zh-CN">
                          <a:effectLst/>
                        </a:rPr>
                        <a:t>·500m</a:t>
                      </a:r>
                      <a:r>
                        <a:rPr lang="zh-CN" altLang="en-US">
                          <a:effectLst/>
                        </a:rPr>
                        <a:t>半径</a:t>
                      </a:r>
                      <a:r>
                        <a:rPr lang="en-US" altLang="zh-CN">
                          <a:effectLst/>
                        </a:rPr>
                        <a:t>POI</a:t>
                      </a:r>
                      <a:r>
                        <a:rPr lang="zh-CN" altLang="en-US">
                          <a:effectLst/>
                        </a:rPr>
                        <a:t>关联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65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行政边界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高德行政区域</a:t>
                      </a:r>
                      <a:r>
                        <a:rPr lang="en-US" altLang="zh-CN">
                          <a:effectLst/>
                        </a:rPr>
                        <a:t>API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8</a:t>
                      </a:r>
                      <a:r>
                        <a:rPr lang="zh-CN" altLang="en-US">
                          <a:effectLst/>
                        </a:rPr>
                        <a:t>个精确</a:t>
                      </a:r>
                      <a:r>
                        <a:rPr lang="en-US">
                          <a:effectLst/>
                        </a:rPr>
                        <a:t>GeoJSON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空间分析底图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30079"/>
                  </a:ext>
                </a:extLst>
              </a:tr>
            </a:tbl>
          </a:graphicData>
        </a:graphic>
      </p:graphicFrame>
      <p:sp>
        <p:nvSpPr>
          <p:cNvPr id="19" name="Rectangle 1">
            <a:extLst>
              <a:ext uri="{FF2B5EF4-FFF2-40B4-BE49-F238E27FC236}">
                <a16:creationId xmlns:a16="http://schemas.microsoft.com/office/drawing/2014/main" id="{234E51FA-F802-99AF-1C2D-189A6A64D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971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87680" y="584301"/>
            <a:ext cx="11231270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3.1 </a:t>
            </a:r>
            <a:r>
              <a:rPr lang="zh-CN" altLang="en-US" b="1" dirty="0"/>
              <a:t>双轨</a:t>
            </a:r>
            <a:r>
              <a:rPr lang="en-US" altLang="zh-CN" b="1" dirty="0"/>
              <a:t>NER</a:t>
            </a:r>
            <a:r>
              <a:rPr lang="zh-CN" altLang="en-US" b="1" dirty="0"/>
              <a:t>：规则方法 → </a:t>
            </a:r>
            <a:r>
              <a:rPr lang="en-US" altLang="zh-CN" b="1" dirty="0"/>
              <a:t>LLM</a:t>
            </a:r>
            <a:r>
              <a:rPr lang="zh-CN" altLang="en-US" b="1" dirty="0"/>
              <a:t>智能抽取</a:t>
            </a:r>
          </a:p>
        </p:txBody>
      </p:sp>
      <p:pic>
        <p:nvPicPr>
          <p:cNvPr id="1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31208D5-AB17-B476-D508-3078AE32F1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6C69B2B-B23E-A021-1A5D-ADFB3312C469}"/>
              </a:ext>
            </a:extLst>
          </p:cNvPr>
          <p:cNvSpPr txBox="1"/>
          <p:nvPr/>
        </p:nvSpPr>
        <p:spPr>
          <a:xfrm>
            <a:off x="418160" y="1148751"/>
            <a:ext cx="1181524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b="1" dirty="0">
                <a:solidFill>
                  <a:srgbClr val="000000"/>
                </a:solidFill>
                <a:latin typeface="-apple-system"/>
              </a:rPr>
              <a:t>开题阶段：</a:t>
            </a:r>
            <a:endParaRPr lang="en-US" altLang="zh-CN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方法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：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-apple-system"/>
              </a:rPr>
              <a:t>jieba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分词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自定义词典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300+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后缀规则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类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停用词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200+</a:t>
            </a:r>
          </a:p>
          <a:p>
            <a:pPr>
              <a:spcAft>
                <a:spcPts val="1200"/>
              </a:spcAft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产出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：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-apple-system"/>
              </a:rPr>
              <a:t>626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个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纯文化实体（零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“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其他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类），</a:t>
            </a:r>
            <a:r>
              <a:rPr lang="zh-CN" altLang="en-US" dirty="0"/>
              <a:t>共现关系</a:t>
            </a:r>
            <a:r>
              <a:rPr lang="en-US" altLang="zh-CN" b="1" dirty="0"/>
              <a:t>5,000</a:t>
            </a:r>
            <a:r>
              <a:rPr lang="zh-CN" altLang="en-US" b="1" dirty="0"/>
              <a:t>条</a:t>
            </a:r>
            <a:endParaRPr lang="en-US" altLang="zh-CN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251A5AF7-D456-1A58-6CA7-FDA2DEDF1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66776"/>
              </p:ext>
            </p:extLst>
          </p:nvPr>
        </p:nvGraphicFramePr>
        <p:xfrm>
          <a:off x="487680" y="4385353"/>
          <a:ext cx="7603348" cy="2034540"/>
        </p:xfrm>
        <a:graphic>
          <a:graphicData uri="http://schemas.openxmlformats.org/drawingml/2006/table">
            <a:tbl>
              <a:tblPr/>
              <a:tblGrid>
                <a:gridCol w="1900837">
                  <a:extLst>
                    <a:ext uri="{9D8B030D-6E8A-4147-A177-3AD203B41FA5}">
                      <a16:colId xmlns:a16="http://schemas.microsoft.com/office/drawing/2014/main" val="1990815918"/>
                    </a:ext>
                  </a:extLst>
                </a:gridCol>
                <a:gridCol w="1900837">
                  <a:extLst>
                    <a:ext uri="{9D8B030D-6E8A-4147-A177-3AD203B41FA5}">
                      <a16:colId xmlns:a16="http://schemas.microsoft.com/office/drawing/2014/main" val="2173306557"/>
                    </a:ext>
                  </a:extLst>
                </a:gridCol>
                <a:gridCol w="1900837">
                  <a:extLst>
                    <a:ext uri="{9D8B030D-6E8A-4147-A177-3AD203B41FA5}">
                      <a16:colId xmlns:a16="http://schemas.microsoft.com/office/drawing/2014/main" val="3805211485"/>
                    </a:ext>
                  </a:extLst>
                </a:gridCol>
                <a:gridCol w="1900837">
                  <a:extLst>
                    <a:ext uri="{9D8B030D-6E8A-4147-A177-3AD203B41FA5}">
                      <a16:colId xmlns:a16="http://schemas.microsoft.com/office/drawing/2014/main" val="3119617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effectLst/>
                        </a:rPr>
                        <a:t>指标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规则</a:t>
                      </a:r>
                      <a:r>
                        <a:rPr lang="en-US" sz="1600" dirty="0">
                          <a:effectLst/>
                        </a:rPr>
                        <a:t>NER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LLM</a:t>
                      </a:r>
                      <a:r>
                        <a:rPr lang="zh-CN" altLang="en-US" sz="1600">
                          <a:effectLst/>
                        </a:rPr>
                        <a:t>抽取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effectLst/>
                        </a:rPr>
                        <a:t>提升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2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实体数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effectLst/>
                        </a:rPr>
                        <a:t>626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effectLst/>
                        </a:rPr>
                        <a:t>8,048</a:t>
                      </a:r>
                      <a:endParaRPr lang="zh-CN" altLang="en-US" sz="16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 dirty="0">
                          <a:effectLst/>
                        </a:rPr>
                        <a:t>×12.9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59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关系数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effectLst/>
                        </a:rPr>
                        <a:t>5,000</a:t>
                      </a:r>
                      <a:r>
                        <a:rPr lang="zh-CN" altLang="en-US" sz="1600">
                          <a:effectLst/>
                        </a:rPr>
                        <a:t>（共现统计）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effectLst/>
                        </a:rPr>
                        <a:t>19,382</a:t>
                      </a:r>
                      <a:r>
                        <a:rPr lang="zh-CN" altLang="en-US" sz="1600">
                          <a:effectLst/>
                        </a:rPr>
                        <a:t>（语义关系）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effectLst/>
                        </a:rPr>
                        <a:t>×3.9</a:t>
                      </a:r>
                      <a:endParaRPr lang="zh-CN" altLang="en-US" sz="16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151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关系类型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effectLst/>
                        </a:rPr>
                        <a:t>1</a:t>
                      </a:r>
                      <a:r>
                        <a:rPr lang="zh-CN" altLang="en-US" sz="1600">
                          <a:effectLst/>
                        </a:rPr>
                        <a:t>种（共现）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开放式</a:t>
                      </a:r>
                      <a:r>
                        <a:rPr lang="zh-CN" altLang="en-US" sz="1600">
                          <a:effectLst/>
                        </a:rPr>
                        <a:t>（数百种）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质变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82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分类粒度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effectLst/>
                        </a:rPr>
                        <a:t>6</a:t>
                      </a:r>
                      <a:r>
                        <a:rPr lang="zh-CN" altLang="en-US" sz="1600">
                          <a:effectLst/>
                        </a:rPr>
                        <a:t>类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effectLst/>
                        </a:rPr>
                        <a:t>6</a:t>
                      </a:r>
                      <a:r>
                        <a:rPr lang="zh-CN" altLang="en-US" sz="1600" b="1">
                          <a:effectLst/>
                        </a:rPr>
                        <a:t>大类</a:t>
                      </a:r>
                      <a:r>
                        <a:rPr lang="en-US" altLang="zh-CN" sz="1600" b="1">
                          <a:effectLst/>
                        </a:rPr>
                        <a:t>20+</a:t>
                      </a:r>
                      <a:r>
                        <a:rPr lang="zh-CN" altLang="en-US" sz="1600" b="1">
                          <a:effectLst/>
                        </a:rPr>
                        <a:t>小类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更精细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215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证据溯源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无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每条附原文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可验证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88877"/>
                  </a:ext>
                </a:extLst>
              </a:tr>
            </a:tbl>
          </a:graphicData>
        </a:graphic>
      </p:graphicFrame>
      <p:sp>
        <p:nvSpPr>
          <p:cNvPr id="21" name="Rectangle 2">
            <a:extLst>
              <a:ext uri="{FF2B5EF4-FFF2-40B4-BE49-F238E27FC236}">
                <a16:creationId xmlns:a16="http://schemas.microsoft.com/office/drawing/2014/main" id="{A054DB3A-5CC7-3017-F02C-51D5F3F5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60" y="2667308"/>
            <a:ext cx="8815475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中期阶段：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  <a:p>
            <a:r>
              <a:rPr lang="zh-CN" altLang="en-US" b="1" dirty="0"/>
              <a:t>方法</a:t>
            </a:r>
            <a:r>
              <a:rPr lang="zh-CN" altLang="en-US" dirty="0"/>
              <a:t>：</a:t>
            </a:r>
            <a:r>
              <a:rPr lang="en-US" altLang="zh-CN" dirty="0"/>
              <a:t>Qwen</a:t>
            </a:r>
            <a:r>
              <a:rPr lang="zh-CN" altLang="en-US" dirty="0"/>
              <a:t>大模型（</a:t>
            </a:r>
            <a:r>
              <a:rPr lang="en-US" altLang="zh-CN" dirty="0"/>
              <a:t>qwen3.5-plus</a:t>
            </a:r>
            <a:r>
              <a:rPr lang="zh-CN" altLang="en-US" dirty="0"/>
              <a:t>）逐篇语义分析，开放式实体识别 </a:t>
            </a:r>
            <a:r>
              <a:rPr lang="en-US" altLang="zh-CN" dirty="0"/>
              <a:t>+ </a:t>
            </a:r>
            <a:r>
              <a:rPr lang="zh-CN" altLang="en-US" dirty="0"/>
              <a:t>关系抽取</a:t>
            </a:r>
          </a:p>
          <a:p>
            <a:r>
              <a:rPr lang="zh-CN" altLang="en-US" b="1" dirty="0"/>
              <a:t>产出</a:t>
            </a:r>
            <a:r>
              <a:rPr lang="zh-CN" altLang="en-US" dirty="0"/>
              <a:t>：</a:t>
            </a:r>
            <a:r>
              <a:rPr lang="en-US" altLang="zh-CN" b="1" dirty="0"/>
              <a:t>8,048</a:t>
            </a:r>
            <a:r>
              <a:rPr lang="zh-CN" altLang="en-US" b="1" dirty="0"/>
              <a:t>个</a:t>
            </a:r>
            <a:r>
              <a:rPr lang="zh-CN" altLang="en-US" dirty="0"/>
              <a:t>实体 </a:t>
            </a:r>
            <a:r>
              <a:rPr lang="en-US" altLang="zh-CN" dirty="0"/>
              <a:t>+ </a:t>
            </a:r>
            <a:r>
              <a:rPr lang="en-US" altLang="zh-CN" b="1" dirty="0"/>
              <a:t>19,382</a:t>
            </a:r>
            <a:r>
              <a:rPr lang="zh-CN" altLang="en-US" b="1" dirty="0"/>
              <a:t>条</a:t>
            </a:r>
            <a:r>
              <a:rPr lang="zh-CN" altLang="en-US" dirty="0"/>
              <a:t>语义关系</a:t>
            </a:r>
          </a:p>
          <a:p>
            <a:r>
              <a:rPr lang="zh-CN" altLang="en-US" dirty="0"/>
              <a:t>分类体系：</a:t>
            </a:r>
            <a:r>
              <a:rPr lang="en-US" altLang="zh-CN" dirty="0"/>
              <a:t>6</a:t>
            </a:r>
            <a:r>
              <a:rPr lang="zh-CN" altLang="en-US" dirty="0"/>
              <a:t>大类（</a:t>
            </a:r>
            <a:r>
              <a:rPr lang="en-US" altLang="zh-CN" dirty="0"/>
              <a:t>A</a:t>
            </a:r>
            <a:r>
              <a:rPr lang="zh-CN" altLang="en-US" dirty="0"/>
              <a:t>非遗</a:t>
            </a:r>
            <a:r>
              <a:rPr lang="en-US" altLang="zh-CN" dirty="0"/>
              <a:t>/B</a:t>
            </a:r>
            <a:r>
              <a:rPr lang="zh-CN" altLang="en-US" dirty="0"/>
              <a:t>文物</a:t>
            </a:r>
            <a:r>
              <a:rPr lang="en-US" altLang="zh-CN" dirty="0"/>
              <a:t>/C</a:t>
            </a:r>
            <a:r>
              <a:rPr lang="zh-CN" altLang="en-US" dirty="0"/>
              <a:t>传承主体</a:t>
            </a:r>
            <a:r>
              <a:rPr lang="en-US" altLang="zh-CN" dirty="0"/>
              <a:t>/D</a:t>
            </a:r>
            <a:r>
              <a:rPr lang="zh-CN" altLang="en-US" dirty="0"/>
              <a:t>文化空间</a:t>
            </a:r>
            <a:r>
              <a:rPr lang="en-US" altLang="zh-CN" dirty="0"/>
              <a:t>/E</a:t>
            </a:r>
            <a:r>
              <a:rPr lang="zh-CN" altLang="en-US" dirty="0"/>
              <a:t>文献</a:t>
            </a:r>
            <a:r>
              <a:rPr lang="en-US" altLang="zh-CN" dirty="0"/>
              <a:t>/F</a:t>
            </a:r>
            <a:r>
              <a:rPr lang="zh-CN" altLang="en-US" dirty="0"/>
              <a:t>时序）→ </a:t>
            </a:r>
            <a:r>
              <a:rPr lang="en-US" altLang="zh-CN" dirty="0"/>
              <a:t>20+</a:t>
            </a:r>
            <a:r>
              <a:rPr lang="zh-CN" altLang="en-US" dirty="0"/>
              <a:t>小类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4"/>
          <p:cNvSpPr/>
          <p:nvPr/>
        </p:nvSpPr>
        <p:spPr>
          <a:xfrm>
            <a:off x="487680" y="584301"/>
            <a:ext cx="11231270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 </a:t>
            </a:r>
            <a:r>
              <a:rPr lang="en-US" altLang="zh-CN" b="1" dirty="0"/>
              <a:t>3.2 </a:t>
            </a:r>
            <a:r>
              <a:rPr lang="zh-CN" altLang="en-US" b="1" dirty="0"/>
              <a:t>文化分类体系与文化谱系</a:t>
            </a:r>
          </a:p>
        </p:txBody>
      </p:sp>
      <p:pic>
        <p:nvPicPr>
          <p:cNvPr id="20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1A604CD3-F33C-6C03-8605-AAB3D93F06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5051DFF-5D20-C907-2174-E1087BFACCF9}"/>
              </a:ext>
            </a:extLst>
          </p:cNvPr>
          <p:cNvSpPr txBox="1"/>
          <p:nvPr/>
        </p:nvSpPr>
        <p:spPr>
          <a:xfrm>
            <a:off x="678280" y="1250823"/>
            <a:ext cx="90312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┌──────────── 文化本体层 ────────────┐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非遗文化体系                      │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表演艺术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A2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传统技艺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A3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民俗节庆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个小类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                │  A4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信俗礼仪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A5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传统体育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A6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饮食酿造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物质文化遗产体系                   │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古建筑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B2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宗教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B3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纪念建筑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个小类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                │  B4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古遗址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B5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石刻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B6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古村落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├──────────── 传承承载层 ────────────┤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传承主体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人物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/C2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传承人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/C3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营建者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/C4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宗族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│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D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文化空间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山川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/D2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镇街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/D3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街区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/D4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传承场所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│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├────────────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认知支撑层 ────────────┤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文献记忆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地方志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/E2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族谱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/E3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碑记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/E4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文集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│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│ F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历史时序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朝代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/F2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事件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/F3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阶段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    │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└─────────────────────────────────────┘</a:t>
            </a:r>
            <a:endParaRPr lang="zh-CN" alt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3a45a124-c3cc-4c4f-b57e-10662729c491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73" name="Text 7">
            <a:extLst>
              <a:ext uri="{FF2B5EF4-FFF2-40B4-BE49-F238E27FC236}">
                <a16:creationId xmlns:a16="http://schemas.microsoft.com/office/drawing/2014/main" id="{3B120617-C188-9EF9-48D0-A2FAD21D78B2}"/>
              </a:ext>
            </a:extLst>
          </p:cNvPr>
          <p:cNvSpPr/>
          <p:nvPr/>
        </p:nvSpPr>
        <p:spPr>
          <a:xfrm>
            <a:off x="473049" y="604688"/>
            <a:ext cx="11245901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3.3 </a:t>
            </a:r>
            <a:r>
              <a:rPr lang="zh-CN" altLang="en-US" b="1" dirty="0"/>
              <a:t>景点谱系与六维体验度评估</a:t>
            </a:r>
          </a:p>
        </p:txBody>
      </p:sp>
      <p:pic>
        <p:nvPicPr>
          <p:cNvPr id="7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8C42BA92-100C-BBAA-0DF5-9FC47137E3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EA157926-F739-34CB-1881-F9361DE7449E}"/>
              </a:ext>
            </a:extLst>
          </p:cNvPr>
          <p:cNvSpPr txBox="1"/>
          <p:nvPr/>
        </p:nvSpPr>
        <p:spPr>
          <a:xfrm>
            <a:off x="756485" y="1096002"/>
            <a:ext cx="914550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四平台评论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(16,391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条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             POI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数据库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(13,113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条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↓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spot_name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     ↓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poi_name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/id/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坐标</a:t>
            </a:r>
          </a:p>
          <a:p>
            <a:pPr algn="l"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└──── 五段式匹配算法 ────────────────────→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review_poi_matched</a:t>
            </a:r>
            <a:endParaRPr lang="en-US" altLang="zh-CN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①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精确匹配                           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评论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×POI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关联表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②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核心名匹配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去后缀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                ↓</a:t>
            </a:r>
          </a:p>
          <a:p>
            <a:pPr algn="l">
              <a:buNone/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③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别名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括号匹配                       注入体验度评估</a:t>
            </a:r>
          </a:p>
          <a:p>
            <a:pPr algn="l"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④包含匹配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双向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              ↓</a:t>
            </a:r>
          </a:p>
          <a:p>
            <a:pPr algn="l">
              <a:buNone/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⑤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模糊匹配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(rapidfuzz≥72)       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六维评分 → 景点谱系</a:t>
            </a:r>
            <a:endParaRPr lang="zh-CN" altLang="en-US" sz="16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6C6AA0A7-B08E-627C-81DE-7DE99F6BF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09046"/>
              </p:ext>
            </p:extLst>
          </p:nvPr>
        </p:nvGraphicFramePr>
        <p:xfrm>
          <a:off x="278732" y="2920422"/>
          <a:ext cx="10515600" cy="216027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797027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49032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17213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04527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维度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权重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数据来源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说明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602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平台评分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30%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POI</a:t>
                      </a:r>
                      <a:r>
                        <a:rPr lang="zh-CN" altLang="en-US" sz="1400">
                          <a:effectLst/>
                        </a:rPr>
                        <a:t>评分（高德</a:t>
                      </a:r>
                      <a:r>
                        <a:rPr lang="en-US" altLang="zh-CN" sz="1400">
                          <a:effectLst/>
                        </a:rPr>
                        <a:t>+</a:t>
                      </a:r>
                      <a:r>
                        <a:rPr lang="zh-CN" altLang="en-US" sz="1400">
                          <a:effectLst/>
                        </a:rPr>
                        <a:t>融合）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游客满意度基准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746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好评率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20%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评论文本情感分析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正面词表</a:t>
                      </a:r>
                      <a:r>
                        <a:rPr lang="en-US" altLang="zh-CN" sz="1400">
                          <a:effectLst/>
                        </a:rPr>
                        <a:t>/</a:t>
                      </a:r>
                      <a:r>
                        <a:rPr lang="zh-CN" altLang="en-US" sz="1400">
                          <a:effectLst/>
                        </a:rPr>
                        <a:t>负面词表分类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349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文化深度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20%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非遗关联</a:t>
                      </a:r>
                      <a:r>
                        <a:rPr lang="en-US" altLang="zh-CN" sz="1400">
                          <a:effectLst/>
                        </a:rPr>
                        <a:t>+</a:t>
                      </a:r>
                      <a:r>
                        <a:rPr lang="zh-CN" altLang="en-US" sz="1400">
                          <a:effectLst/>
                        </a:rPr>
                        <a:t>文化锚点</a:t>
                      </a:r>
                      <a:r>
                        <a:rPr lang="en-US" altLang="zh-CN" sz="1400">
                          <a:effectLst/>
                        </a:rPr>
                        <a:t>500m</a:t>
                      </a:r>
                      <a:r>
                        <a:rPr lang="zh-CN" altLang="en-US" sz="1400">
                          <a:effectLst/>
                        </a:rPr>
                        <a:t>关联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文旅融合核心维度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05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评论活跃度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15%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评论</a:t>
                      </a:r>
                      <a:r>
                        <a:rPr lang="en-US" altLang="zh-CN" sz="1400" b="1">
                          <a:effectLst/>
                        </a:rPr>
                        <a:t>-POI</a:t>
                      </a:r>
                      <a:r>
                        <a:rPr lang="zh-CN" altLang="en-US" sz="1400" b="1">
                          <a:effectLst/>
                        </a:rPr>
                        <a:t>匹配后的评论条数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市场关注热度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7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历史积淀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10%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典籍</a:t>
                      </a:r>
                      <a:r>
                        <a:rPr lang="en-US" altLang="zh-CN" sz="1400">
                          <a:effectLst/>
                        </a:rPr>
                        <a:t>NER</a:t>
                      </a:r>
                      <a:r>
                        <a:rPr lang="zh-CN" altLang="en-US" sz="1400">
                          <a:effectLst/>
                        </a:rPr>
                        <a:t>实体提及频次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本研究独创维度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698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照片丰富度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5%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高德</a:t>
                      </a:r>
                      <a:r>
                        <a:rPr lang="en-US" sz="1400">
                          <a:effectLst/>
                        </a:rPr>
                        <a:t>API photo_count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视觉吸引力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118275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312745C2-2588-1BA2-D3CE-3A5CC85E2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532830"/>
              </p:ext>
            </p:extLst>
          </p:nvPr>
        </p:nvGraphicFramePr>
        <p:xfrm>
          <a:off x="278732" y="5142698"/>
          <a:ext cx="10515600" cy="16611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953807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07845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012738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45292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等级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数量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占比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典型景点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78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59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0.5%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西樵山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南海观音寺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九江双蒸博物馆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黄飞鸿纪念馆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585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中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561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4.3%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松塘古村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千灯湖公园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南海博物馆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239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低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12,493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95.3%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社区公园</a:t>
                      </a:r>
                      <a:r>
                        <a:rPr lang="en-US" altLang="zh-CN" sz="1400" dirty="0">
                          <a:effectLst/>
                        </a:rPr>
                        <a:t>·</a:t>
                      </a:r>
                      <a:r>
                        <a:rPr lang="zh-CN" altLang="en-US" sz="1400" dirty="0">
                          <a:effectLst/>
                        </a:rPr>
                        <a:t>小型配套设施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8249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89615" y="468074"/>
            <a:ext cx="1825821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 </a:t>
            </a:r>
            <a:r>
              <a:rPr lang="en-US" altLang="zh-CN" b="1" dirty="0"/>
              <a:t>4.1 </a:t>
            </a:r>
            <a:r>
              <a:rPr lang="zh-CN" altLang="en-US" b="1" dirty="0"/>
              <a:t>知识图谱构建</a:t>
            </a:r>
          </a:p>
        </p:txBody>
      </p:sp>
      <p:pic>
        <p:nvPicPr>
          <p:cNvPr id="1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E3D829D3-4D67-BC7D-FA6E-83BB8ED9A2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290C15A-FC3A-56FA-CFE1-8EE61EC476AC}"/>
              </a:ext>
            </a:extLst>
          </p:cNvPr>
          <p:cNvSpPr txBox="1"/>
          <p:nvPr/>
        </p:nvSpPr>
        <p:spPr>
          <a:xfrm>
            <a:off x="690311" y="4831822"/>
            <a:ext cx="10210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知识图谱是文化谱系的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知识组织成果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，将典籍中离散的人物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事件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地点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遗产结构化为可查询的图数据库。它的价值在于：① 文化谱系可视化呈现，② 典籍知识的结构化存储与检索，③ 为后续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旅游线路推荐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""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文化关联发现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等应用提供底层支撑。耦合分析则直接基于非遗名录与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POI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库的实体对齐，两个模块互补而非串联。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87680" y="584301"/>
            <a:ext cx="11231270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4.2 </a:t>
            </a:r>
            <a:r>
              <a:rPr lang="zh-CN" altLang="en-US" b="1" dirty="0"/>
              <a:t>空间分析</a:t>
            </a:r>
          </a:p>
        </p:txBody>
      </p:sp>
      <p:pic>
        <p:nvPicPr>
          <p:cNvPr id="1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95ADADB4-78EC-B67F-1C79-3E056DD3C6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B3997ED-5AC6-E724-42E7-D4C185961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545476"/>
              </p:ext>
            </p:extLst>
          </p:nvPr>
        </p:nvGraphicFramePr>
        <p:xfrm>
          <a:off x="418160" y="1288028"/>
          <a:ext cx="4918827" cy="1874520"/>
        </p:xfrm>
        <a:graphic>
          <a:graphicData uri="http://schemas.openxmlformats.org/drawingml/2006/table">
            <a:tbl>
              <a:tblPr/>
              <a:tblGrid>
                <a:gridCol w="998857">
                  <a:extLst>
                    <a:ext uri="{9D8B030D-6E8A-4147-A177-3AD203B41FA5}">
                      <a16:colId xmlns:a16="http://schemas.microsoft.com/office/drawing/2014/main" val="1315986542"/>
                    </a:ext>
                  </a:extLst>
                </a:gridCol>
                <a:gridCol w="2280361">
                  <a:extLst>
                    <a:ext uri="{9D8B030D-6E8A-4147-A177-3AD203B41FA5}">
                      <a16:colId xmlns:a16="http://schemas.microsoft.com/office/drawing/2014/main" val="973102286"/>
                    </a:ext>
                  </a:extLst>
                </a:gridCol>
                <a:gridCol w="1639609">
                  <a:extLst>
                    <a:ext uri="{9D8B030D-6E8A-4147-A177-3AD203B41FA5}">
                      <a16:colId xmlns:a16="http://schemas.microsoft.com/office/drawing/2014/main" val="3502405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维度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热点区域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特征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12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POI</a:t>
                      </a:r>
                      <a:r>
                        <a:rPr lang="zh-CN" altLang="en-US" sz="1400">
                          <a:effectLst/>
                        </a:rPr>
                        <a:t>热力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桂城</a:t>
                      </a:r>
                      <a:r>
                        <a:rPr lang="en-US" altLang="zh-CN" sz="1400" dirty="0">
                          <a:effectLst/>
                        </a:rPr>
                        <a:t>-</a:t>
                      </a:r>
                      <a:r>
                        <a:rPr lang="zh-CN" altLang="en-US" sz="1400" dirty="0">
                          <a:effectLst/>
                        </a:rPr>
                        <a:t>大沥</a:t>
                      </a:r>
                      <a:r>
                        <a:rPr lang="en-US" altLang="zh-CN" sz="1400" dirty="0">
                          <a:effectLst/>
                        </a:rPr>
                        <a:t>-</a:t>
                      </a:r>
                      <a:r>
                        <a:rPr lang="zh-CN" altLang="en-US" sz="1400" dirty="0">
                          <a:effectLst/>
                        </a:rPr>
                        <a:t>狮山（中心城区带）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现代文旅设施密集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11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非遗热力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西樵</a:t>
                      </a:r>
                      <a:r>
                        <a:rPr lang="en-US" altLang="zh-CN" sz="1400">
                          <a:effectLst/>
                        </a:rPr>
                        <a:t>-</a:t>
                      </a:r>
                      <a:r>
                        <a:rPr lang="zh-CN" altLang="en-US" sz="1400">
                          <a:effectLst/>
                        </a:rPr>
                        <a:t>九江</a:t>
                      </a:r>
                      <a:r>
                        <a:rPr lang="en-US" altLang="zh-CN" sz="1400">
                          <a:effectLst/>
                        </a:rPr>
                        <a:t>-</a:t>
                      </a:r>
                      <a:r>
                        <a:rPr lang="zh-CN" altLang="en-US" sz="1400">
                          <a:effectLst/>
                        </a:rPr>
                        <a:t>丹灶（西南文化带）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传统文化资源富集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97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关键发现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两者空间错位分布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文化与旅游资源不匹配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959853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3A86F67-1B9B-706A-AA55-E72E7165B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7158"/>
              </p:ext>
            </p:extLst>
          </p:nvPr>
        </p:nvGraphicFramePr>
        <p:xfrm>
          <a:off x="5757112" y="1629445"/>
          <a:ext cx="6434888" cy="925830"/>
        </p:xfrm>
        <a:graphic>
          <a:graphicData uri="http://schemas.openxmlformats.org/drawingml/2006/table">
            <a:tbl>
              <a:tblPr/>
              <a:tblGrid>
                <a:gridCol w="1608722">
                  <a:extLst>
                    <a:ext uri="{9D8B030D-6E8A-4147-A177-3AD203B41FA5}">
                      <a16:colId xmlns:a16="http://schemas.microsoft.com/office/drawing/2014/main" val="838069009"/>
                    </a:ext>
                  </a:extLst>
                </a:gridCol>
                <a:gridCol w="1608722">
                  <a:extLst>
                    <a:ext uri="{9D8B030D-6E8A-4147-A177-3AD203B41FA5}">
                      <a16:colId xmlns:a16="http://schemas.microsoft.com/office/drawing/2014/main" val="3613908438"/>
                    </a:ext>
                  </a:extLst>
                </a:gridCol>
                <a:gridCol w="1608722">
                  <a:extLst>
                    <a:ext uri="{9D8B030D-6E8A-4147-A177-3AD203B41FA5}">
                      <a16:colId xmlns:a16="http://schemas.microsoft.com/office/drawing/2014/main" val="4026803420"/>
                    </a:ext>
                  </a:extLst>
                </a:gridCol>
                <a:gridCol w="1608722">
                  <a:extLst>
                    <a:ext uri="{9D8B030D-6E8A-4147-A177-3AD203B41FA5}">
                      <a16:colId xmlns:a16="http://schemas.microsoft.com/office/drawing/2014/main" val="2639924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集聚区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范围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POI</a:t>
                      </a:r>
                      <a:r>
                        <a:rPr lang="zh-CN" altLang="en-US" sz="1400">
                          <a:effectLst/>
                        </a:rPr>
                        <a:t>密度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文化密度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1 </a:t>
                      </a:r>
                      <a:r>
                        <a:rPr lang="zh-CN" altLang="en-US" sz="1400">
                          <a:effectLst/>
                        </a:rPr>
                        <a:t>中心城区带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桂城</a:t>
                      </a:r>
                      <a:r>
                        <a:rPr lang="en-US" altLang="zh-CN" sz="1400">
                          <a:effectLst/>
                        </a:rPr>
                        <a:t>-</a:t>
                      </a:r>
                      <a:r>
                        <a:rPr lang="zh-CN" altLang="en-US" sz="1400">
                          <a:effectLst/>
                        </a:rPr>
                        <a:t>大沥</a:t>
                      </a:r>
                      <a:r>
                        <a:rPr lang="en-US" altLang="zh-CN" sz="1400">
                          <a:effectLst/>
                        </a:rPr>
                        <a:t>-</a:t>
                      </a:r>
                      <a:r>
                        <a:rPr lang="zh-CN" altLang="en-US" sz="1400">
                          <a:effectLst/>
                        </a:rPr>
                        <a:t>狮山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极高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中等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1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2 </a:t>
                      </a:r>
                      <a:r>
                        <a:rPr lang="zh-CN" altLang="en-US" sz="1400">
                          <a:effectLst/>
                        </a:rPr>
                        <a:t>西南文化带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西樵</a:t>
                      </a:r>
                      <a:r>
                        <a:rPr lang="en-US" altLang="zh-CN" sz="1400">
                          <a:effectLst/>
                        </a:rPr>
                        <a:t>-</a:t>
                      </a:r>
                      <a:r>
                        <a:rPr lang="zh-CN" altLang="en-US" sz="1400">
                          <a:effectLst/>
                        </a:rPr>
                        <a:t>丹灶</a:t>
                      </a:r>
                      <a:r>
                        <a:rPr lang="en-US" altLang="zh-CN" sz="1400">
                          <a:effectLst/>
                        </a:rPr>
                        <a:t>-</a:t>
                      </a:r>
                      <a:r>
                        <a:rPr lang="zh-CN" altLang="en-US" sz="1400">
                          <a:effectLst/>
                        </a:rPr>
                        <a:t>九江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中等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极高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81565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74B66BD2-31D2-F08F-74F4-9457C6F2E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035887"/>
              </p:ext>
            </p:extLst>
          </p:nvPr>
        </p:nvGraphicFramePr>
        <p:xfrm>
          <a:off x="574568" y="3555271"/>
          <a:ext cx="10515600" cy="323088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41503202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202263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899060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2326937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0032837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39060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镇街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景点数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非遗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文化密度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旅游密度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耦合特征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12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桂城街道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327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综合最强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10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里水镇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254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中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旅游＞文化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138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大沥镇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234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中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旅游＞文化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93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狮山镇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232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中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旅游＞文化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728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西樵镇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131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文化底蕴深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023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丹灶镇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128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低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潜力洼地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762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九江镇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47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5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高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中</a:t>
                      </a:r>
                      <a:endParaRPr lang="zh-CN" alt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文化富集</a:t>
                      </a:r>
                      <a:r>
                        <a:rPr lang="en-US" altLang="zh-CN" b="1" dirty="0">
                          <a:effectLst/>
                        </a:rPr>
                        <a:t>-</a:t>
                      </a:r>
                      <a:r>
                        <a:rPr lang="zh-CN" altLang="en-US" b="1" dirty="0">
                          <a:effectLst/>
                        </a:rPr>
                        <a:t>旅游贫乏</a:t>
                      </a:r>
                      <a:endParaRPr lang="zh-CN" altLang="en-US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354949"/>
                  </a:ext>
                </a:extLst>
              </a:tr>
            </a:tbl>
          </a:graphicData>
        </a:graphic>
      </p:graphicFrame>
      <p:sp>
        <p:nvSpPr>
          <p:cNvPr id="19" name="Rectangle 2">
            <a:extLst>
              <a:ext uri="{FF2B5EF4-FFF2-40B4-BE49-F238E27FC236}">
                <a16:creationId xmlns:a16="http://schemas.microsoft.com/office/drawing/2014/main" id="{C09E688C-A525-6B7E-AB63-B67FAD00F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68" y="37800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7680" y="584301"/>
            <a:ext cx="11231270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4.3 </a:t>
            </a:r>
            <a:r>
              <a:rPr lang="zh-CN" altLang="en-US" b="1" dirty="0"/>
              <a:t>双谱系耦合分析</a:t>
            </a:r>
          </a:p>
        </p:txBody>
      </p:sp>
      <p:pic>
        <p:nvPicPr>
          <p:cNvPr id="15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62CAF191-4736-E819-032B-A0949569B3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43CA685-25A8-ED50-3F48-2146E89303E5}"/>
              </a:ext>
            </a:extLst>
          </p:cNvPr>
          <p:cNvSpPr txBox="1"/>
          <p:nvPr/>
        </p:nvSpPr>
        <p:spPr>
          <a:xfrm>
            <a:off x="191001" y="1203482"/>
            <a:ext cx="60970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文化谱系（供给侧）          景点谱系（需求侧）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大类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条目                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13,113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条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37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项非遗名录               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16,391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条评论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626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个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NER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实体                六维体验度评分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↓                          ↓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① 实体对齐（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对人工映射）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非遗项目名 ↔ 传承基地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博物馆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文化人物   ↔ 纪念馆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故居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文化遗存   ↔ 所在景区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文化主题   ↔ 主题景点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② 缺失扫描（遍历非遗名录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/POI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库补全）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③ 镇街协调度（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数→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值，非遗数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+NER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提及→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值）</a:t>
            </a:r>
            <a:endParaRPr lang="zh-CN" alt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BB89EC-AA0F-5D9D-F95E-CF37BD8E8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54443"/>
              </p:ext>
            </p:extLst>
          </p:nvPr>
        </p:nvGraphicFramePr>
        <p:xfrm>
          <a:off x="5258201" y="1339331"/>
          <a:ext cx="6406414" cy="2396490"/>
        </p:xfrm>
        <a:graphic>
          <a:graphicData uri="http://schemas.openxmlformats.org/drawingml/2006/table">
            <a:tbl>
              <a:tblPr/>
              <a:tblGrid>
                <a:gridCol w="1144539">
                  <a:extLst>
                    <a:ext uri="{9D8B030D-6E8A-4147-A177-3AD203B41FA5}">
                      <a16:colId xmlns:a16="http://schemas.microsoft.com/office/drawing/2014/main" val="376780548"/>
                    </a:ext>
                  </a:extLst>
                </a:gridCol>
                <a:gridCol w="1581666">
                  <a:extLst>
                    <a:ext uri="{9D8B030D-6E8A-4147-A177-3AD203B41FA5}">
                      <a16:colId xmlns:a16="http://schemas.microsoft.com/office/drawing/2014/main" val="2289113264"/>
                    </a:ext>
                  </a:extLst>
                </a:gridCol>
                <a:gridCol w="635669">
                  <a:extLst>
                    <a:ext uri="{9D8B030D-6E8A-4147-A177-3AD203B41FA5}">
                      <a16:colId xmlns:a16="http://schemas.microsoft.com/office/drawing/2014/main" val="329387462"/>
                    </a:ext>
                  </a:extLst>
                </a:gridCol>
                <a:gridCol w="3044540">
                  <a:extLst>
                    <a:ext uri="{9D8B030D-6E8A-4147-A177-3AD203B41FA5}">
                      <a16:colId xmlns:a16="http://schemas.microsoft.com/office/drawing/2014/main" val="3930445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状态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判定规则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数量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</a:rPr>
                        <a:t>典型案例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37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✅ </a:t>
                      </a:r>
                      <a:r>
                        <a:rPr lang="zh-CN" altLang="en-US" sz="1400" b="1">
                          <a:effectLst/>
                        </a:rPr>
                        <a:t>强耦合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实体对应</a:t>
                      </a:r>
                      <a:r>
                        <a:rPr lang="en-US" altLang="zh-CN" sz="1400">
                          <a:effectLst/>
                        </a:rPr>
                        <a:t>/</a:t>
                      </a:r>
                      <a:r>
                        <a:rPr lang="zh-CN" altLang="en-US" sz="1400">
                          <a:effectLst/>
                        </a:rPr>
                        <a:t>文化承载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16</a:t>
                      </a:r>
                      <a:r>
                        <a:rPr lang="zh-CN" altLang="en-US" sz="1400" b="1" dirty="0">
                          <a:effectLst/>
                        </a:rPr>
                        <a:t>对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醒狮↔传承基地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咏春↔武馆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双蒸酒↔博物馆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585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⚠️ </a:t>
                      </a:r>
                      <a:r>
                        <a:rPr lang="zh-CN" altLang="en-US" sz="1400" b="1">
                          <a:effectLst/>
                        </a:rPr>
                        <a:t>错位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空间共存</a:t>
                      </a:r>
                      <a:r>
                        <a:rPr lang="en-US" altLang="zh-CN" sz="1400">
                          <a:effectLst/>
                        </a:rPr>
                        <a:t>/</a:t>
                      </a:r>
                      <a:r>
                        <a:rPr lang="zh-CN" altLang="en-US" sz="1400">
                          <a:effectLst/>
                        </a:rPr>
                        <a:t>主题关联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9</a:t>
                      </a:r>
                      <a:r>
                        <a:rPr lang="zh-CN" altLang="en-US" sz="1400" b="1">
                          <a:effectLst/>
                        </a:rPr>
                        <a:t>对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书院文化↔西樵山遗址（有载体未体验化）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91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❌ </a:t>
                      </a:r>
                      <a:r>
                        <a:rPr lang="zh-CN" altLang="en-US" sz="1400" b="1">
                          <a:effectLst/>
                        </a:rPr>
                        <a:t>缺失</a:t>
                      </a:r>
                      <a:r>
                        <a:rPr lang="en-US" sz="1400" b="1">
                          <a:effectLst/>
                        </a:rPr>
                        <a:t>A</a:t>
                      </a:r>
                      <a:endParaRPr 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非遗名录无对应</a:t>
                      </a:r>
                      <a:r>
                        <a:rPr lang="en-US" altLang="zh-CN" sz="1400">
                          <a:effectLst/>
                        </a:rPr>
                        <a:t>POI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14</a:t>
                      </a:r>
                      <a:r>
                        <a:rPr lang="zh-CN" altLang="en-US" sz="1400" b="1">
                          <a:effectLst/>
                        </a:rPr>
                        <a:t>项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洪拳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煎堆技艺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鱼花习俗</a:t>
                      </a:r>
                      <a:r>
                        <a:rPr lang="en-US" altLang="zh-CN" sz="1400">
                          <a:effectLst/>
                        </a:rPr>
                        <a:t>·</a:t>
                      </a:r>
                      <a:r>
                        <a:rPr lang="zh-CN" altLang="en-US" sz="1400">
                          <a:effectLst/>
                        </a:rPr>
                        <a:t>灰塑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68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❌ </a:t>
                      </a:r>
                      <a:r>
                        <a:rPr lang="zh-CN" altLang="en-US" sz="1400" b="1">
                          <a:effectLst/>
                        </a:rPr>
                        <a:t>缺失</a:t>
                      </a:r>
                      <a:r>
                        <a:rPr lang="en-US" sz="1400" b="1">
                          <a:effectLst/>
                        </a:rPr>
                        <a:t>B</a:t>
                      </a:r>
                      <a:endParaRPr 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POI</a:t>
                      </a:r>
                      <a:r>
                        <a:rPr lang="zh-CN" altLang="en-US" sz="1400">
                          <a:effectLst/>
                        </a:rPr>
                        <a:t>无文化内涵支撑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6</a:t>
                      </a:r>
                      <a:r>
                        <a:rPr lang="zh-CN" altLang="en-US" sz="1400" b="1">
                          <a:effectLst/>
                        </a:rPr>
                        <a:t>个</a:t>
                      </a:r>
                      <a:endParaRPr lang="zh-CN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千灯湖</a:t>
                      </a:r>
                      <a:r>
                        <a:rPr lang="en-US" altLang="zh-CN" sz="1400" dirty="0">
                          <a:effectLst/>
                        </a:rPr>
                        <a:t>·</a:t>
                      </a:r>
                      <a:r>
                        <a:rPr lang="zh-CN" altLang="en-US" sz="1400" dirty="0">
                          <a:effectLst/>
                        </a:rPr>
                        <a:t>映月湖（现代公园缺文化灵魂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403941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5287E0C-821C-BF04-E02C-140CDF7ED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128041"/>
              </p:ext>
            </p:extLst>
          </p:nvPr>
        </p:nvGraphicFramePr>
        <p:xfrm>
          <a:off x="1030201" y="3871670"/>
          <a:ext cx="10515603" cy="295656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89653823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5354214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1254899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7033211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380243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5346687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81877596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镇街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POI</a:t>
                      </a:r>
                      <a:r>
                        <a:rPr lang="zh-CN" altLang="en-US" sz="1800">
                          <a:effectLst/>
                        </a:rPr>
                        <a:t>数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非遗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C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D</a:t>
                      </a:r>
                      <a:endParaRPr 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等级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55552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桂城街道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327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1.000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0.684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effectLst/>
                        </a:rPr>
                        <a:t>0.880</a:t>
                      </a:r>
                      <a:endParaRPr lang="zh-CN" alt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极高协调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471988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西樵镇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131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0.400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0.860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effectLst/>
                        </a:rPr>
                        <a:t>0.759</a:t>
                      </a:r>
                      <a:endParaRPr lang="zh-CN" alt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高度协调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58526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大沥镇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234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0.715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0.370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effectLst/>
                        </a:rPr>
                        <a:t>0.704</a:t>
                      </a:r>
                      <a:endParaRPr lang="zh-CN" alt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高度协调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60989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里水镇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254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0.776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0.157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effectLst/>
                        </a:rPr>
                        <a:t>0.604</a:t>
                      </a:r>
                      <a:endParaRPr lang="zh-CN" alt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高度协调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21548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狮山镇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232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0.709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0.165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effectLst/>
                        </a:rPr>
                        <a:t>0.591</a:t>
                      </a:r>
                      <a:endParaRPr lang="zh-CN" alt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中度协调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6673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九江镇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47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0.144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0.670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effectLst/>
                        </a:rPr>
                        <a:t>0.500</a:t>
                      </a:r>
                      <a:endParaRPr lang="zh-CN" alt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中度协调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439788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丹灶镇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128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0.391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</a:rPr>
                        <a:t>0.093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effectLst/>
                        </a:rPr>
                        <a:t>0.428</a:t>
                      </a:r>
                      <a:endParaRPr lang="zh-CN" altLang="en-US" sz="180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中度协调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4330"/>
                  </a:ext>
                </a:extLst>
              </a:tr>
            </a:tbl>
          </a:graphicData>
        </a:graphic>
      </p:graphicFrame>
      <p:sp>
        <p:nvSpPr>
          <p:cNvPr id="19" name="Rectangle 1">
            <a:extLst>
              <a:ext uri="{FF2B5EF4-FFF2-40B4-BE49-F238E27FC236}">
                <a16:creationId xmlns:a16="http://schemas.microsoft.com/office/drawing/2014/main" id="{1E38C276-8125-9BA0-A147-7428F9D27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02" y="38711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https://oss.jianzeppt.com/editablePptPic/isIllustration_2_isShadow_0/68fe1269-8cc2-4116-97e6-2e27b97da75f_image_024f533a16df894d6710d6aaad9f47c2_14123563.png">
            <a:extLst>
              <a:ext uri="{FF2B5EF4-FFF2-40B4-BE49-F238E27FC236}">
                <a16:creationId xmlns:a16="http://schemas.microsoft.com/office/drawing/2014/main" id="{FAC59FFD-4565-5A50-05F4-4783ABEFD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444D2A9A-8324-7F45-C0D1-68D686E16423}"/>
              </a:ext>
            </a:extLst>
          </p:cNvPr>
          <p:cNvSpPr/>
          <p:nvPr/>
        </p:nvSpPr>
        <p:spPr>
          <a:xfrm>
            <a:off x="487680" y="584301"/>
            <a:ext cx="11231270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4.4 </a:t>
            </a:r>
            <a:r>
              <a:rPr lang="zh-CN" altLang="en-US" b="1" dirty="0"/>
              <a:t>核心发现与优化建议</a:t>
            </a:r>
          </a:p>
        </p:txBody>
      </p:sp>
      <p:pic>
        <p:nvPicPr>
          <p:cNvPr id="1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25239E92-7C96-1BDD-297A-6445CEF33B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14D665F-836C-F143-6E30-936B5AFE4DBC}"/>
              </a:ext>
            </a:extLst>
          </p:cNvPr>
          <p:cNvSpPr txBox="1"/>
          <p:nvPr/>
        </p:nvSpPr>
        <p:spPr>
          <a:xfrm>
            <a:off x="418160" y="1342771"/>
            <a:ext cx="60949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强耦合集中于非遗传承基地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——"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非遗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+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基地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"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是南海最成功的文旅融合路径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西樵镇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C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值最高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(0.860)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但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T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值偏低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(0.400)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——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文化资源丰富但旅游产品化不足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桂城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D=0.880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为全区标杆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——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现代设施密集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+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非遗基地集中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九江镇典型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"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文化富集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-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旅游贫乏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——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非遗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项但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POI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仅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47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个</a:t>
            </a:r>
          </a:p>
          <a:p>
            <a:pPr algn="l">
              <a:buFont typeface="+mj-lt"/>
              <a:buAutoNum type="arabicPeriod"/>
            </a:pP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14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项文化资源未转化为旅游产品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——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洪拳、煎堆技艺、鱼花习俗等省级非遗无载体</a:t>
            </a:r>
          </a:p>
          <a:p>
            <a:pPr algn="l">
              <a:buFont typeface="+mj-lt"/>
              <a:buAutoNum type="arabicPeriod"/>
            </a:pP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6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个景点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"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有形无魂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——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千灯湖等现代公园文化内涵薄弱</a:t>
            </a:r>
          </a:p>
          <a:p>
            <a:pPr algn="l">
              <a:buFont typeface="+mj-lt"/>
              <a:buAutoNum type="arabicPeriod"/>
            </a:pP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POI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热力与非遗热力空间错位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——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中心城区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-apple-system"/>
              </a:rPr>
              <a:t>vs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西南文化带缺乏衔接</a:t>
            </a:r>
          </a:p>
          <a:p>
            <a:pPr algn="l">
              <a:spcAft>
                <a:spcPts val="1200"/>
              </a:spcAft>
              <a:buNone/>
            </a:pP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【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右栏 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— 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-apple-system"/>
              </a:rPr>
              <a:t>六条优化建议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-apple-system"/>
              </a:rPr>
              <a:t>】</a:t>
            </a:r>
            <a:endParaRPr lang="zh-CN" altLang="en-US" sz="14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9AA0B7E7-FFA7-FA67-877C-E85C14C5B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138840"/>
              </p:ext>
            </p:extLst>
          </p:nvPr>
        </p:nvGraphicFramePr>
        <p:xfrm>
          <a:off x="3551122" y="3695472"/>
          <a:ext cx="6955395" cy="2861310"/>
        </p:xfrm>
        <a:graphic>
          <a:graphicData uri="http://schemas.openxmlformats.org/drawingml/2006/table">
            <a:tbl>
              <a:tblPr/>
              <a:tblGrid>
                <a:gridCol w="760486">
                  <a:extLst>
                    <a:ext uri="{9D8B030D-6E8A-4147-A177-3AD203B41FA5}">
                      <a16:colId xmlns:a16="http://schemas.microsoft.com/office/drawing/2014/main" val="488180721"/>
                    </a:ext>
                  </a:extLst>
                </a:gridCol>
                <a:gridCol w="1429129">
                  <a:extLst>
                    <a:ext uri="{9D8B030D-6E8A-4147-A177-3AD203B41FA5}">
                      <a16:colId xmlns:a16="http://schemas.microsoft.com/office/drawing/2014/main" val="4237092011"/>
                    </a:ext>
                  </a:extLst>
                </a:gridCol>
                <a:gridCol w="4765780">
                  <a:extLst>
                    <a:ext uri="{9D8B030D-6E8A-4147-A177-3AD203B41FA5}">
                      <a16:colId xmlns:a16="http://schemas.microsoft.com/office/drawing/2014/main" val="793425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编号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策略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具体措施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433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①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非遗旅游化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洪拳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煎堆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鱼花等省级非遗 → 建体验型传习所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65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②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文化注入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千灯湖等公园 → 定期十番音乐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醒狮表演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5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③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书院活化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西樵山 → 复原书院场景、理学体验课程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23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④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美食集群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九江镇 → 双蒸酒</a:t>
                      </a:r>
                      <a:r>
                        <a:rPr lang="en-US" altLang="zh-CN">
                          <a:effectLst/>
                        </a:rPr>
                        <a:t>+</a:t>
                      </a:r>
                      <a:r>
                        <a:rPr lang="zh-CN" altLang="en-US">
                          <a:effectLst/>
                        </a:rPr>
                        <a:t>煎堆</a:t>
                      </a:r>
                      <a:r>
                        <a:rPr lang="en-US" altLang="zh-CN">
                          <a:effectLst/>
                        </a:rPr>
                        <a:t>+</a:t>
                      </a:r>
                      <a:r>
                        <a:rPr lang="zh-CN" altLang="en-US">
                          <a:effectLst/>
                        </a:rPr>
                        <a:t>鱼花</a:t>
                      </a:r>
                      <a:r>
                        <a:rPr lang="en-US" altLang="zh-CN">
                          <a:effectLst/>
                        </a:rPr>
                        <a:t>+</a:t>
                      </a:r>
                      <a:r>
                        <a:rPr lang="zh-CN" altLang="en-US">
                          <a:effectLst/>
                        </a:rPr>
                        <a:t>酱油主题线路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942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⑤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古村连线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松塘→烟桥→仙岗→孔村 → 连线旅游路线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310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⑥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IP</a:t>
                      </a:r>
                      <a:r>
                        <a:rPr lang="zh-CN" altLang="en-US">
                          <a:effectLst/>
                        </a:rPr>
                        <a:t>深挖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丹灶镇 → 康有为文化</a:t>
                      </a:r>
                      <a:r>
                        <a:rPr lang="en-US" altLang="zh-CN" dirty="0">
                          <a:effectLst/>
                        </a:rPr>
                        <a:t>IP + </a:t>
                      </a:r>
                      <a:r>
                        <a:rPr lang="zh-CN" altLang="en-US" dirty="0">
                          <a:effectLst/>
                        </a:rPr>
                        <a:t>葛洪炼丹遗迹串联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48869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d893cf6e0c69a5aebb895e452fea6df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9226" y="1736370"/>
            <a:ext cx="10993549" cy="1903302"/>
          </a:xfrm>
          <a:prstGeom prst="rect">
            <a:avLst/>
          </a:prstGeom>
        </p:spPr>
      </p:pic>
      <p:pic>
        <p:nvPicPr>
          <p:cNvPr id="3" name="Image 1" descr="https://test.web.static.jianzeppt.com/ppt-temp-img3/d0534efa41b1f51160faca16017f442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test.web.static.jianzeppt.com/ppt-temp-img3/ea10a1b4d492c6cee0342316e7515b25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pic>
        <p:nvPicPr>
          <p:cNvPr id="5" name="Image 3" descr="https://oss.jianzeppt.com/editablePptPic/isIllustration_1_isShadow_0/18102cb5-5882-4151-ac19-4286f52a0323_image_90819cb7d4a6a1eecbd1ae23dec6207e_1412356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73617" y="399619"/>
            <a:ext cx="2519157" cy="99186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45853" y="2451374"/>
            <a:ext cx="10100294" cy="1231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>
              <a:lnSpc>
                <a:spcPts val="4320"/>
              </a:lnSpc>
            </a:pPr>
            <a:r>
              <a:rPr lang="zh-CN" altLang="en-US" sz="54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 pitchFamily="34" charset="-120"/>
              </a:rPr>
              <a:t>感</a:t>
            </a:r>
            <a:r>
              <a:rPr lang="en-US" sz="54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 pitchFamily="34" charset="-120"/>
              </a:rPr>
              <a:t>谢</a:t>
            </a:r>
            <a:r>
              <a:rPr lang="zh-CN" altLang="en-US" sz="54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 pitchFamily="34" charset="-120"/>
              </a:rPr>
              <a:t>倾听</a:t>
            </a:r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1053168" y="3865855"/>
            <a:ext cx="10100294" cy="1247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>
              <a:lnSpc>
                <a:spcPts val="2458"/>
              </a:lnSpc>
            </a:pPr>
            <a:endParaRPr lang="en-US" sz="2048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1290</TotalTime>
  <Words>1912</Words>
  <Application>Microsoft Office PowerPoint</Application>
  <PresentationFormat>宽屏</PresentationFormat>
  <Paragraphs>393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-apple-system</vt:lpstr>
      <vt:lpstr>等线</vt:lpstr>
      <vt:lpstr>等线 Light</vt:lpstr>
      <vt:lpstr>微软雅黑</vt:lpstr>
      <vt:lpstr>Arial</vt:lpstr>
      <vt:lpstr>Consolas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117</cp:revision>
  <dcterms:created xsi:type="dcterms:W3CDTF">2026-01-04T14:20:42Z</dcterms:created>
  <dcterms:modified xsi:type="dcterms:W3CDTF">2026-03-30T13:04:51Z</dcterms:modified>
</cp:coreProperties>
</file>