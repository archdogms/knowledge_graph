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notesSlides/notesSlide1.xml" ContentType="application/vnd.openxmlformats-officedocument.presentationml.notesSlide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68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3" d="100"/>
          <a:sy n="153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B691FD-C0A5-471A-8868-FCDA83FE4C83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D081CC-65C5-4300-B908-D7BDD051B3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1336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5" Type="http://schemas.openxmlformats.org/officeDocument/2006/relationships/slide" Target="../slides/slide1.xml"/><Relationship Id="rId4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8FC62A-618B-5548-BE2D-7F00275EA2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D3036A1-A47A-9001-94E9-E359A25E4E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5EE18F1-98C0-E789-4F38-977B4B4DB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CD108-A244-47A1-812A-3993BB25A90A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C981517-17A6-714D-C9FA-8567ACF1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321C787-23FE-0211-29CD-63779FD19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B9E00-A4E1-45C4-A258-24548B2903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227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0709E5-EA3D-7D4B-83FC-478592091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2A68DC-E84C-E04E-15EE-003BF822DE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E722250-B89C-6C19-0AB3-FE16B1952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CD108-A244-47A1-812A-3993BB25A90A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900460B-79BD-39F8-BA1E-72C02CC21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0881311-1FFD-E1E0-8245-AACD7A3A8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B9E00-A4E1-45C4-A258-24548B2903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7436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62C6EC-CC4E-33B9-32A3-A83273E83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3B76615-2760-9032-FF28-03E459EEFF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74A5776-7CCF-E98A-5DAD-C671A526FC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CD108-A244-47A1-812A-3993BB25A90A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D39802-FA35-4C09-7620-76DAB9A63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D3395B9-9F2E-9113-9302-A55045214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B9E00-A4E1-45C4-A258-24548B2903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00594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87E1DA-7230-DDA4-B89C-1E64BF0E1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617A933-67DA-4A9A-51F0-DE33364A04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97F24C9-838D-FF02-B2F1-F6FDEE8CF1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6570F75-0F12-B016-4B71-836B03BFF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CD108-A244-47A1-812A-3993BB25A90A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67DFB77-6C92-1147-73CD-2E79EA7D1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0DB233-D192-5440-9CBC-86E64CD0B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B9E00-A4E1-45C4-A258-24548B2903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3987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2250F3-E6B5-905C-E63B-3170A82D7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6A607E-F219-B320-1215-029E87A420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1A7ECCF-F982-068A-AA05-BC40D8FAE9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B5B038F-D585-0111-D6A5-52BE40E4FB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29FEC2D-881B-E401-B78A-01CE4583E7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73C1EE6-0247-DE48-294D-E3B4EDB51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CD108-A244-47A1-812A-3993BB25A90A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CA271F0-E93F-7F7B-3B25-B4ECB0757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2EA4F0E-EE49-32B2-7443-687198DCE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B9E00-A4E1-45C4-A258-24548B2903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9313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EEF780-B7ED-5F87-A58D-4D675DC3F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44D350D-6926-D345-2C55-3C544F358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CD108-A244-47A1-812A-3993BB25A90A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FFC903A-EF12-20E4-AA81-5ACD88908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A7D5913-3373-BF50-275B-CB7926A7F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B9E00-A4E1-45C4-A258-24548B2903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99431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1D0E83F-B922-EC71-9A83-D164EE814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CD108-A244-47A1-812A-3993BB25A90A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7016B2C-E0DF-5C25-9E96-ABB02B81E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2A2BBFE-8C56-A263-D5B5-206D7693D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B9E00-A4E1-45C4-A258-24548B2903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6687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E9182E-A9B5-47CE-2204-EEA8BD027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DCE86D9-BC9F-8AE6-11FF-D4AF0B7F06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54238AA-EFC6-EFAF-34E6-792C541A4B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A1D637-A782-9DBF-090B-7E0461EB7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CD108-A244-47A1-812A-3993BB25A90A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B46653F-70B7-F15E-06A8-5BD876C80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EAC3A53-92C9-6A3B-14E3-1D93ED09D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B9E00-A4E1-45C4-A258-24548B2903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2633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17CF40-3528-42E4-CCA3-C87E7F503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89FD68F-C333-1FCF-CF0B-9FD36AE05B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3280948-E954-DEBF-DE25-885587BA38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54F32E2-42DC-7614-2797-4AF061978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CD108-A244-47A1-812A-3993BB25A90A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1C333EF-87F0-75B0-4F41-9BDB6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36B454A-16B2-A2DD-14B5-3944F0D52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B9E00-A4E1-45C4-A258-24548B2903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128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F49880-886A-EB8A-2C48-042CF3C2D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172458D-1649-42D1-7EE3-484D26F4BB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5F2053-6F9B-CAC9-6769-08345E23E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CD108-A244-47A1-812A-3993BB25A90A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98E928-0FEC-3F04-DEB2-0B3B2F721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016C3A6-51A2-0251-5236-0E012B8C6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B9E00-A4E1-45C4-A258-24548B2903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13179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183BF62-229A-0E03-E24C-36C0EF91C5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36EE444-8003-6981-4EE9-8E8AAC7AA2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19ABB6-5D55-83CB-A732-35D798A9C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CD108-A244-47A1-812A-3993BB25A90A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4B74E1C-713C-E477-A0ED-CBB498337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43ABD1-54A6-C5E1-DB8B-4A0AF4B02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B9E00-A4E1-45C4-A258-24548B2903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35319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5902961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84357C3-1DA8-40F8-6054-3FF6D2ECB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D6533E0-5D05-0995-B051-C88F737E59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2122B2C-8104-DC2A-8513-3486CFA28E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ECD108-A244-47A1-812A-3993BB25A90A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8E40633-2793-374C-6946-B003A947CD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A661A9B-6668-0BA3-7073-E1FD957A78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B9E00-A4E1-45C4-A258-24548B2903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04797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26" Type="http://schemas.openxmlformats.org/officeDocument/2006/relationships/tags" Target="../tags/tag26.xml"/><Relationship Id="rId39" Type="http://schemas.openxmlformats.org/officeDocument/2006/relationships/image" Target="../media/image4.svg"/><Relationship Id="rId21" Type="http://schemas.openxmlformats.org/officeDocument/2006/relationships/tags" Target="../tags/tag21.xml"/><Relationship Id="rId34" Type="http://schemas.openxmlformats.org/officeDocument/2006/relationships/slideLayout" Target="../slideLayouts/slideLayout12.xml"/><Relationship Id="rId42" Type="http://schemas.openxmlformats.org/officeDocument/2006/relationships/image" Target="../media/image7.png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0" Type="http://schemas.openxmlformats.org/officeDocument/2006/relationships/tags" Target="../tags/tag20.xml"/><Relationship Id="rId29" Type="http://schemas.openxmlformats.org/officeDocument/2006/relationships/tags" Target="../tags/tag29.xml"/><Relationship Id="rId41" Type="http://schemas.openxmlformats.org/officeDocument/2006/relationships/image" Target="../media/image6.sv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24" Type="http://schemas.openxmlformats.org/officeDocument/2006/relationships/tags" Target="../tags/tag24.xml"/><Relationship Id="rId32" Type="http://schemas.openxmlformats.org/officeDocument/2006/relationships/tags" Target="../tags/tag32.xml"/><Relationship Id="rId37" Type="http://schemas.openxmlformats.org/officeDocument/2006/relationships/image" Target="../media/image2.png"/><Relationship Id="rId40" Type="http://schemas.openxmlformats.org/officeDocument/2006/relationships/image" Target="../media/image5.png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image" Target="../media/image1.png"/><Relationship Id="rId10" Type="http://schemas.openxmlformats.org/officeDocument/2006/relationships/tags" Target="../tags/tag10.xml"/><Relationship Id="rId19" Type="http://schemas.openxmlformats.org/officeDocument/2006/relationships/tags" Target="../tags/tag19.xml"/><Relationship Id="rId31" Type="http://schemas.openxmlformats.org/officeDocument/2006/relationships/tags" Target="../tags/tag31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30" Type="http://schemas.openxmlformats.org/officeDocument/2006/relationships/tags" Target="../tags/tag30.xml"/><Relationship Id="rId35" Type="http://schemas.openxmlformats.org/officeDocument/2006/relationships/notesSlide" Target="../notesSlides/notesSlide1.xml"/><Relationship Id="rId43" Type="http://schemas.openxmlformats.org/officeDocument/2006/relationships/image" Target="../media/image8.png"/><Relationship Id="rId8" Type="http://schemas.openxmlformats.org/officeDocument/2006/relationships/tags" Target="../tags/tag8.xml"/><Relationship Id="rId3" Type="http://schemas.openxmlformats.org/officeDocument/2006/relationships/tags" Target="../tags/tag3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2_isShadow_0/44fd407f-6289-4c0d-9da8-5615dc49cf12_image_024f533a16df894d6710d6aaad9f47c2_14123563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6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7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grpSp>
        <p:nvGrpSpPr>
          <p:cNvPr id="37" name="组合 36"/>
          <p:cNvGrpSpPr/>
          <p:nvPr>
            <p:custDataLst>
              <p:tags r:id="rId3"/>
            </p:custDataLst>
          </p:nvPr>
        </p:nvGrpSpPr>
        <p:grpSpPr>
          <a:xfrm>
            <a:off x="4669827" y="1434142"/>
            <a:ext cx="3246120" cy="2331720"/>
            <a:chOff x="-635000" y="-635000"/>
            <a:chExt cx="3246120" cy="2331720"/>
          </a:xfrm>
        </p:grpSpPr>
        <p:pic>
          <p:nvPicPr>
            <p:cNvPr id="38" name="Image 2" descr="TEMP_Z_ORDER_2"/>
            <p:cNvPicPr>
              <a:picLocks noChangeAspect="1"/>
            </p:cNvPicPr>
            <p:nvPr>
              <p:custDataLst>
                <p:tags r:id="rId31"/>
              </p:custDataLst>
            </p:nvPr>
          </p:nvPicPr>
          <p:blipFill>
            <a:blip r:embed="rId38">
              <a:extLst>
                <a:ext uri="{96DAC541-7B7A-43D3-8B79-37D633B846F1}">
                  <asvg:svgBlip xmlns:asvg="http://schemas.microsoft.com/office/drawing/2016/SVG/main" r:embed="rId39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3246120" cy="2331720"/>
            </a:xfrm>
            <a:prstGeom prst="rect">
              <a:avLst/>
            </a:prstGeom>
          </p:spPr>
        </p:pic>
        <p:sp>
          <p:nvSpPr>
            <p:cNvPr id="39" name="Text 0" descr="TEMP_Z_ORDER_3"/>
            <p:cNvSpPr/>
            <p:nvPr>
              <p:custDataLst>
                <p:tags r:id="rId32"/>
              </p:custDataLst>
            </p:nvPr>
          </p:nvSpPr>
          <p:spPr>
            <a:xfrm>
              <a:off x="-436880" y="-436880"/>
              <a:ext cx="2859024" cy="3512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880"/>
                </a:lnSpc>
                <a:buNone/>
              </a:pPr>
              <a:r>
                <a:rPr lang="en-US" sz="1920">
                  <a:solidFill>
                    <a:srgbClr val="5A076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数据采集层</a:t>
              </a:r>
              <a:endParaRPr lang="en-US" sz="1920"/>
            </a:p>
          </p:txBody>
        </p:sp>
        <p:sp>
          <p:nvSpPr>
            <p:cNvPr id="40" name="Text 1" descr="TEMP_Z_ORDER_4"/>
            <p:cNvSpPr/>
            <p:nvPr>
              <p:custDataLst>
                <p:tags r:id="rId33"/>
              </p:custDataLst>
            </p:nvPr>
          </p:nvSpPr>
          <p:spPr>
            <a:xfrm>
              <a:off x="-436880" y="-10160"/>
              <a:ext cx="2859024" cy="114018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822"/>
                </a:lnSpc>
                <a:buNone/>
              </a:pPr>
              <a:r>
                <a:rPr 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典籍PDF用RapidOCR·12线程并行→53篇541万字；</a:t>
              </a:r>
            </a:p>
            <a:p>
              <a:pPr marL="0" indent="0" algn="l">
                <a:lnSpc>
                  <a:spcPts val="1822"/>
                </a:lnSpc>
                <a:buNone/>
              </a:pPr>
              <a:r>
                <a:rPr 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高德API+百度Place→13,113条POI；</a:t>
              </a:r>
            </a:p>
            <a:p>
              <a:pPr marL="0" indent="0" algn="l">
                <a:lnSpc>
                  <a:spcPts val="1822"/>
                </a:lnSpc>
                <a:buNone/>
              </a:pPr>
              <a:r>
                <a:rPr lang="en-US" sz="1320" dirty="0" err="1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高德</a:t>
              </a:r>
              <a:r>
                <a:rPr 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/</a:t>
              </a:r>
              <a:r>
                <a:rPr lang="en-US" sz="1320" dirty="0" err="1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携程</a:t>
              </a:r>
              <a:r>
                <a:rPr 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/</a:t>
              </a:r>
              <a:r>
                <a:rPr lang="en-US" sz="1320" dirty="0" err="1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去哪儿</a:t>
              </a:r>
              <a:r>
                <a:rPr 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/马蜂窝→16,391条评论。</a:t>
              </a:r>
              <a:endParaRPr lang="en-US" sz="1320" dirty="0"/>
            </a:p>
          </p:txBody>
        </p:sp>
      </p:grpSp>
      <p:sp>
        <p:nvSpPr>
          <p:cNvPr id="7" name="Text 2"/>
          <p:cNvSpPr/>
          <p:nvPr>
            <p:custDataLst>
              <p:tags r:id="rId4"/>
            </p:custDataLst>
          </p:nvPr>
        </p:nvSpPr>
        <p:spPr>
          <a:xfrm>
            <a:off x="3977640" y="1508760"/>
            <a:ext cx="466344" cy="548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4320"/>
              </a:lnSpc>
              <a:buNone/>
            </a:pPr>
            <a:r>
              <a:rPr lang="en-US" sz="3600">
                <a:solidFill>
                  <a:srgbClr val="727478"/>
                </a:solidFill>
                <a:latin typeface="思源黑体 CN"/>
                <a:ea typeface="思源黑体 CN"/>
                <a:cs typeface="思源黑体 CN"/>
              </a:rPr>
              <a:t>→</a:t>
            </a:r>
            <a:endParaRPr lang="en-US" sz="3600"/>
          </a:p>
        </p:txBody>
      </p:sp>
      <p:grpSp>
        <p:nvGrpSpPr>
          <p:cNvPr id="41" name="组合 40"/>
          <p:cNvGrpSpPr/>
          <p:nvPr>
            <p:custDataLst>
              <p:tags r:id="rId5"/>
            </p:custDataLst>
          </p:nvPr>
        </p:nvGrpSpPr>
        <p:grpSpPr>
          <a:xfrm>
            <a:off x="8336282" y="1487190"/>
            <a:ext cx="3246120" cy="2331720"/>
            <a:chOff x="-635000" y="-635000"/>
            <a:chExt cx="3246120" cy="2331720"/>
          </a:xfrm>
        </p:grpSpPr>
        <p:pic>
          <p:nvPicPr>
            <p:cNvPr id="42" name="Image 3" descr="TEMP_Z_ORDER_6"/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 r:embed="rId38">
              <a:extLst>
                <a:ext uri="{96DAC541-7B7A-43D3-8B79-37D633B846F1}">
                  <asvg:svgBlip xmlns:asvg="http://schemas.microsoft.com/office/drawing/2016/SVG/main" r:embed="rId39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3246120" cy="2331720"/>
            </a:xfrm>
            <a:prstGeom prst="rect">
              <a:avLst/>
            </a:prstGeom>
          </p:spPr>
        </p:pic>
        <p:sp>
          <p:nvSpPr>
            <p:cNvPr id="43" name="Text 3" descr="TEMP_Z_ORDER_7"/>
            <p:cNvSpPr/>
            <p:nvPr>
              <p:custDataLst>
                <p:tags r:id="rId29"/>
              </p:custDataLst>
            </p:nvPr>
          </p:nvSpPr>
          <p:spPr>
            <a:xfrm>
              <a:off x="-436880" y="-436880"/>
              <a:ext cx="2859024" cy="3512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880"/>
                </a:lnSpc>
                <a:buNone/>
              </a:pPr>
              <a:r>
                <a:rPr lang="en-US" sz="1920">
                  <a:solidFill>
                    <a:srgbClr val="5A076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数据处理层</a:t>
              </a:r>
              <a:endParaRPr lang="en-US" sz="1920"/>
            </a:p>
          </p:txBody>
        </p:sp>
        <p:sp>
          <p:nvSpPr>
            <p:cNvPr id="44" name="Text 4" descr="TEMP_Z_ORDER_8"/>
            <p:cNvSpPr/>
            <p:nvPr>
              <p:custDataLst>
                <p:tags r:id="rId30"/>
              </p:custDataLst>
            </p:nvPr>
          </p:nvSpPr>
          <p:spPr>
            <a:xfrm>
              <a:off x="-436880" y="-10160"/>
              <a:ext cx="2859024" cy="90935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822"/>
                </a:lnSpc>
                <a:buNone/>
              </a:pPr>
              <a:r>
                <a:rPr lang="en-US" sz="1320" dirty="0" err="1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编号索引统一格式</a:t>
              </a:r>
              <a:r>
                <a:rPr 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；</a:t>
              </a:r>
            </a:p>
            <a:p>
              <a:pPr marL="0" indent="0" algn="l">
                <a:lnSpc>
                  <a:spcPts val="1822"/>
                </a:lnSpc>
                <a:buNone/>
              </a:pPr>
              <a:r>
                <a:rPr 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去重融合11类分类 </a:t>
              </a:r>
            </a:p>
            <a:p>
              <a:pPr marL="0" indent="0" algn="l">
                <a:lnSpc>
                  <a:spcPts val="1822"/>
                </a:lnSpc>
                <a:buNone/>
              </a:pPr>
              <a:r>
                <a:rPr 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(</a:t>
              </a:r>
              <a:r>
                <a:rPr lang="zh-CN" alt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本地</a:t>
              </a:r>
              <a:r>
                <a:rPr lang="en-US" sz="1320" dirty="0" err="1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Ollama</a:t>
              </a:r>
              <a:r>
                <a:rPr lang="zh-CN" alt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大模型</a:t>
              </a:r>
              <a:r>
                <a:rPr 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)</a:t>
              </a:r>
              <a:r>
                <a:rPr lang="en-US" sz="1320" dirty="0" err="1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纠正类别</a:t>
              </a:r>
              <a:r>
                <a:rPr 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；</a:t>
              </a:r>
            </a:p>
            <a:p>
              <a:pPr marL="0" indent="0" algn="l">
                <a:lnSpc>
                  <a:spcPts val="1822"/>
                </a:lnSpc>
                <a:buNone/>
              </a:pPr>
              <a:r>
                <a:rPr lang="en-US" sz="1320" dirty="0" err="1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评论五段式匹配POI</a:t>
              </a:r>
              <a:endParaRPr lang="en-US" sz="1320" dirty="0"/>
            </a:p>
          </p:txBody>
        </p:sp>
      </p:grpSp>
      <p:sp>
        <p:nvSpPr>
          <p:cNvPr id="11" name="Text 5"/>
          <p:cNvSpPr/>
          <p:nvPr>
            <p:custDataLst>
              <p:tags r:id="rId6"/>
            </p:custDataLst>
          </p:nvPr>
        </p:nvSpPr>
        <p:spPr>
          <a:xfrm>
            <a:off x="7833360" y="1508760"/>
            <a:ext cx="466344" cy="548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4320"/>
              </a:lnSpc>
              <a:buNone/>
            </a:pPr>
            <a:r>
              <a:rPr lang="en-US" sz="3600">
                <a:solidFill>
                  <a:srgbClr val="727478"/>
                </a:solidFill>
                <a:latin typeface="思源黑体 CN"/>
                <a:ea typeface="思源黑体 CN"/>
                <a:cs typeface="思源黑体 CN"/>
              </a:rPr>
              <a:t>→</a:t>
            </a:r>
            <a:endParaRPr lang="en-US" sz="3600"/>
          </a:p>
        </p:txBody>
      </p:sp>
      <p:grpSp>
        <p:nvGrpSpPr>
          <p:cNvPr id="24" name="组合 23"/>
          <p:cNvGrpSpPr/>
          <p:nvPr>
            <p:custDataLst>
              <p:tags r:id="rId7"/>
            </p:custDataLst>
          </p:nvPr>
        </p:nvGrpSpPr>
        <p:grpSpPr>
          <a:xfrm>
            <a:off x="8579716" y="4267200"/>
            <a:ext cx="3246120" cy="2855366"/>
            <a:chOff x="-635000" y="-635000"/>
            <a:chExt cx="3246120" cy="2855366"/>
          </a:xfrm>
        </p:grpSpPr>
        <p:pic>
          <p:nvPicPr>
            <p:cNvPr id="25" name="Image 4" descr="TEMP_Z_ORDER_10"/>
            <p:cNvPicPr>
              <a:picLocks noChangeAspect="1"/>
            </p:cNvPicPr>
            <p:nvPr>
              <p:custDataLst>
                <p:tags r:id="rId24"/>
              </p:custDataLst>
            </p:nvPr>
          </p:nvPicPr>
          <p:blipFill>
            <a:blip r:embed="rId38">
              <a:extLst>
                <a:ext uri="{96DAC541-7B7A-43D3-8B79-37D633B846F1}">
                  <asvg:svgBlip xmlns:asvg="http://schemas.microsoft.com/office/drawing/2016/SVG/main" r:embed="rId39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3246120" cy="2331720"/>
            </a:xfrm>
            <a:prstGeom prst="rect">
              <a:avLst/>
            </a:prstGeom>
          </p:spPr>
        </p:pic>
        <p:sp>
          <p:nvSpPr>
            <p:cNvPr id="26" name="Text 6" descr="TEMP_Z_ORDER_11"/>
            <p:cNvSpPr/>
            <p:nvPr>
              <p:custDataLst>
                <p:tags r:id="rId25"/>
              </p:custDataLst>
            </p:nvPr>
          </p:nvSpPr>
          <p:spPr>
            <a:xfrm>
              <a:off x="-436880" y="-436880"/>
              <a:ext cx="2859024" cy="3512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880"/>
                </a:lnSpc>
                <a:buNone/>
              </a:pPr>
              <a:r>
                <a:rPr lang="en-US" sz="1920">
                  <a:solidFill>
                    <a:srgbClr val="5A076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知识抽取层</a:t>
              </a:r>
              <a:endParaRPr lang="en-US" sz="1920"/>
            </a:p>
          </p:txBody>
        </p:sp>
        <p:sp>
          <p:nvSpPr>
            <p:cNvPr id="27" name="Text 7" descr="TEMP_Z_ORDER_12"/>
            <p:cNvSpPr/>
            <p:nvPr>
              <p:custDataLst>
                <p:tags r:id="rId26"/>
              </p:custDataLst>
            </p:nvPr>
          </p:nvSpPr>
          <p:spPr>
            <a:xfrm>
              <a:off x="-436880" y="-10160"/>
              <a:ext cx="2859024" cy="137101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822"/>
                </a:lnSpc>
                <a:buNone/>
              </a:pPr>
              <a:r>
                <a:rPr lang="en-US" sz="1320" dirty="0" err="1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千问API</a:t>
              </a:r>
              <a:r>
                <a:rPr 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(qwen-3.5-plus)</a:t>
              </a:r>
              <a:r>
                <a:rPr lang="en-US" sz="1320" dirty="0" err="1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多线程并发</a:t>
              </a:r>
              <a:r>
                <a:rPr 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·</a:t>
              </a:r>
            </a:p>
            <a:p>
              <a:pPr marL="0" indent="0" algn="l">
                <a:lnSpc>
                  <a:spcPts val="1822"/>
                </a:lnSpc>
                <a:buNone/>
              </a:pPr>
              <a:r>
                <a:rPr 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；</a:t>
              </a:r>
              <a:r>
                <a:rPr lang="en-US" sz="1320" dirty="0" err="1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实体抽取</a:t>
              </a:r>
              <a:endParaRPr lang="en-US" sz="1320" dirty="0">
                <a:solidFill>
                  <a:srgbClr val="4B5563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endParaRPr>
            </a:p>
            <a:p>
              <a:pPr marL="0" indent="0" algn="l">
                <a:lnSpc>
                  <a:spcPts val="1822"/>
                </a:lnSpc>
                <a:buNone/>
              </a:pPr>
              <a:r>
                <a:rPr 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(</a:t>
              </a:r>
              <a:r>
                <a:rPr lang="zh-CN" alt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研究</a:t>
              </a:r>
              <a:r>
                <a:rPr lang="en-US" sz="132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分类6大类28小类+官方分类8大类)→8,048实体；关系抽取(9大关系组·开放式谓词·每条附证据)→19,382关系。</a:t>
              </a:r>
              <a:endParaRPr lang="en-US" sz="1320" dirty="0"/>
            </a:p>
          </p:txBody>
        </p:sp>
        <p:sp>
          <p:nvSpPr>
            <p:cNvPr id="28" name="Text 8" descr="TEMP_Z_ORDER_13"/>
            <p:cNvSpPr/>
            <p:nvPr>
              <p:custDataLst>
                <p:tags r:id="rId27"/>
              </p:custDataLst>
            </p:nvPr>
          </p:nvSpPr>
          <p:spPr>
            <a:xfrm>
              <a:off x="1132840" y="1666240"/>
              <a:ext cx="386413" cy="55412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4320"/>
                </a:lnSpc>
                <a:buNone/>
              </a:pPr>
              <a:r>
                <a:rPr lang="en-US" sz="3600">
                  <a:solidFill>
                    <a:srgbClr val="727478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↓</a:t>
              </a:r>
              <a:endParaRPr lang="en-US" sz="3600"/>
            </a:p>
          </p:txBody>
        </p:sp>
      </p:grpSp>
      <p:grpSp>
        <p:nvGrpSpPr>
          <p:cNvPr id="29" name="组合 28"/>
          <p:cNvGrpSpPr/>
          <p:nvPr>
            <p:custDataLst>
              <p:tags r:id="rId8"/>
            </p:custDataLst>
          </p:nvPr>
        </p:nvGrpSpPr>
        <p:grpSpPr>
          <a:xfrm>
            <a:off x="609600" y="4328160"/>
            <a:ext cx="3368040" cy="2087880"/>
            <a:chOff x="-635000" y="-635000"/>
            <a:chExt cx="3368040" cy="2087880"/>
          </a:xfrm>
        </p:grpSpPr>
        <p:pic>
          <p:nvPicPr>
            <p:cNvPr id="30" name="Image 5" descr="TEMP_Z_ORDER_14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3368040" cy="2087880"/>
            </a:xfrm>
            <a:prstGeom prst="rect">
              <a:avLst/>
            </a:prstGeom>
          </p:spPr>
        </p:pic>
        <p:sp>
          <p:nvSpPr>
            <p:cNvPr id="31" name="Text 9" descr="TEMP_Z_ORDER_15"/>
            <p:cNvSpPr/>
            <p:nvPr>
              <p:custDataLst>
                <p:tags r:id="rId22"/>
              </p:custDataLst>
            </p:nvPr>
          </p:nvSpPr>
          <p:spPr>
            <a:xfrm>
              <a:off x="-436880" y="-436880"/>
              <a:ext cx="2980944" cy="3512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880"/>
                </a:lnSpc>
                <a:buNone/>
              </a:pPr>
              <a:r>
                <a:rPr lang="en-US" sz="1920">
                  <a:solidFill>
                    <a:srgbClr val="5A076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分析应用层</a:t>
              </a:r>
              <a:endParaRPr lang="en-US" sz="1920"/>
            </a:p>
          </p:txBody>
        </p:sp>
        <p:sp>
          <p:nvSpPr>
            <p:cNvPr id="32" name="Text 10" descr="TEMP_Z_ORDER_16"/>
            <p:cNvSpPr/>
            <p:nvPr>
              <p:custDataLst>
                <p:tags r:id="rId23"/>
              </p:custDataLst>
            </p:nvPr>
          </p:nvSpPr>
          <p:spPr>
            <a:xfrm>
              <a:off x="-436880" y="-10160"/>
              <a:ext cx="2980944" cy="91945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822"/>
                </a:lnSpc>
                <a:buNone/>
              </a:pPr>
              <a:r>
                <a:rPr lang="en-US" sz="132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图谱NER提及+非遗名录+POI库→非遗耦合分析(四象限+协调度D值)；POI+非遗坐标→空间格局分析(KDE+DBSCAN)。</a:t>
              </a:r>
              <a:endParaRPr lang="en-US" sz="1320"/>
            </a:p>
          </p:txBody>
        </p:sp>
      </p:grpSp>
      <p:sp>
        <p:nvSpPr>
          <p:cNvPr id="19" name="Text 11"/>
          <p:cNvSpPr/>
          <p:nvPr>
            <p:custDataLst>
              <p:tags r:id="rId9"/>
            </p:custDataLst>
          </p:nvPr>
        </p:nvSpPr>
        <p:spPr>
          <a:xfrm>
            <a:off x="4099560" y="4328160"/>
            <a:ext cx="466344" cy="548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4320"/>
              </a:lnSpc>
              <a:buNone/>
            </a:pPr>
            <a:r>
              <a:rPr lang="en-US" sz="3600">
                <a:solidFill>
                  <a:srgbClr val="727478"/>
                </a:solidFill>
                <a:latin typeface="思源黑体 CN"/>
                <a:ea typeface="思源黑体 CN"/>
                <a:cs typeface="思源黑体 CN"/>
              </a:rPr>
              <a:t>←</a:t>
            </a:r>
            <a:endParaRPr lang="en-US" sz="3600"/>
          </a:p>
        </p:txBody>
      </p:sp>
      <p:grpSp>
        <p:nvGrpSpPr>
          <p:cNvPr id="33" name="组合 32"/>
          <p:cNvGrpSpPr/>
          <p:nvPr>
            <p:custDataLst>
              <p:tags r:id="rId10"/>
            </p:custDataLst>
          </p:nvPr>
        </p:nvGrpSpPr>
        <p:grpSpPr>
          <a:xfrm>
            <a:off x="4602480" y="4328160"/>
            <a:ext cx="3368040" cy="2087880"/>
            <a:chOff x="-635000" y="-635000"/>
            <a:chExt cx="3368040" cy="2087880"/>
          </a:xfrm>
        </p:grpSpPr>
        <p:pic>
          <p:nvPicPr>
            <p:cNvPr id="34" name="Image 6" descr="TEMP_Z_ORDER_18"/>
            <p:cNvPicPr>
              <a:picLocks noChangeAspect="1"/>
            </p:cNvPicPr>
            <p:nvPr>
              <p:custDataLst>
                <p:tags r:id="rId18"/>
              </p:custDataLst>
            </p:nvPr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3368040" cy="2087880"/>
            </a:xfrm>
            <a:prstGeom prst="rect">
              <a:avLst/>
            </a:prstGeom>
          </p:spPr>
        </p:pic>
        <p:sp>
          <p:nvSpPr>
            <p:cNvPr id="35" name="Text 12" descr="TEMP_Z_ORDER_19"/>
            <p:cNvSpPr/>
            <p:nvPr>
              <p:custDataLst>
                <p:tags r:id="rId19"/>
              </p:custDataLst>
            </p:nvPr>
          </p:nvSpPr>
          <p:spPr>
            <a:xfrm>
              <a:off x="-436880" y="-436880"/>
              <a:ext cx="2980944" cy="3512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880"/>
                </a:lnSpc>
                <a:buNone/>
              </a:pPr>
              <a:r>
                <a:rPr lang="en-US" sz="1920">
                  <a:solidFill>
                    <a:srgbClr val="5A076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知识存储层</a:t>
              </a:r>
              <a:endParaRPr lang="en-US" sz="1920"/>
            </a:p>
          </p:txBody>
        </p:sp>
        <p:sp>
          <p:nvSpPr>
            <p:cNvPr id="36" name="Text 13" descr="TEMP_Z_ORDER_20"/>
            <p:cNvSpPr/>
            <p:nvPr>
              <p:custDataLst>
                <p:tags r:id="rId20"/>
              </p:custDataLst>
            </p:nvPr>
          </p:nvSpPr>
          <p:spPr>
            <a:xfrm>
              <a:off x="-436880" y="-10160"/>
              <a:ext cx="2980944" cy="125522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87"/>
                </a:lnSpc>
                <a:buNone/>
              </a:pPr>
              <a:r>
                <a:rPr lang="en-US" sz="144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Neo4j图数据库·节点按小类(A1-F3)</a:t>
              </a:r>
              <a:r>
                <a:rPr lang="en-US" sz="1440" dirty="0" err="1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分标签·频次分档配色；关系按relation_group分类型·附证据属性；Cypher编程查询·路径分析·子图导出</a:t>
              </a:r>
              <a:r>
                <a:rPr lang="en-US" sz="1440" dirty="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。</a:t>
              </a:r>
              <a:endParaRPr lang="en-US" sz="1440" dirty="0"/>
            </a:p>
          </p:txBody>
        </p:sp>
      </p:grpSp>
      <p:sp>
        <p:nvSpPr>
          <p:cNvPr id="23" name="Text 14"/>
          <p:cNvSpPr/>
          <p:nvPr>
            <p:custDataLst>
              <p:tags r:id="rId11"/>
            </p:custDataLst>
          </p:nvPr>
        </p:nvSpPr>
        <p:spPr>
          <a:xfrm>
            <a:off x="487680" y="411675"/>
            <a:ext cx="2590453" cy="36933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5A076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2.1技术全流程架构</a:t>
            </a:r>
            <a:endParaRPr 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" name="组合 4"/>
          <p:cNvGrpSpPr/>
          <p:nvPr>
            <p:custDataLst>
              <p:tags r:id="rId12"/>
            </p:custDataLst>
          </p:nvPr>
        </p:nvGrpSpPr>
        <p:grpSpPr>
          <a:xfrm>
            <a:off x="176204" y="1320813"/>
            <a:ext cx="4283455" cy="332754"/>
            <a:chOff x="-635000" y="-635000"/>
            <a:chExt cx="4283455" cy="332754"/>
          </a:xfrm>
        </p:grpSpPr>
        <p:pic>
          <p:nvPicPr>
            <p:cNvPr id="6" name="Image 8" descr="TEMP_Z_ORDER_9"/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 r:embed="rId42"/>
            <a:stretch>
              <a:fillRect/>
            </a:stretch>
          </p:blipFill>
          <p:spPr>
            <a:xfrm>
              <a:off x="-635000" y="-331046"/>
              <a:ext cx="4283455" cy="28800"/>
            </a:xfrm>
            <a:prstGeom prst="rect">
              <a:avLst/>
            </a:prstGeom>
          </p:spPr>
        </p:pic>
        <p:pic>
          <p:nvPicPr>
            <p:cNvPr id="4" name="Image 9" descr="TEMP_Z_ORDER_10"/>
            <p:cNvPicPr>
              <a:picLocks noChangeAspect="1"/>
            </p:cNvPicPr>
            <p:nvPr>
              <p:custDataLst>
                <p:tags r:id="rId17"/>
              </p:custDataLst>
            </p:nvPr>
          </p:nvPicPr>
          <p:blipFill>
            <a:blip r:embed="rId43"/>
            <a:stretch>
              <a:fillRect/>
            </a:stretch>
          </p:blipFill>
          <p:spPr>
            <a:xfrm>
              <a:off x="-635000" y="-635000"/>
              <a:ext cx="153061" cy="153063"/>
            </a:xfrm>
            <a:prstGeom prst="rect">
              <a:avLst/>
            </a:prstGeom>
          </p:spPr>
        </p:pic>
      </p:grpSp>
      <p:grpSp>
        <p:nvGrpSpPr>
          <p:cNvPr id="8" name="组合 7"/>
          <p:cNvGrpSpPr/>
          <p:nvPr>
            <p:custDataLst>
              <p:tags r:id="rId13"/>
            </p:custDataLst>
          </p:nvPr>
        </p:nvGrpSpPr>
        <p:grpSpPr>
          <a:xfrm>
            <a:off x="370785" y="1591176"/>
            <a:ext cx="4203800" cy="1618652"/>
            <a:chOff x="-635000" y="-631917"/>
            <a:chExt cx="4203800" cy="1612050"/>
          </a:xfrm>
        </p:grpSpPr>
        <p:sp>
          <p:nvSpPr>
            <p:cNvPr id="9" name="Text 1" descr="TEMP_Z_ORDER_12"/>
            <p:cNvSpPr/>
            <p:nvPr>
              <p:custDataLst>
                <p:tags r:id="rId14"/>
              </p:custDataLst>
            </p:nvPr>
          </p:nvSpPr>
          <p:spPr>
            <a:xfrm>
              <a:off x="-635000" y="-84134"/>
              <a:ext cx="4202361" cy="106426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dirty="0">
                  <a:solidFill>
                    <a:srgbClr val="545454"/>
                  </a:solidFill>
                </a:rPr>
                <a:t>典籍PDF→RapidOCR→语料库→千问LLM抽取→Neo4j图谱→耦合/</a:t>
              </a:r>
              <a:r>
                <a:rPr lang="en-US" sz="1600" dirty="0" err="1">
                  <a:solidFill>
                    <a:srgbClr val="545454"/>
                  </a:solidFill>
                </a:rPr>
                <a:t>空间分析；多源POI+评论数据→清洗匹配→体验度评估</a:t>
              </a:r>
              <a:endParaRPr lang="en-US" sz="1600" dirty="0"/>
            </a:p>
          </p:txBody>
        </p:sp>
        <p:sp>
          <p:nvSpPr>
            <p:cNvPr id="10" name="Text 2" descr="TEMP_Z_ORDER_13"/>
            <p:cNvSpPr/>
            <p:nvPr>
              <p:custDataLst>
                <p:tags r:id="rId15"/>
              </p:custDataLst>
            </p:nvPr>
          </p:nvSpPr>
          <p:spPr>
            <a:xfrm>
              <a:off x="-343113" y="-631917"/>
              <a:ext cx="3911913" cy="310779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 dirty="0" err="1">
                  <a:solidFill>
                    <a:srgbClr val="5A0767"/>
                  </a:solidFill>
                </a:rPr>
                <a:t>技术路线</a:t>
              </a:r>
              <a:endParaRPr lang="en-US" sz="1920" dirty="0"/>
            </a:p>
          </p:txBody>
        </p:sp>
      </p:grpSp>
    </p:spTree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725"/>
                            </p:stCondLst>
                            <p:childTnLst>
                              <p:par>
                                <p:cTn id="12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1225"/>
                            </p:stCondLst>
                            <p:childTnLst>
                              <p:par>
                                <p:cTn id="19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 nodeType="afterGroup">
                            <p:stCondLst>
                              <p:cond delay="1725"/>
                            </p:stCondLst>
                            <p:childTnLst>
                              <p:par>
                                <p:cTn id="26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 nodeType="afterGroup">
                            <p:stCondLst>
                              <p:cond delay="2225"/>
                            </p:stCondLst>
                            <p:childTnLst>
                              <p:par>
                                <p:cTn id="33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 nodeType="afterGroup">
                            <p:stCondLst>
                              <p:cond delay="2725"/>
                            </p:stCondLst>
                            <p:childTnLst>
                              <p:par>
                                <p:cTn id="40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 nodeType="afterGroup">
                            <p:stCondLst>
                              <p:cond delay="3225"/>
                            </p:stCondLst>
                            <p:childTnLst>
                              <p:par>
                                <p:cTn id="47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 nodeType="afterGroup">
                            <p:stCondLst>
                              <p:cond delay="3725"/>
                            </p:stCondLst>
                            <p:childTnLst>
                              <p:par>
                                <p:cTn id="54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 nodeType="afterGroup">
                            <p:stCondLst>
                              <p:cond delay="4225"/>
                            </p:stCondLst>
                            <p:childTnLst>
                              <p:par>
                                <p:cTn id="61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4725"/>
                            </p:stCondLst>
                            <p:childTnLst>
                              <p:par>
                                <p:cTn id="68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 animBg="1"/>
      <p:bldP spid="19" grpId="0" animBg="1"/>
      <p:bldP spid="23" grpId="0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9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6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3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7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7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8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9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5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9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8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5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6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7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8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9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5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6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2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3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3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4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5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0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1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2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0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1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2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179</Words>
  <Application>Microsoft Office PowerPoint</Application>
  <PresentationFormat>宽屏</PresentationFormat>
  <Paragraphs>25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等线 Light</vt:lpstr>
      <vt:lpstr>思源黑体 CN</vt:lpstr>
      <vt:lpstr>微软雅黑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帅 孟</dc:creator>
  <cp:lastModifiedBy>帅 孟</cp:lastModifiedBy>
  <cp:revision>2</cp:revision>
  <dcterms:created xsi:type="dcterms:W3CDTF">2026-03-30T11:26:25Z</dcterms:created>
  <dcterms:modified xsi:type="dcterms:W3CDTF">2026-03-31T05:11:19Z</dcterms:modified>
</cp:coreProperties>
</file>